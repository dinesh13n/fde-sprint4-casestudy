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31C1A44-3F57-D09B-C4CA-1BFB881A6AE1}">
          <p14:sldIdLst>
            <p14:sldId id="256"/>
            <p14:sldId id="257"/>
          </p14:sldIdLst>
        </p14:section>
        <p14:section name="Why: the business problem" id="{12CF3AD4-D6CC-73A1-740B-7BC9A5F73247}">
          <p14:sldIdLst>
            <p14:sldId id="258"/>
            <p14:sldId id="259"/>
            <p14:sldId id="260"/>
          </p14:sldIdLst>
        </p14:section>
        <p14:section name="What and how: the solution" id="{2B7265F3-4FC5-741A-76A5-AB56F0100D6E}">
          <p14:sldIdLst>
            <p14:sldId id="261"/>
            <p14:sldId id="262"/>
            <p14:sldId id="263"/>
            <p14:sldId id="264"/>
            <p14:sldId id="265"/>
            <p14:sldId id="266"/>
            <p14:sldId id="267"/>
            <p14:sldId id="268"/>
            <p14:sldId id="269"/>
            <p14:sldId id="270"/>
            <p14:sldId id="271"/>
          </p14:sldIdLst>
        </p14:section>
        <p14:section name="Show, don't tell: evidence" id="{9FABC331-5782-EA9C-7A69-FE8EE6AED782}">
          <p14:sldIdLst>
            <p14:sldId id="272"/>
            <p14:sldId id="273"/>
            <p14:sldId id="274"/>
            <p14:sldId id="275"/>
            <p14:sldId id="276"/>
            <p14:sldId id="277"/>
          </p14:sldIdLst>
        </p14:section>
        <p14:section name="Value: measured and not measured" id="{5BBA449E-A1A2-9F53-CC4D-3E0B9C209B5F}">
          <p14:sldIdLst>
            <p14:sldId id="278"/>
            <p14:sldId id="279"/>
            <p14:sldId id="280"/>
            <p14:sldId id="281"/>
          </p14:sldIdLst>
        </p14:section>
        <p14:section name="Closing" id="{4C808C12-CD0A-65DE-CE00-22D67C25A641}">
          <p14:sldIdLst>
            <p14:sldId id="282"/>
            <p14:sldId id="283"/>
            <p14:sldId id="284"/>
            <p14:sldId id="285"/>
          </p14:sldIdLst>
        </p14:section>
        <p14:section name="Appendix" id="{4DC6ED81-2F18-9109-780B-CDF10465EF8B}">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B2B2B"/>
                </a:solidFill>
                <a:latin typeface="+mn-lt"/>
              </a:defRPr>
            </a:pPr>
            <a:r>
              <a:rPr sz="1200" b="0" i="0" u="none" strike="noStrike">
                <a:solidFill>
                  <a:srgbClr val="2B2B2B"/>
                </a:solidFill>
                <a:latin typeface="+mn-lt"/>
              </a:rPr>
              <a:t>Exception queues (hub intake)</a:t>
            </a:r>
          </a:p>
        </c:rich>
      </c:tx>
      <c:overlay val="0"/>
    </c:title>
    <c:autoTitleDeleted val="0"/>
    <c:plotArea>
      <c:layout/>
      <c:barChart>
        <c:barDir val="bar"/>
        <c:grouping val="clustered"/>
        <c:varyColors val="0"/>
        <c:ser>
          <c:idx val="0"/>
          <c:order val="0"/>
          <c:tx>
            <c:strRef>
              <c:f>Sheet1!$B$1</c:f>
              <c:strCache>
                <c:ptCount val="1"/>
                <c:pt idx="0">
                  <c:v>Items</c:v>
                </c:pt>
              </c:strCache>
            </c:strRef>
          </c:tx>
          <c:spPr>
            <a:solidFill>
              <a:srgbClr val="E1251B"/>
            </a:solidFill>
            <a:effectLst/>
          </c:spPr>
          <c:invertIfNegative val="0"/>
          <c:dLbls>
            <c:numFmt formatCode="#,##0" sourceLinked="0"/>
            <c:spPr>
              <a:noFill/>
              <a:ln>
                <a:noFill/>
              </a:ln>
              <a:effectLst/>
            </c:spPr>
            <c:txPr>
              <a:bodyPr/>
              <a:lstStyle/>
              <a:p>
                <a:pPr>
                  <a:defRPr sz="1000" b="0" i="0" u="none" strike="noStrike">
                    <a:solidFill>
                      <a:srgbClr val="4D4D4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unmatched</c:v>
                </c:pt>
                <c:pt idx="1">
                  <c:v>quarantine_invalid</c:v>
                </c:pt>
                <c:pt idx="2">
                  <c:v>flagged_value</c:v>
                </c:pt>
                <c:pt idx="3">
                  <c:v>revision_review</c:v>
                </c:pt>
                <c:pt idx="4">
                  <c:v>ambiguous_match</c:v>
                </c:pt>
              </c:strCache>
            </c:strRef>
          </c:cat>
          <c:val>
            <c:numRef>
              <c:f>Sheet1!$B$2:$B$6</c:f>
              <c:numCache>
                <c:formatCode>General</c:formatCode>
                <c:ptCount val="5"/>
                <c:pt idx="0">
                  <c:v>8109</c:v>
                </c:pt>
                <c:pt idx="1">
                  <c:v>223</c:v>
                </c:pt>
                <c:pt idx="2">
                  <c:v>3</c:v>
                </c:pt>
                <c:pt idx="3">
                  <c:v>0</c:v>
                </c:pt>
                <c:pt idx="4">
                  <c:v>0</c:v>
                </c:pt>
              </c:numCache>
            </c:numRef>
          </c:val>
          <c:extLst>
            <c:ext xmlns:c16="http://schemas.microsoft.com/office/drawing/2014/chart" uri="{C3380CC4-5D6E-409C-BE32-E72D297353CC}">
              <c16:uniqueId val="{00000000-A695-40E6-B37E-BEEB9BDF5474}"/>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D4D4D"/>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B2B2B"/>
                </a:solidFill>
                <a:latin typeface="+mn-lt"/>
              </a:defRPr>
            </a:pPr>
            <a:r>
              <a:rPr sz="1300" b="0" i="0" u="none" strike="noStrike">
                <a:solidFill>
                  <a:srgbClr val="2B2B2B"/>
                </a:solidFill>
                <a:latin typeface="+mn-lt"/>
              </a:rPr>
              <a:t>Deliberate bugs caught (mutation testing)</a:t>
            </a:r>
          </a:p>
        </c:rich>
      </c:tx>
      <c:overlay val="0"/>
    </c:title>
    <c:autoTitleDeleted val="0"/>
    <c:plotArea>
      <c:layout/>
      <c:barChart>
        <c:barDir val="col"/>
        <c:grouping val="clustered"/>
        <c:varyColors val="0"/>
        <c:ser>
          <c:idx val="0"/>
          <c:order val="0"/>
          <c:tx>
            <c:strRef>
              <c:f>Sheet1!$B$1</c:f>
              <c:strCache>
                <c:ptCount val="1"/>
                <c:pt idx="0">
                  <c:v>Mutants killed (of 15)</c:v>
                </c:pt>
              </c:strCache>
            </c:strRef>
          </c:tx>
          <c:spPr>
            <a:solidFill>
              <a:srgbClr val="9E9E9E"/>
            </a:solidFill>
            <a:effectLst/>
          </c:spPr>
          <c:invertIfNegative val="0"/>
          <c:dPt>
            <c:idx val="0"/>
            <c:invertIfNegative val="0"/>
            <c:bubble3D val="0"/>
            <c:extLst>
              <c:ext xmlns:c16="http://schemas.microsoft.com/office/drawing/2014/chart" uri="{C3380CC4-5D6E-409C-BE32-E72D297353CC}">
                <c16:uniqueId val="{00000001-559F-4775-B6A1-F435EB008A5F}"/>
              </c:ext>
            </c:extLst>
          </c:dPt>
          <c:dPt>
            <c:idx val="1"/>
            <c:invertIfNegative val="0"/>
            <c:bubble3D val="0"/>
            <c:spPr>
              <a:solidFill>
                <a:srgbClr val="E1251B"/>
              </a:solidFill>
              <a:effectLst/>
            </c:spPr>
            <c:extLst>
              <c:ext xmlns:c16="http://schemas.microsoft.com/office/drawing/2014/chart" uri="{C3380CC4-5D6E-409C-BE32-E72D297353CC}">
                <c16:uniqueId val="{00000003-559F-4775-B6A1-F435EB008A5F}"/>
              </c:ext>
            </c:extLst>
          </c:dPt>
          <c:dLbls>
            <c:numFmt formatCode="#,##0" sourceLinked="0"/>
            <c:spPr>
              <a:noFill/>
              <a:ln>
                <a:noFill/>
              </a:ln>
              <a:effectLst/>
            </c:spPr>
            <c:txPr>
              <a:bodyPr/>
              <a:lstStyle/>
              <a:p>
                <a:pPr>
                  <a:defRPr sz="1400" b="0" i="0" u="none" strike="noStrike">
                    <a:solidFill>
                      <a:srgbClr val="2B2B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Shipped legacy suite</c:v>
                </c:pt>
                <c:pt idx="1">
                  <c:v>Hub mutation gate</c:v>
                </c:pt>
              </c:strCache>
            </c:strRef>
          </c:cat>
          <c:val>
            <c:numRef>
              <c:f>Sheet1!$B$2:$B$3</c:f>
              <c:numCache>
                <c:formatCode>General</c:formatCode>
                <c:ptCount val="2"/>
                <c:pt idx="0">
                  <c:v>1</c:v>
                </c:pt>
                <c:pt idx="1">
                  <c:v>15</c:v>
                </c:pt>
              </c:numCache>
            </c:numRef>
          </c:val>
          <c:extLst>
            <c:ext xmlns:c16="http://schemas.microsoft.com/office/drawing/2014/chart" uri="{C3380CC4-5D6E-409C-BE32-E72D297353CC}">
              <c16:uniqueId val="{00000004-559F-4775-B6A1-F435EB008A5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D4D4D"/>
                </a:solidFill>
                <a:latin typeface="+mn-lt"/>
              </a:defRPr>
            </a:pPr>
            <a:endParaRPr lang="en-US"/>
          </a:p>
        </c:txPr>
        <c:crossAx val="2094734552"/>
        <c:crosses val="autoZero"/>
        <c:auto val="1"/>
        <c:lblAlgn val="ctr"/>
        <c:lblOffset val="100"/>
        <c:noMultiLvlLbl val="1"/>
      </c:catAx>
      <c:valAx>
        <c:axId val="2094734552"/>
        <c:scaling>
          <c:orientation val="minMax"/>
          <c:max val="17"/>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637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 Delta: Dinesh Naik (presenter), Rama Vedula, Nachiket Bordekar, Sudhir Kulkarni and Hardik Trivedi. Then say what this is: a capstone transformation of a synthetic but realistic GxP quality estate. Everything shown is real code running on synthetic data. The honest headline comes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Pyramid: give the CTO the conclusion before the story. Four quadrants: what we built, what is proven in the sandbox, what is not proven, and the ask.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KPI. The same month-end total is 742,956.61 in the legacy report and 622,826.44 when read once from one table. 98 percent of partner-feed rows point at cases that do not exist. 'Closed' means four different things. 89 of 125 cases are open with a median age of 565 days. These are synthetic numbers, but each defect is real in the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roles from the hub's own role model. Be honest: in this engagement every owner field is Dinesh; the roles exist in the design and are vacant in reality. The dispositioner is the only role that can ever hold a Zone H action, and the holder list ships empty.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root cause is an absence: of a record, an owner, a key or a definition. None of them is a language problem. This is why the core fix is engineering and governance, and why AI is an advisory layer, not the engine.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solution. Three things were built: the hub, the semantic layer and the Command Centre with its assistant.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principles. The key message for a CTO: we separated what must be deterministic (counting, deciding, recording) from what AI is good at (explaining, finding, summarising), and put a human gate on every consequential action.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feed row left to right. It is stored raw, keyed by its natural key, validated against 15 reason codes in a fixed precedence, routed to one of five queues, explained to a reviewer by the advisory AI, and any consequential action stops at the Zone H gate. Metrics read the same events and carry their definition tag.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repository as imported on 17 Oct (baseline commit a6eb4e8, unmodified). A JSON-only Python API in Docker on 0.0.0.0, a source gateway service, a night-shift batch job, a Java month-end reconciliation using floating point, and a JavaScript approval threshold with a 999,999 default. Three copies of the approval rule disagree (RC-4). Everything writes straight into SQLite with no audit, no login and no decision record. Seven test files.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Sources are read through read-only adapters; the legacy estate keeps running unchanged in shadow. The hub owns intake, identity, decisions, policy, the Zone H gate and metrics, all over its own SQLite store with forward-only migrations M001 to M006 and a hash-chained audit anchor. Two experiences sit on top: the hub's reviewer UI for actions, and the Command Centre for insight with the advisory assistant. The assistant is the only component that can call out, to OpenAI or Azure OpenAI, and only with a configured key.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The legacy estate is untouched. The hub is a standard-library Python modular monolith: 204 files, 17,247 lines, 48 API operations, deny-by-default. The semantic layer is YAML plus a JSON Schema plus tests. The Command Centre imports only pure hub modules, and the assistant is the only component that can make an outbound call, only with a key.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hub is organised by capability. Lines are Python lines per package at the current main. The largest packages are web, security, policy, decision, intake and runs: that is where the root causes were fixed. Nothing in the hub imports a third-party package.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per engineering dimension. Left is the repository as imported; right is what exists now. Every 'now' cell is built and tested in the sandbox; none is in production.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is a pipeline, not a chatbot bolted on. Every question is checked for action intent first; action requests are refused before any model call. Context is retrieved from the semantic layer and the selected record, untrusted text is wrapped, then OpenAI or Azure OpenAI writes an answer that must cite its sources. Every parameter, including the API key, is set in one place.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trade-offs were deliberate. Each row is an ADR or orchestrator decision. The cost column matters to a CTO: every one of these choices gave something up.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engagement ran the AI FDE spine end to end. Two stages were deliberately not applicable (19 Intelligence, 22 Agentic) because qualification ruled AI out of the decision path; that is now revisited with the advisory assistant. Four stages are blocked on human decisions, not engineering.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 now (py -3.14 run.py). If the network or machine fails, the next four slides are the recorded fallback.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 overview. Point at the D-OPS tag on the backlog, and the 'what cannot be counted yet' panel. This is what definition transparency looks like: the system refuses to show a number it cannot define.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legacy report joins cases to events, so a case with two events is summed twice. The hub reads one table once in exact decimals. The cut-off is a required input because nobody owns the month-end definition yet. This is a verified defect fix, not a saving.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legacy feed row re-runs through hub.intake.validate and reasons.classify. 8,335 land in an exception queue, 67 replays are absorbed as duplicates. Press Replay: every row is re-delivered, all 8,567 are no-ops and the queue does not move. The 2025 replay incident cannot recur.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persona to dispositioner and attempt a batch disposition: refused with E-GATE-NO-HOLDERS because nobody has been named. Then ask the assistant to approve a batch release: it refuses before any model call and the refusal is logged as a Zone H attempt by an AI actor.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shipped legacy test suite kills one of fifteen deliberate bugs; the hub's mutation gate kills all fifteen. Legacy behaviour is preserved where checked: 134 of 134. The red team found 11 findings, none critical, one high which was fixed. The new Command Centre adds 15 tests and the semantic layer 17.</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like-for-like pairs are shown as movement. Month-end, replay safety and definition transparency are real changes in the sandbox. Backlog and reopen rate are parity: the hub reproduces legacy, it does not improve it. Time and effort are unknown because the data never recorded them.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attribution. Every measured improvement in the sandbox came from traditional engineering: keys, definitions, idempotency, exact arithmetic. GenAI contributed in two other places: it accelerated building the system under an evidence discipline, and it now gives reviewers explanations grounded in the semantic layer. Neither AI contribution is measured yet.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was GenAI needed at all? Conventional rules can count and route, but a reviewer facing 8,335 exceptions, 56 vocabularies and 48 rules needs an explanation in plain language, grounded in the governed definitions. That is a language task. Deciding, approving and defining 'closed' are not, and stay human.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ROI number and we will not invent one: there is no after-window, no volumes and no labour rate. What a CTO can take: a reusable method, a defect class removed by design, and a semantic layer that makes the next client faster and model-independent.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lessons, one per theme. The unexpected one: the baseline itself was synthetic residue. 98 percent of feed rows point at cases that do not exist, so most KPIs ended Unknown. That changed what we could claim.</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release evaluator says NO-GO with 0 of 40 approvals. That is by design: nothing consequential has a human owner yet. These five decisions unblock the pilot. Ask for them explicitly.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90-day path is gated and modest. The moonshots are where this becomes an organisational capability: the semantic layer as a reusable context lake for every GxP client, apps regenerated from it on any model, and agents that draft evidence packs for a human to sign.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ask. Repeat the three-part claim, then the five decisions. Then invite questions; the Q&amp;A bank has 20 prepared answers.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Use during the 10 minutes of questions. The full 20-question bank is in the Excel tracker.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tmp/claude-0/deck/birlasoft_wordmark.png"/>
          <p:cNvPicPr>
            <a:picLocks noChangeAspect="1"/>
          </p:cNvPicPr>
          <p:nvPr/>
        </p:nvPicPr>
        <p:blipFill>
          <a:blip r:embed="rId2"/>
          <a:stretch>
            <a:fillRect/>
          </a:stretch>
        </p:blipFill>
        <p:spPr>
          <a:xfrm>
            <a:off x="457200" y="274320"/>
            <a:ext cx="1243584" cy="274320"/>
          </a:xfrm>
          <a:prstGeom prst="rect">
            <a:avLst/>
          </a:prstGeom>
        </p:spPr>
      </p:pic>
      <p:sp>
        <p:nvSpPr>
          <p:cNvPr id="3" name="Shape 0"/>
          <p:cNvSpPr/>
          <p:nvPr/>
        </p:nvSpPr>
        <p:spPr>
          <a:xfrm>
            <a:off x="457200" y="713232"/>
            <a:ext cx="11277295" cy="0"/>
          </a:xfrm>
          <a:prstGeom prst="line">
            <a:avLst/>
          </a:prstGeom>
          <a:noFill/>
          <a:ln w="12700">
            <a:solidFill>
              <a:srgbClr val="E1251B"/>
            </a:solidFill>
            <a:prstDash val="solid"/>
          </a:ln>
        </p:spPr>
      </p:sp>
      <p:sp>
        <p:nvSpPr>
          <p:cNvPr id="4" name="Text 1"/>
          <p:cNvSpPr/>
          <p:nvPr/>
        </p:nvSpPr>
        <p:spPr>
          <a:xfrm>
            <a:off x="457200" y="6419088"/>
            <a:ext cx="8229600" cy="274320"/>
          </a:xfrm>
          <a:prstGeom prst="rect">
            <a:avLst/>
          </a:prstGeom>
          <a:noFill/>
          <a:ln/>
        </p:spPr>
        <p:txBody>
          <a:bodyPr wrap="square" lIns="0" tIns="0" rIns="0" bIns="0" rtlCol="0" anchor="ctr"/>
          <a:lstStyle/>
          <a:p>
            <a:pPr marL="0" indent="0">
              <a:buNone/>
            </a:pPr>
            <a:r>
              <a:rPr lang="en-US" sz="900" dirty="0">
                <a:solidFill>
                  <a:schemeClr val="accent3"/>
                </a:solidFill>
              </a:rPr>
              <a:t>AI FDE Capstone  ·  GxP Quality Hub  ·  all figures synthetic, unvalidated (seed 4100)</a:t>
            </a:r>
            <a:endParaRPr lang="en-US" sz="900" dirty="0"/>
          </a:p>
        </p:txBody>
      </p:sp>
      <p:sp>
        <p:nvSpPr>
          <p:cNvPr id="5" name="Text 2"/>
          <p:cNvSpPr>
            <a:spLocks noGrp="1"/>
          </p:cNvSpPr>
          <p:nvPr>
            <p:ph type="body" idx="103" hasCustomPrompt="1"/>
          </p:nvPr>
        </p:nvSpPr>
        <p:spPr>
          <a:xfrm>
            <a:off x="6245352" y="292608"/>
            <a:ext cx="5486400" cy="274320"/>
          </a:xfrm>
          <a:prstGeom prst="rect">
            <a:avLst/>
          </a:prstGeom>
          <a:noFill/>
          <a:ln/>
        </p:spPr>
        <p:txBody>
          <a:bodyPr wrap="square" rtlCol="0"/>
          <a:lstStyle>
            <a:lvl1pPr marL="0" indent="0" algn="r">
              <a:buNone/>
              <a:defRPr lang="en-US" sz="1000" b="1" dirty="0">
                <a:solidFill>
                  <a:schemeClr val="accent1"/>
                </a:solidFill>
              </a:defRPr>
            </a:lvl1pPr>
          </a:lstStyle>
          <a:p>
            <a:pPr marL="0" indent="0" algn="r">
              <a:buNone/>
            </a:pPr>
            <a:endParaRPr lang="en-US" sz="1000" dirty="0"/>
          </a:p>
        </p:txBody>
      </p:sp>
      <p:sp>
        <p:nvSpPr>
          <p:cNvPr id="6" name="Text 2"/>
          <p:cNvSpPr>
            <a:spLocks noGrp="1"/>
          </p:cNvSpPr>
          <p:nvPr>
            <p:ph type="title" idx="104" hasCustomPrompt="1"/>
          </p:nvPr>
        </p:nvSpPr>
        <p:spPr>
          <a:xfrm>
            <a:off x="457200" y="896112"/>
            <a:ext cx="11274552" cy="1097280"/>
          </a:xfrm>
          <a:prstGeom prst="rect">
            <a:avLst/>
          </a:prstGeom>
          <a:noFill/>
          <a:ln/>
        </p:spPr>
        <p:txBody>
          <a:bodyPr wrap="square" rtlCol="0"/>
          <a:lstStyle>
            <a:lvl1pPr marL="0" indent="0" algn="l">
              <a:lnSpc>
                <a:spcPct val="95000"/>
              </a:lnSpc>
              <a:buNone/>
              <a:defRPr lang="en-US" sz="3000" b="1" dirty="0">
                <a:solidFill>
                  <a:schemeClr val="tx2"/>
                </a:solidFill>
              </a:defRPr>
            </a:lvl1pPr>
          </a:lstStyle>
          <a:p>
            <a:pPr marL="0" indent="0" algn="l">
              <a:lnSpc>
                <a:spcPct val="95000"/>
              </a:lnSpc>
              <a:buNone/>
            </a:pPr>
            <a:endParaRPr lang="en-US" sz="30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2B2B2B"/>
        </a:solidFill>
        <a:effectLst/>
      </p:bgPr>
    </p:bg>
    <p:spTree>
      <p:nvGrpSpPr>
        <p:cNvPr id="1" name=""/>
        <p:cNvGrpSpPr/>
        <p:nvPr/>
      </p:nvGrpSpPr>
      <p:grpSpPr>
        <a:xfrm>
          <a:off x="0" y="0"/>
          <a:ext cx="0" cy="0"/>
          <a:chOff x="0" y="0"/>
          <a:chExt cx="0" cy="0"/>
        </a:xfrm>
      </p:grpSpPr>
      <p:pic>
        <p:nvPicPr>
          <p:cNvPr id="2" name="Image 0" descr="/tmp/claude-0/deck/birlasoft_wordmark_light.png"/>
          <p:cNvPicPr>
            <a:picLocks noChangeAspect="1"/>
          </p:cNvPicPr>
          <p:nvPr/>
        </p:nvPicPr>
        <p:blipFill>
          <a:blip r:embed="rId2"/>
          <a:stretch>
            <a:fillRect/>
          </a:stretch>
        </p:blipFill>
        <p:spPr>
          <a:xfrm>
            <a:off x="548640" y="457200"/>
            <a:ext cx="1664208" cy="365760"/>
          </a:xfrm>
          <a:prstGeom prst="rect">
            <a:avLst/>
          </a:prstGeom>
        </p:spPr>
      </p:pic>
      <p:sp>
        <p:nvSpPr>
          <p:cNvPr id="3" name="Text 0"/>
          <p:cNvSpPr>
            <a:spLocks noGrp="1"/>
          </p:cNvSpPr>
          <p:nvPr>
            <p:ph type="body" idx="101" hasCustomPrompt="1"/>
          </p:nvPr>
        </p:nvSpPr>
        <p:spPr>
          <a:xfrm>
            <a:off x="548640" y="2011680"/>
            <a:ext cx="3657600" cy="914400"/>
          </a:xfrm>
          <a:prstGeom prst="rect">
            <a:avLst/>
          </a:prstGeom>
          <a:noFill/>
          <a:ln/>
        </p:spPr>
        <p:txBody>
          <a:bodyPr wrap="square" rtlCol="0"/>
          <a:lstStyle>
            <a:lvl1pPr marL="0" indent="0" algn="l">
              <a:buNone/>
              <a:defRPr lang="en-US" sz="6000" b="1" dirty="0">
                <a:solidFill>
                  <a:schemeClr val="accent1"/>
                </a:solidFill>
              </a:defRPr>
            </a:lvl1pPr>
          </a:lstStyle>
          <a:p>
            <a:pPr marL="0" indent="0" algn="l">
              <a:buNone/>
            </a:pPr>
            <a:endParaRPr lang="en-US" sz="6000" dirty="0"/>
          </a:p>
        </p:txBody>
      </p:sp>
      <p:sp>
        <p:nvSpPr>
          <p:cNvPr id="4" name="Text 0"/>
          <p:cNvSpPr>
            <a:spLocks noGrp="1"/>
          </p:cNvSpPr>
          <p:nvPr>
            <p:ph type="title" idx="102" hasCustomPrompt="1"/>
          </p:nvPr>
        </p:nvSpPr>
        <p:spPr>
          <a:xfrm>
            <a:off x="548640" y="2971800"/>
            <a:ext cx="10515600" cy="146304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5" name="Text 0"/>
          <p:cNvSpPr>
            <a:spLocks noGrp="1"/>
          </p:cNvSpPr>
          <p:nvPr>
            <p:ph type="body" idx="103" hasCustomPrompt="1"/>
          </p:nvPr>
        </p:nvSpPr>
        <p:spPr>
          <a:xfrm>
            <a:off x="548640" y="4572000"/>
            <a:ext cx="9601200" cy="914400"/>
          </a:xfrm>
          <a:prstGeom prst="rect">
            <a:avLst/>
          </a:prstGeom>
          <a:noFill/>
          <a:ln/>
        </p:spPr>
        <p:txBody>
          <a:bodyPr wrap="square" rtlCol="0"/>
          <a:lstStyle>
            <a:lvl1pPr marL="0" indent="0" algn="l">
              <a:buNone/>
              <a:defRPr lang="en-US" sz="1600" dirty="0">
                <a:solidFill>
                  <a:schemeClr val="accent6"/>
                </a:solidFill>
              </a:defRPr>
            </a:lvl1pPr>
          </a:lstStyle>
          <a:p>
            <a:pPr marL="0" indent="0" algn="l">
              <a:buNone/>
            </a:pPr>
            <a:endParaRPr lang="en-US" sz="16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_WHIT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2.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20.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9.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irlasoft"/>
          <p:cNvPicPr>
            <a:picLocks noChangeAspect="1"/>
          </p:cNvPicPr>
          <p:nvPr/>
        </p:nvPicPr>
        <p:blipFill>
          <a:blip r:embed="rId3"/>
          <a:stretch>
            <a:fillRect/>
          </a:stretch>
        </p:blipFill>
        <p:spPr>
          <a:xfrm>
            <a:off x="640080" y="548640"/>
            <a:ext cx="2075688" cy="457200"/>
          </a:xfrm>
          <a:prstGeom prst="rect">
            <a:avLst/>
          </a:prstGeom>
        </p:spPr>
      </p:pic>
      <p:sp>
        <p:nvSpPr>
          <p:cNvPr id="3" name="Text 0"/>
          <p:cNvSpPr txBox="1"/>
          <p:nvPr/>
        </p:nvSpPr>
        <p:spPr>
          <a:xfrm>
            <a:off x="640080" y="1828800"/>
            <a:ext cx="7315200" cy="320040"/>
          </a:xfrm>
          <a:prstGeom prst="rect">
            <a:avLst/>
          </a:prstGeom>
          <a:noFill/>
          <a:ln/>
        </p:spPr>
        <p:txBody>
          <a:bodyPr wrap="square" lIns="0" tIns="0" rIns="0" bIns="0" rtlCol="0" anchor="t"/>
          <a:lstStyle/>
          <a:p>
            <a:pPr marL="0" indent="0">
              <a:buNone/>
            </a:pPr>
            <a:r>
              <a:rPr lang="en-US" sz="1300" b="1" kern="0" spc="200" dirty="0">
                <a:solidFill>
                  <a:schemeClr val="accent1"/>
                </a:solidFill>
              </a:rPr>
              <a:t>AI FDE CAPSTONE  ·  EXECUTIVE PRESENTATION</a:t>
            </a:r>
            <a:endParaRPr lang="en-US" sz="1300" dirty="0"/>
          </a:p>
        </p:txBody>
      </p:sp>
      <p:sp>
        <p:nvSpPr>
          <p:cNvPr id="4" name="Text 1"/>
          <p:cNvSpPr txBox="1"/>
          <p:nvPr/>
        </p:nvSpPr>
        <p:spPr>
          <a:xfrm>
            <a:off x="640080" y="2240280"/>
            <a:ext cx="6492240" cy="2468880"/>
          </a:xfrm>
          <a:prstGeom prst="rect">
            <a:avLst/>
          </a:prstGeom>
          <a:noFill/>
          <a:ln/>
        </p:spPr>
        <p:txBody>
          <a:bodyPr wrap="square" lIns="0" tIns="0" rIns="0" bIns="0" rtlCol="0" anchor="t"/>
          <a:lstStyle/>
          <a:p>
            <a:pPr marL="0" indent="0">
              <a:lnSpc>
                <a:spcPct val="92000"/>
              </a:lnSpc>
              <a:buNone/>
            </a:pPr>
            <a:r>
              <a:rPr lang="en-US" sz="5000" b="1" dirty="0">
                <a:solidFill>
                  <a:schemeClr val="tx2"/>
                </a:solidFill>
              </a:rPr>
              <a:t>One quality estate.</a:t>
            </a:r>
            <a:endParaRPr lang="en-US" sz="5000" dirty="0"/>
          </a:p>
          <a:p>
            <a:pPr marL="0" indent="0">
              <a:lnSpc>
                <a:spcPct val="92000"/>
              </a:lnSpc>
              <a:buNone/>
            </a:pPr>
            <a:r>
              <a:rPr lang="en-US" sz="5000" b="1" dirty="0">
                <a:solidFill>
                  <a:schemeClr val="accent1"/>
                </a:solidFill>
              </a:rPr>
              <a:t>One version of</a:t>
            </a:r>
            <a:endParaRPr lang="en-US" sz="5000" dirty="0"/>
          </a:p>
          <a:p>
            <a:pPr marL="0" indent="0">
              <a:lnSpc>
                <a:spcPct val="92000"/>
              </a:lnSpc>
              <a:buNone/>
            </a:pPr>
            <a:r>
              <a:rPr lang="en-US" sz="5000" b="1" dirty="0">
                <a:solidFill>
                  <a:schemeClr val="accent1"/>
                </a:solidFill>
              </a:rPr>
              <a:t>the truth.</a:t>
            </a:r>
            <a:endParaRPr lang="en-US" sz="5000" dirty="0"/>
          </a:p>
        </p:txBody>
      </p:sp>
      <p:sp>
        <p:nvSpPr>
          <p:cNvPr id="5" name="Text 2"/>
          <p:cNvSpPr txBox="1"/>
          <p:nvPr/>
        </p:nvSpPr>
        <p:spPr>
          <a:xfrm>
            <a:off x="640080" y="4754880"/>
            <a:ext cx="6309360" cy="731520"/>
          </a:xfrm>
          <a:prstGeom prst="rect">
            <a:avLst/>
          </a:prstGeom>
          <a:noFill/>
          <a:ln/>
        </p:spPr>
        <p:txBody>
          <a:bodyPr wrap="square" lIns="0" tIns="0" rIns="0" bIns="0" rtlCol="0" anchor="t"/>
          <a:lstStyle/>
          <a:p>
            <a:pPr marL="0" indent="0">
              <a:buNone/>
            </a:pPr>
            <a:r>
              <a:rPr lang="en-US" sz="1500" dirty="0">
                <a:solidFill>
                  <a:schemeClr val="tx2"/>
                </a:solidFill>
              </a:rPr>
              <a:t>Transforming a legacy GxP quality estate with a deterministic hub, a governed semantic layer and an advisory AI that never decides</a:t>
            </a:r>
            <a:endParaRPr lang="en-US" sz="1500" dirty="0"/>
          </a:p>
        </p:txBody>
      </p:sp>
      <p:sp>
        <p:nvSpPr>
          <p:cNvPr id="6" name="Text 3"/>
          <p:cNvSpPr txBox="1"/>
          <p:nvPr/>
        </p:nvSpPr>
        <p:spPr>
          <a:xfrm>
            <a:off x="640080" y="5577840"/>
            <a:ext cx="6400800" cy="548640"/>
          </a:xfrm>
          <a:prstGeom prst="rect">
            <a:avLst/>
          </a:prstGeom>
          <a:noFill/>
          <a:ln/>
        </p:spPr>
        <p:txBody>
          <a:bodyPr wrap="square" lIns="0" tIns="0" rIns="0" bIns="0" rtlCol="0" anchor="t"/>
          <a:lstStyle/>
          <a:p>
            <a:pPr marL="0" indent="0">
              <a:buNone/>
            </a:pPr>
            <a:r>
              <a:rPr lang="en-US" sz="1200" b="1" dirty="0">
                <a:solidFill>
                  <a:schemeClr val="tx1"/>
                </a:solidFill>
              </a:rPr>
              <a:t>Presented by Dinesh Naik</a:t>
            </a:r>
            <a:endParaRPr lang="en-US" sz="1200" dirty="0"/>
          </a:p>
          <a:p>
            <a:pPr marL="0" indent="0">
              <a:buNone/>
            </a:pPr>
            <a:r>
              <a:rPr lang="en-US" sz="1200" dirty="0">
                <a:solidFill>
                  <a:schemeClr val="tx1"/>
                </a:solidFill>
              </a:rPr>
              <a:t>Senior GenAI Solution Architect  ·  Birlasoft  ·  October 2026</a:t>
            </a:r>
            <a:endParaRPr lang="en-US" sz="1200" dirty="0"/>
          </a:p>
        </p:txBody>
      </p:sp>
      <p:sp>
        <p:nvSpPr>
          <p:cNvPr id="7" name="Text 4"/>
          <p:cNvSpPr txBox="1"/>
          <p:nvPr/>
        </p:nvSpPr>
        <p:spPr>
          <a:xfrm>
            <a:off x="640080" y="6172200"/>
            <a:ext cx="6400800" cy="274320"/>
          </a:xfrm>
          <a:prstGeom prst="rect">
            <a:avLst/>
          </a:prstGeom>
          <a:noFill/>
          <a:ln/>
        </p:spPr>
        <p:txBody>
          <a:bodyPr wrap="square" lIns="0" tIns="0" rIns="0" bIns="0" rtlCol="0" anchor="t"/>
          <a:lstStyle/>
          <a:p>
            <a:pPr marL="0" indent="0">
              <a:buNone/>
            </a:pPr>
            <a:r>
              <a:rPr lang="en-US" sz="1000" dirty="0">
                <a:solidFill>
                  <a:schemeClr val="accent3"/>
                </a:solidFill>
              </a:rPr>
              <a:t>All figures come from a synthetic, seeded dataset (seed 4100): they validate the method, not a production outcome.</a:t>
            </a:r>
            <a:endParaRPr lang="en-US" sz="1000" dirty="0"/>
          </a:p>
        </p:txBody>
      </p:sp>
      <p:sp>
        <p:nvSpPr>
          <p:cNvPr id="8" name="team-card"/>
          <p:cNvSpPr/>
          <p:nvPr/>
        </p:nvSpPr>
        <p:spPr>
          <a:xfrm>
            <a:off x="7360920" y="685800"/>
            <a:ext cx="4370832" cy="5532120"/>
          </a:xfrm>
          <a:prstGeom prst="roundRect">
            <a:avLst>
              <a:gd name="adj" fmla="val 2510"/>
            </a:avLst>
          </a:prstGeom>
          <a:solidFill>
            <a:srgbClr val="2B2B2B"/>
          </a:solidFill>
          <a:ln w="12700">
            <a:solidFill>
              <a:srgbClr val="2B2B2B"/>
            </a:solidFill>
            <a:prstDash val="solid"/>
          </a:ln>
          <a:effectLst>
            <a:outerShdw blurRad="127000" dist="38100" dir="5400000" algn="bl" rotWithShape="0">
              <a:srgbClr val="000000">
                <a:alpha val="20000"/>
              </a:srgbClr>
            </a:outerShdw>
          </a:effectLst>
        </p:spPr>
      </p:sp>
      <p:sp>
        <p:nvSpPr>
          <p:cNvPr id="9" name="icon-circle"/>
          <p:cNvSpPr/>
          <p:nvPr/>
        </p:nvSpPr>
        <p:spPr>
          <a:xfrm>
            <a:off x="7680960" y="960120"/>
            <a:ext cx="731520" cy="731520"/>
          </a:xfrm>
          <a:prstGeom prst="ellipse">
            <a:avLst/>
          </a:prstGeom>
          <a:solidFill>
            <a:srgbClr val="E1251B"/>
          </a:solidFill>
          <a:ln w="12700">
            <a:solidFill>
              <a:srgbClr val="E1251B"/>
            </a:solidFill>
            <a:prstDash val="solid"/>
          </a:ln>
        </p:spPr>
      </p:sp>
      <p:pic>
        <p:nvPicPr>
          <p:cNvPr id="10" name="Image 1" descr="FaUsers"/>
          <p:cNvPicPr>
            <a:picLocks noChangeAspect="1"/>
          </p:cNvPicPr>
          <p:nvPr/>
        </p:nvPicPr>
        <p:blipFill>
          <a:blip r:embed="rId4"/>
          <a:stretch>
            <a:fillRect/>
          </a:stretch>
        </p:blipFill>
        <p:spPr>
          <a:xfrm>
            <a:off x="7871155" y="1150315"/>
            <a:ext cx="351130" cy="351130"/>
          </a:xfrm>
          <a:prstGeom prst="rect">
            <a:avLst/>
          </a:prstGeom>
        </p:spPr>
      </p:pic>
      <p:sp>
        <p:nvSpPr>
          <p:cNvPr id="11" name="Text 7"/>
          <p:cNvSpPr txBox="1"/>
          <p:nvPr/>
        </p:nvSpPr>
        <p:spPr>
          <a:xfrm>
            <a:off x="8595360" y="1051560"/>
            <a:ext cx="2926080" cy="548640"/>
          </a:xfrm>
          <a:prstGeom prst="rect">
            <a:avLst/>
          </a:prstGeom>
          <a:noFill/>
          <a:ln/>
        </p:spPr>
        <p:txBody>
          <a:bodyPr wrap="square" lIns="0" tIns="0" rIns="0" bIns="0" rtlCol="0" anchor="t"/>
          <a:lstStyle/>
          <a:p>
            <a:pPr marL="0" indent="0">
              <a:buNone/>
            </a:pPr>
            <a:r>
              <a:rPr lang="en-US" sz="2800" b="1" dirty="0">
                <a:solidFill>
                  <a:schemeClr val="bg1"/>
                </a:solidFill>
              </a:rPr>
              <a:t>Team Delta</a:t>
            </a:r>
            <a:endParaRPr lang="en-US" sz="2800" dirty="0"/>
          </a:p>
        </p:txBody>
      </p:sp>
      <p:sp>
        <p:nvSpPr>
          <p:cNvPr id="12" name="Text 8"/>
          <p:cNvSpPr txBox="1"/>
          <p:nvPr/>
        </p:nvSpPr>
        <p:spPr>
          <a:xfrm>
            <a:off x="8613648" y="1536192"/>
            <a:ext cx="2926080" cy="274320"/>
          </a:xfrm>
          <a:prstGeom prst="rect">
            <a:avLst/>
          </a:prstGeom>
          <a:noFill/>
          <a:ln/>
        </p:spPr>
        <p:txBody>
          <a:bodyPr wrap="square" lIns="0" tIns="0" rIns="0" bIns="0" rtlCol="0" anchor="t"/>
          <a:lstStyle/>
          <a:p>
            <a:pPr marL="0" indent="0">
              <a:buNone/>
            </a:pPr>
            <a:r>
              <a:rPr lang="en-US" sz="1100" dirty="0">
                <a:solidFill>
                  <a:schemeClr val="accent6"/>
                </a:solidFill>
              </a:rPr>
              <a:t>Case-study team</a:t>
            </a:r>
            <a:endParaRPr lang="en-US" sz="1100" dirty="0"/>
          </a:p>
        </p:txBody>
      </p:sp>
      <p:sp>
        <p:nvSpPr>
          <p:cNvPr id="13" name="Shape 9"/>
          <p:cNvSpPr/>
          <p:nvPr/>
        </p:nvSpPr>
        <p:spPr>
          <a:xfrm>
            <a:off x="7680960" y="2057400"/>
            <a:ext cx="3749040" cy="0"/>
          </a:xfrm>
          <a:prstGeom prst="line">
            <a:avLst/>
          </a:prstGeom>
          <a:noFill/>
          <a:ln w="9525">
            <a:solidFill>
              <a:srgbClr val="4D4D4D"/>
            </a:solidFill>
            <a:prstDash val="solid"/>
          </a:ln>
        </p:spPr>
      </p:sp>
      <p:sp>
        <p:nvSpPr>
          <p:cNvPr id="14" name="Text 10"/>
          <p:cNvSpPr txBox="1"/>
          <p:nvPr/>
        </p:nvSpPr>
        <p:spPr>
          <a:xfrm>
            <a:off x="7680960" y="2185416"/>
            <a:ext cx="2651760" cy="329184"/>
          </a:xfrm>
          <a:prstGeom prst="rect">
            <a:avLst/>
          </a:prstGeom>
          <a:noFill/>
          <a:ln/>
        </p:spPr>
        <p:txBody>
          <a:bodyPr wrap="square" lIns="0" tIns="0" rIns="0" bIns="0" rtlCol="0" anchor="t"/>
          <a:lstStyle/>
          <a:p>
            <a:pPr marL="0" indent="0">
              <a:buNone/>
            </a:pPr>
            <a:r>
              <a:rPr lang="en-US" sz="1600" b="1" dirty="0">
                <a:solidFill>
                  <a:schemeClr val="bg1"/>
                </a:solidFill>
              </a:rPr>
              <a:t>Dinesh Naik</a:t>
            </a:r>
            <a:endParaRPr lang="en-US" sz="1600" dirty="0"/>
          </a:p>
        </p:txBody>
      </p:sp>
      <p:sp>
        <p:nvSpPr>
          <p:cNvPr id="15" name="Text 11"/>
          <p:cNvSpPr txBox="1"/>
          <p:nvPr/>
        </p:nvSpPr>
        <p:spPr>
          <a:xfrm>
            <a:off x="7680960" y="2514600"/>
            <a:ext cx="3291840" cy="256032"/>
          </a:xfrm>
          <a:prstGeom prst="rect">
            <a:avLst/>
          </a:prstGeom>
          <a:noFill/>
          <a:ln/>
        </p:spPr>
        <p:txBody>
          <a:bodyPr wrap="square" lIns="0" tIns="0" rIns="0" bIns="0" rtlCol="0" anchor="t"/>
          <a:lstStyle/>
          <a:p>
            <a:pPr marL="0" indent="0">
              <a:buNone/>
            </a:pPr>
            <a:r>
              <a:rPr lang="en-US" sz="1100" dirty="0">
                <a:solidFill>
                  <a:schemeClr val="accent6"/>
                </a:solidFill>
              </a:rPr>
              <a:t>Dinesh.Naik@Birlasoft.Com</a:t>
            </a:r>
            <a:endParaRPr lang="en-US" sz="1100" dirty="0"/>
          </a:p>
        </p:txBody>
      </p:sp>
      <p:sp>
        <p:nvSpPr>
          <p:cNvPr id="16" name="Shape 12"/>
          <p:cNvSpPr/>
          <p:nvPr/>
        </p:nvSpPr>
        <p:spPr>
          <a:xfrm>
            <a:off x="10287000" y="2203704"/>
            <a:ext cx="1143000" cy="292608"/>
          </a:xfrm>
          <a:prstGeom prst="roundRect">
            <a:avLst>
              <a:gd name="adj" fmla="val 50000"/>
            </a:avLst>
          </a:prstGeom>
          <a:solidFill>
            <a:srgbClr val="E1251B"/>
          </a:solidFill>
          <a:ln w="12700">
            <a:solidFill>
              <a:srgbClr val="E1251B"/>
            </a:solidFill>
            <a:prstDash val="solid"/>
          </a:ln>
        </p:spPr>
      </p:sp>
      <p:sp>
        <p:nvSpPr>
          <p:cNvPr id="17" name="Text 13"/>
          <p:cNvSpPr txBox="1"/>
          <p:nvPr/>
        </p:nvSpPr>
        <p:spPr>
          <a:xfrm>
            <a:off x="10287000" y="2203704"/>
            <a:ext cx="1143000" cy="292608"/>
          </a:xfrm>
          <a:prstGeom prst="rect">
            <a:avLst/>
          </a:prstGeom>
          <a:noFill/>
          <a:ln/>
        </p:spPr>
        <p:txBody>
          <a:bodyPr wrap="square" lIns="0" tIns="0" rIns="0" bIns="0" rtlCol="0" anchor="ctr"/>
          <a:lstStyle/>
          <a:p>
            <a:pPr marL="0" indent="0" algn="ctr">
              <a:buNone/>
            </a:pPr>
            <a:r>
              <a:rPr lang="en-US" sz="1000" b="1" kern="0" spc="100" dirty="0">
                <a:solidFill>
                  <a:schemeClr val="bg1"/>
                </a:solidFill>
              </a:rPr>
              <a:t>PREENTER</a:t>
            </a:r>
            <a:endParaRPr lang="en-US" sz="1000" dirty="0"/>
          </a:p>
        </p:txBody>
      </p:sp>
      <p:sp>
        <p:nvSpPr>
          <p:cNvPr id="18" name="Shape 14"/>
          <p:cNvSpPr/>
          <p:nvPr/>
        </p:nvSpPr>
        <p:spPr>
          <a:xfrm>
            <a:off x="7680960" y="2843784"/>
            <a:ext cx="3749040" cy="0"/>
          </a:xfrm>
          <a:prstGeom prst="line">
            <a:avLst/>
          </a:prstGeom>
          <a:noFill/>
          <a:ln w="9525">
            <a:solidFill>
              <a:srgbClr val="4D4D4D"/>
            </a:solidFill>
            <a:prstDash val="solid"/>
          </a:ln>
        </p:spPr>
      </p:sp>
      <p:sp>
        <p:nvSpPr>
          <p:cNvPr id="19" name="Text 15"/>
          <p:cNvSpPr txBox="1"/>
          <p:nvPr/>
        </p:nvSpPr>
        <p:spPr>
          <a:xfrm>
            <a:off x="7680960" y="2971800"/>
            <a:ext cx="2651760" cy="329184"/>
          </a:xfrm>
          <a:prstGeom prst="rect">
            <a:avLst/>
          </a:prstGeom>
          <a:noFill/>
          <a:ln/>
        </p:spPr>
        <p:txBody>
          <a:bodyPr wrap="square" lIns="0" tIns="0" rIns="0" bIns="0" rtlCol="0" anchor="t"/>
          <a:lstStyle/>
          <a:p>
            <a:pPr marL="0" indent="0">
              <a:buNone/>
            </a:pPr>
            <a:r>
              <a:rPr lang="en-US" sz="1600" b="1" dirty="0">
                <a:solidFill>
                  <a:schemeClr val="bg1"/>
                </a:solidFill>
              </a:rPr>
              <a:t>Rama Vedula</a:t>
            </a:r>
            <a:endParaRPr lang="en-US" sz="1600" dirty="0"/>
          </a:p>
        </p:txBody>
      </p:sp>
      <p:sp>
        <p:nvSpPr>
          <p:cNvPr id="20" name="Text 16"/>
          <p:cNvSpPr txBox="1"/>
          <p:nvPr/>
        </p:nvSpPr>
        <p:spPr>
          <a:xfrm>
            <a:off x="7680960" y="3300984"/>
            <a:ext cx="3291840" cy="256032"/>
          </a:xfrm>
          <a:prstGeom prst="rect">
            <a:avLst/>
          </a:prstGeom>
          <a:noFill/>
          <a:ln/>
        </p:spPr>
        <p:txBody>
          <a:bodyPr wrap="square" lIns="0" tIns="0" rIns="0" bIns="0" rtlCol="0" anchor="t"/>
          <a:lstStyle/>
          <a:p>
            <a:pPr marL="0" indent="0">
              <a:buNone/>
            </a:pPr>
            <a:r>
              <a:rPr lang="en-US" sz="1100" dirty="0">
                <a:solidFill>
                  <a:schemeClr val="accent6"/>
                </a:solidFill>
              </a:rPr>
              <a:t>Rama.Vedula@Birlasoft.Com</a:t>
            </a:r>
            <a:endParaRPr lang="en-US" sz="1100" dirty="0"/>
          </a:p>
        </p:txBody>
      </p:sp>
      <p:sp>
        <p:nvSpPr>
          <p:cNvPr id="21" name="Shape 17"/>
          <p:cNvSpPr/>
          <p:nvPr/>
        </p:nvSpPr>
        <p:spPr>
          <a:xfrm>
            <a:off x="7680960" y="3630168"/>
            <a:ext cx="3749040" cy="0"/>
          </a:xfrm>
          <a:prstGeom prst="line">
            <a:avLst/>
          </a:prstGeom>
          <a:noFill/>
          <a:ln w="9525">
            <a:solidFill>
              <a:srgbClr val="4D4D4D"/>
            </a:solidFill>
            <a:prstDash val="solid"/>
          </a:ln>
        </p:spPr>
      </p:sp>
      <p:sp>
        <p:nvSpPr>
          <p:cNvPr id="22" name="Text 18"/>
          <p:cNvSpPr txBox="1"/>
          <p:nvPr/>
        </p:nvSpPr>
        <p:spPr>
          <a:xfrm>
            <a:off x="7680960" y="3758184"/>
            <a:ext cx="2651760" cy="329184"/>
          </a:xfrm>
          <a:prstGeom prst="rect">
            <a:avLst/>
          </a:prstGeom>
          <a:noFill/>
          <a:ln/>
        </p:spPr>
        <p:txBody>
          <a:bodyPr wrap="square" lIns="0" tIns="0" rIns="0" bIns="0" rtlCol="0" anchor="t"/>
          <a:lstStyle/>
          <a:p>
            <a:pPr marL="0" indent="0">
              <a:buNone/>
            </a:pPr>
            <a:r>
              <a:rPr lang="en-US" sz="1600" b="1" dirty="0">
                <a:solidFill>
                  <a:schemeClr val="bg1"/>
                </a:solidFill>
              </a:rPr>
              <a:t>Nachiket Bordekar</a:t>
            </a:r>
            <a:endParaRPr lang="en-US" sz="1600" dirty="0"/>
          </a:p>
        </p:txBody>
      </p:sp>
      <p:sp>
        <p:nvSpPr>
          <p:cNvPr id="23" name="Text 19"/>
          <p:cNvSpPr txBox="1"/>
          <p:nvPr/>
        </p:nvSpPr>
        <p:spPr>
          <a:xfrm>
            <a:off x="7680960" y="4087368"/>
            <a:ext cx="3291840" cy="256032"/>
          </a:xfrm>
          <a:prstGeom prst="rect">
            <a:avLst/>
          </a:prstGeom>
          <a:noFill/>
          <a:ln/>
        </p:spPr>
        <p:txBody>
          <a:bodyPr wrap="square" lIns="0" tIns="0" rIns="0" bIns="0" rtlCol="0" anchor="t"/>
          <a:lstStyle/>
          <a:p>
            <a:pPr marL="0" indent="0">
              <a:buNone/>
            </a:pPr>
            <a:r>
              <a:rPr lang="en-US" sz="1100" dirty="0">
                <a:solidFill>
                  <a:schemeClr val="accent6"/>
                </a:solidFill>
              </a:rPr>
              <a:t>Nachiket.Bordekar@Birlasoft.Com</a:t>
            </a:r>
            <a:endParaRPr lang="en-US" sz="1100" dirty="0"/>
          </a:p>
        </p:txBody>
      </p:sp>
      <p:sp>
        <p:nvSpPr>
          <p:cNvPr id="24" name="Shape 20"/>
          <p:cNvSpPr/>
          <p:nvPr/>
        </p:nvSpPr>
        <p:spPr>
          <a:xfrm>
            <a:off x="7680960" y="4416552"/>
            <a:ext cx="3749040" cy="0"/>
          </a:xfrm>
          <a:prstGeom prst="line">
            <a:avLst/>
          </a:prstGeom>
          <a:noFill/>
          <a:ln w="9525">
            <a:solidFill>
              <a:srgbClr val="4D4D4D"/>
            </a:solidFill>
            <a:prstDash val="solid"/>
          </a:ln>
        </p:spPr>
      </p:sp>
      <p:sp>
        <p:nvSpPr>
          <p:cNvPr id="25" name="Text 21"/>
          <p:cNvSpPr txBox="1"/>
          <p:nvPr/>
        </p:nvSpPr>
        <p:spPr>
          <a:xfrm>
            <a:off x="7680960" y="4544568"/>
            <a:ext cx="2651760" cy="329184"/>
          </a:xfrm>
          <a:prstGeom prst="rect">
            <a:avLst/>
          </a:prstGeom>
          <a:noFill/>
          <a:ln/>
        </p:spPr>
        <p:txBody>
          <a:bodyPr wrap="square" lIns="0" tIns="0" rIns="0" bIns="0" rtlCol="0" anchor="t"/>
          <a:lstStyle/>
          <a:p>
            <a:pPr marL="0" indent="0">
              <a:buNone/>
            </a:pPr>
            <a:r>
              <a:rPr lang="en-US" sz="1600" b="1" dirty="0">
                <a:solidFill>
                  <a:schemeClr val="bg1"/>
                </a:solidFill>
              </a:rPr>
              <a:t>Sudhir Kulkarni</a:t>
            </a:r>
            <a:endParaRPr lang="en-US" sz="1600" dirty="0"/>
          </a:p>
        </p:txBody>
      </p:sp>
      <p:sp>
        <p:nvSpPr>
          <p:cNvPr id="26" name="Text 22"/>
          <p:cNvSpPr txBox="1"/>
          <p:nvPr/>
        </p:nvSpPr>
        <p:spPr>
          <a:xfrm>
            <a:off x="7680960" y="4873752"/>
            <a:ext cx="3291840" cy="256032"/>
          </a:xfrm>
          <a:prstGeom prst="rect">
            <a:avLst/>
          </a:prstGeom>
          <a:noFill/>
          <a:ln/>
        </p:spPr>
        <p:txBody>
          <a:bodyPr wrap="square" lIns="0" tIns="0" rIns="0" bIns="0" rtlCol="0" anchor="t"/>
          <a:lstStyle/>
          <a:p>
            <a:pPr marL="0" indent="0">
              <a:buNone/>
            </a:pPr>
            <a:r>
              <a:rPr lang="en-US" sz="1100" dirty="0">
                <a:solidFill>
                  <a:schemeClr val="accent6"/>
                </a:solidFill>
              </a:rPr>
              <a:t>Sudhir.Kulkarni@Birlasoft.Com</a:t>
            </a:r>
            <a:endParaRPr lang="en-US" sz="1100" dirty="0"/>
          </a:p>
        </p:txBody>
      </p:sp>
      <p:sp>
        <p:nvSpPr>
          <p:cNvPr id="27" name="Shape 23"/>
          <p:cNvSpPr/>
          <p:nvPr/>
        </p:nvSpPr>
        <p:spPr>
          <a:xfrm>
            <a:off x="7680960" y="5202936"/>
            <a:ext cx="3749040" cy="0"/>
          </a:xfrm>
          <a:prstGeom prst="line">
            <a:avLst/>
          </a:prstGeom>
          <a:noFill/>
          <a:ln w="9525">
            <a:solidFill>
              <a:srgbClr val="4D4D4D"/>
            </a:solidFill>
            <a:prstDash val="solid"/>
          </a:ln>
        </p:spPr>
      </p:sp>
      <p:sp>
        <p:nvSpPr>
          <p:cNvPr id="28" name="Text 24"/>
          <p:cNvSpPr txBox="1"/>
          <p:nvPr/>
        </p:nvSpPr>
        <p:spPr>
          <a:xfrm>
            <a:off x="7680960" y="5330952"/>
            <a:ext cx="2651760" cy="329184"/>
          </a:xfrm>
          <a:prstGeom prst="rect">
            <a:avLst/>
          </a:prstGeom>
          <a:noFill/>
          <a:ln/>
        </p:spPr>
        <p:txBody>
          <a:bodyPr wrap="square" lIns="0" tIns="0" rIns="0" bIns="0" rtlCol="0" anchor="t"/>
          <a:lstStyle/>
          <a:p>
            <a:pPr marL="0" indent="0">
              <a:buNone/>
            </a:pPr>
            <a:r>
              <a:rPr lang="en-US" sz="1600" b="1" dirty="0">
                <a:solidFill>
                  <a:schemeClr val="bg1"/>
                </a:solidFill>
              </a:rPr>
              <a:t>Hardik Trivedi</a:t>
            </a:r>
            <a:endParaRPr lang="en-US" sz="1600" dirty="0"/>
          </a:p>
        </p:txBody>
      </p:sp>
      <p:sp>
        <p:nvSpPr>
          <p:cNvPr id="29" name="Text 25"/>
          <p:cNvSpPr txBox="1"/>
          <p:nvPr/>
        </p:nvSpPr>
        <p:spPr>
          <a:xfrm>
            <a:off x="7680960" y="5660136"/>
            <a:ext cx="3291840" cy="256032"/>
          </a:xfrm>
          <a:prstGeom prst="rect">
            <a:avLst/>
          </a:prstGeom>
          <a:noFill/>
          <a:ln/>
        </p:spPr>
        <p:txBody>
          <a:bodyPr wrap="square" lIns="0" tIns="0" rIns="0" bIns="0" rtlCol="0" anchor="t"/>
          <a:lstStyle/>
          <a:p>
            <a:pPr marL="0" indent="0">
              <a:buNone/>
            </a:pPr>
            <a:r>
              <a:rPr lang="en-US" sz="1100" dirty="0">
                <a:solidFill>
                  <a:schemeClr val="accent6"/>
                </a:solidFill>
              </a:rPr>
              <a:t>Hardik.Trivedi@Birlasoft.Com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Executive summary</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THE ANSWER FIRST</a:t>
            </a:r>
            <a:endParaRPr lang="en-US" sz="3000" dirty="0"/>
          </a:p>
          <a:p>
            <a:pPr marL="0" indent="0" algn="l">
              <a:lnSpc>
                <a:spcPct val="95000"/>
              </a:lnSpc>
              <a:buNone/>
            </a:pPr>
            <a:r>
              <a:rPr lang="en-US" sz="3000" b="1" dirty="0">
                <a:solidFill>
                  <a:schemeClr val="accent1"/>
                </a:solidFill>
              </a:rPr>
              <a:t>WHAT WE DID, WHAT IS PROVEN, WHAT WE NEED</a:t>
            </a:r>
            <a:endParaRPr lang="en-US" sz="3000" dirty="0"/>
          </a:p>
        </p:txBody>
      </p:sp>
      <p:sp>
        <p:nvSpPr>
          <p:cNvPr id="5" name="card"/>
          <p:cNvSpPr/>
          <p:nvPr/>
        </p:nvSpPr>
        <p:spPr>
          <a:xfrm>
            <a:off x="457200" y="2148840"/>
            <a:ext cx="5486400" cy="1920240"/>
          </a:xfrm>
          <a:prstGeom prst="roundRect">
            <a:avLst>
              <a:gd name="adj" fmla="val 381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icon-circle"/>
          <p:cNvSpPr/>
          <p:nvPr/>
        </p:nvSpPr>
        <p:spPr>
          <a:xfrm>
            <a:off x="731520" y="2423160"/>
            <a:ext cx="548640" cy="548640"/>
          </a:xfrm>
          <a:prstGeom prst="ellipse">
            <a:avLst/>
          </a:prstGeom>
          <a:solidFill>
            <a:srgbClr val="E1251B"/>
          </a:solidFill>
          <a:ln w="12700">
            <a:solidFill>
              <a:srgbClr val="E1251B"/>
            </a:solidFill>
            <a:prstDash val="solid"/>
          </a:ln>
        </p:spPr>
      </p:sp>
      <p:pic>
        <p:nvPicPr>
          <p:cNvPr id="7" name="Image 0" descr="FaCogs"/>
          <p:cNvPicPr>
            <a:picLocks noChangeAspect="1"/>
          </p:cNvPicPr>
          <p:nvPr/>
        </p:nvPicPr>
        <p:blipFill>
          <a:blip r:embed="rId3"/>
          <a:stretch>
            <a:fillRect/>
          </a:stretch>
        </p:blipFill>
        <p:spPr>
          <a:xfrm>
            <a:off x="874166" y="2565806"/>
            <a:ext cx="263347" cy="263347"/>
          </a:xfrm>
          <a:prstGeom prst="rect">
            <a:avLst/>
          </a:prstGeom>
        </p:spPr>
      </p:pic>
      <p:sp>
        <p:nvSpPr>
          <p:cNvPr id="8" name="Text 4"/>
          <p:cNvSpPr txBox="1"/>
          <p:nvPr/>
        </p:nvSpPr>
        <p:spPr>
          <a:xfrm>
            <a:off x="1463040" y="2496312"/>
            <a:ext cx="4206240" cy="365760"/>
          </a:xfrm>
          <a:prstGeom prst="rect">
            <a:avLst/>
          </a:prstGeom>
          <a:noFill/>
          <a:ln/>
        </p:spPr>
        <p:txBody>
          <a:bodyPr wrap="square" lIns="0" tIns="0" rIns="0" bIns="0" rtlCol="0" anchor="t"/>
          <a:lstStyle/>
          <a:p>
            <a:pPr marL="0" indent="0">
              <a:buNone/>
            </a:pPr>
            <a:r>
              <a:rPr lang="en-US" sz="1700" b="1" dirty="0">
                <a:solidFill>
                  <a:schemeClr val="tx1"/>
                </a:solidFill>
              </a:rPr>
              <a:t>What we built</a:t>
            </a:r>
            <a:endParaRPr lang="en-US" sz="1700" dirty="0"/>
          </a:p>
        </p:txBody>
      </p:sp>
      <p:sp>
        <p:nvSpPr>
          <p:cNvPr id="9" name="Text 5"/>
          <p:cNvSpPr txBox="1"/>
          <p:nvPr/>
        </p:nvSpPr>
        <p:spPr>
          <a:xfrm>
            <a:off x="1463040" y="2926080"/>
            <a:ext cx="429768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A deterministic, standard-library hub beside the untouched legacy code</a:t>
            </a:r>
            <a:endParaRPr lang="en-US" sz="1300" dirty="0"/>
          </a:p>
          <a:p>
            <a:pPr marL="342900" indent="-342900">
              <a:spcAft>
                <a:spcPts val="300"/>
              </a:spcAft>
              <a:buSzPct val="100000"/>
              <a:buChar char="•"/>
            </a:pPr>
            <a:r>
              <a:rPr lang="en-US" sz="1300" dirty="0">
                <a:solidFill>
                  <a:schemeClr val="tx2"/>
                </a:solidFill>
              </a:rPr>
              <a:t>A semantic layer: 34 entities, 56 vocabularies, tested</a:t>
            </a:r>
            <a:endParaRPr lang="en-US" sz="1300" dirty="0"/>
          </a:p>
          <a:p>
            <a:pPr marL="342900" indent="-342900">
              <a:spcAft>
                <a:spcPts val="300"/>
              </a:spcAft>
              <a:buSzPct val="100000"/>
              <a:buChar char="•"/>
            </a:pPr>
            <a:r>
              <a:rPr lang="en-US" sz="1300" dirty="0">
                <a:solidFill>
                  <a:schemeClr val="tx2"/>
                </a:solidFill>
              </a:rPr>
              <a:t>A running Command Centre UI with an advisory OpenAI assistant</a:t>
            </a:r>
            <a:endParaRPr lang="en-US" sz="1300" dirty="0"/>
          </a:p>
        </p:txBody>
      </p:sp>
      <p:sp>
        <p:nvSpPr>
          <p:cNvPr id="10" name="card"/>
          <p:cNvSpPr/>
          <p:nvPr/>
        </p:nvSpPr>
        <p:spPr>
          <a:xfrm>
            <a:off x="6172200" y="2148840"/>
            <a:ext cx="5486400" cy="1920240"/>
          </a:xfrm>
          <a:prstGeom prst="roundRect">
            <a:avLst>
              <a:gd name="adj" fmla="val 381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1" name="icon-circle"/>
          <p:cNvSpPr/>
          <p:nvPr/>
        </p:nvSpPr>
        <p:spPr>
          <a:xfrm>
            <a:off x="6446520" y="2423160"/>
            <a:ext cx="548640" cy="548640"/>
          </a:xfrm>
          <a:prstGeom prst="ellipse">
            <a:avLst/>
          </a:prstGeom>
          <a:solidFill>
            <a:srgbClr val="E1251B"/>
          </a:solidFill>
          <a:ln w="12700">
            <a:solidFill>
              <a:srgbClr val="E1251B"/>
            </a:solidFill>
            <a:prstDash val="solid"/>
          </a:ln>
        </p:spPr>
      </p:sp>
      <p:pic>
        <p:nvPicPr>
          <p:cNvPr id="12" name="Image 1" descr="FaCheckCircle"/>
          <p:cNvPicPr>
            <a:picLocks noChangeAspect="1"/>
          </p:cNvPicPr>
          <p:nvPr/>
        </p:nvPicPr>
        <p:blipFill>
          <a:blip r:embed="rId4"/>
          <a:stretch>
            <a:fillRect/>
          </a:stretch>
        </p:blipFill>
        <p:spPr>
          <a:xfrm>
            <a:off x="6589166" y="2565806"/>
            <a:ext cx="263347" cy="263347"/>
          </a:xfrm>
          <a:prstGeom prst="rect">
            <a:avLst/>
          </a:prstGeom>
        </p:spPr>
      </p:pic>
      <p:sp>
        <p:nvSpPr>
          <p:cNvPr id="13" name="Text 8"/>
          <p:cNvSpPr txBox="1"/>
          <p:nvPr/>
        </p:nvSpPr>
        <p:spPr>
          <a:xfrm>
            <a:off x="7178040" y="2496312"/>
            <a:ext cx="4206240" cy="365760"/>
          </a:xfrm>
          <a:prstGeom prst="rect">
            <a:avLst/>
          </a:prstGeom>
          <a:noFill/>
          <a:ln/>
        </p:spPr>
        <p:txBody>
          <a:bodyPr wrap="square" lIns="0" tIns="0" rIns="0" bIns="0" rtlCol="0" anchor="t"/>
          <a:lstStyle/>
          <a:p>
            <a:pPr marL="0" indent="0">
              <a:buNone/>
            </a:pPr>
            <a:r>
              <a:rPr lang="en-US" sz="1700" b="1" dirty="0">
                <a:solidFill>
                  <a:schemeClr val="tx1"/>
                </a:solidFill>
              </a:rPr>
              <a:t>Proven in the sandbox</a:t>
            </a:r>
            <a:endParaRPr lang="en-US" sz="1700" dirty="0"/>
          </a:p>
        </p:txBody>
      </p:sp>
      <p:sp>
        <p:nvSpPr>
          <p:cNvPr id="14" name="Text 9"/>
          <p:cNvSpPr txBox="1"/>
          <p:nvPr/>
        </p:nvSpPr>
        <p:spPr>
          <a:xfrm>
            <a:off x="7178040" y="2926080"/>
            <a:ext cx="429768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Month-end defect found and fixed: +19.3 % inflation removed</a:t>
            </a:r>
            <a:endParaRPr lang="en-US" sz="1300" dirty="0"/>
          </a:p>
          <a:p>
            <a:pPr marL="342900" indent="-342900">
              <a:spcAft>
                <a:spcPts val="300"/>
              </a:spcAft>
              <a:buSzPct val="100000"/>
              <a:buChar char="•"/>
            </a:pPr>
            <a:r>
              <a:rPr lang="en-US" sz="1300" dirty="0">
                <a:solidFill>
                  <a:schemeClr val="tx2"/>
                </a:solidFill>
              </a:rPr>
              <a:t>Replay of 8,567 feed rows changes nothing (Δ 0)</a:t>
            </a:r>
            <a:endParaRPr lang="en-US" sz="1300" dirty="0"/>
          </a:p>
          <a:p>
            <a:pPr marL="342900" indent="-342900">
              <a:spcAft>
                <a:spcPts val="300"/>
              </a:spcAft>
              <a:buSzPct val="100000"/>
              <a:buChar char="•"/>
            </a:pPr>
            <a:r>
              <a:rPr lang="en-US" sz="1300" dirty="0">
                <a:solidFill>
                  <a:schemeClr val="tx2"/>
                </a:solidFill>
              </a:rPr>
              <a:t>134 / 134 legacy behaviours preserved; 15 / 15 mutants killed</a:t>
            </a:r>
            <a:endParaRPr lang="en-US" sz="1300" dirty="0"/>
          </a:p>
        </p:txBody>
      </p:sp>
      <p:sp>
        <p:nvSpPr>
          <p:cNvPr id="15" name="card"/>
          <p:cNvSpPr/>
          <p:nvPr/>
        </p:nvSpPr>
        <p:spPr>
          <a:xfrm>
            <a:off x="457200" y="4251960"/>
            <a:ext cx="5486400" cy="1920240"/>
          </a:xfrm>
          <a:prstGeom prst="roundRect">
            <a:avLst>
              <a:gd name="adj" fmla="val 381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6" name="icon-circle"/>
          <p:cNvSpPr/>
          <p:nvPr/>
        </p:nvSpPr>
        <p:spPr>
          <a:xfrm>
            <a:off x="731520" y="4526280"/>
            <a:ext cx="548640" cy="548640"/>
          </a:xfrm>
          <a:prstGeom prst="ellipse">
            <a:avLst/>
          </a:prstGeom>
          <a:solidFill>
            <a:srgbClr val="4D4D4D"/>
          </a:solidFill>
          <a:ln w="12700">
            <a:solidFill>
              <a:srgbClr val="4D4D4D"/>
            </a:solidFill>
            <a:prstDash val="solid"/>
          </a:ln>
        </p:spPr>
      </p:sp>
      <p:pic>
        <p:nvPicPr>
          <p:cNvPr id="17" name="Image 2" descr="FaExclamationTriangle"/>
          <p:cNvPicPr>
            <a:picLocks noChangeAspect="1"/>
          </p:cNvPicPr>
          <p:nvPr/>
        </p:nvPicPr>
        <p:blipFill>
          <a:blip r:embed="rId5"/>
          <a:stretch>
            <a:fillRect/>
          </a:stretch>
        </p:blipFill>
        <p:spPr>
          <a:xfrm>
            <a:off x="874166" y="4668926"/>
            <a:ext cx="263347" cy="263347"/>
          </a:xfrm>
          <a:prstGeom prst="rect">
            <a:avLst/>
          </a:prstGeom>
        </p:spPr>
      </p:pic>
      <p:sp>
        <p:nvSpPr>
          <p:cNvPr id="18" name="Text 12"/>
          <p:cNvSpPr txBox="1"/>
          <p:nvPr/>
        </p:nvSpPr>
        <p:spPr>
          <a:xfrm>
            <a:off x="1463040" y="4599432"/>
            <a:ext cx="4206240" cy="365760"/>
          </a:xfrm>
          <a:prstGeom prst="rect">
            <a:avLst/>
          </a:prstGeom>
          <a:noFill/>
          <a:ln/>
        </p:spPr>
        <p:txBody>
          <a:bodyPr wrap="square" lIns="0" tIns="0" rIns="0" bIns="0" rtlCol="0" anchor="t"/>
          <a:lstStyle/>
          <a:p>
            <a:pPr marL="0" indent="0">
              <a:buNone/>
            </a:pPr>
            <a:r>
              <a:rPr lang="en-US" sz="1700" b="1" dirty="0">
                <a:solidFill>
                  <a:schemeClr val="tx1"/>
                </a:solidFill>
              </a:rPr>
              <a:t>Not proven yet</a:t>
            </a:r>
            <a:endParaRPr lang="en-US" sz="1700" dirty="0"/>
          </a:p>
        </p:txBody>
      </p:sp>
      <p:sp>
        <p:nvSpPr>
          <p:cNvPr id="19" name="Text 13"/>
          <p:cNvSpPr txBox="1"/>
          <p:nvPr/>
        </p:nvSpPr>
        <p:spPr>
          <a:xfrm>
            <a:off x="1463040" y="5029200"/>
            <a:ext cx="429768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No users, no after-window: no time or cost saving can be claimed</a:t>
            </a:r>
            <a:endParaRPr lang="en-US" sz="1300" dirty="0"/>
          </a:p>
          <a:p>
            <a:pPr marL="342900" indent="-342900">
              <a:spcAft>
                <a:spcPts val="300"/>
              </a:spcAft>
              <a:buSzPct val="100000"/>
              <a:buChar char="•"/>
            </a:pPr>
            <a:r>
              <a:rPr lang="en-US" sz="1300" dirty="0">
                <a:solidFill>
                  <a:schemeClr val="tx2"/>
                </a:solidFill>
              </a:rPr>
              <a:t>Release gate NO-GO: 0 of 40 human approvals</a:t>
            </a:r>
            <a:endParaRPr lang="en-US" sz="1300" dirty="0"/>
          </a:p>
          <a:p>
            <a:pPr marL="342900" indent="-342900">
              <a:spcAft>
                <a:spcPts val="300"/>
              </a:spcAft>
              <a:buSzPct val="100000"/>
              <a:buChar char="•"/>
            </a:pPr>
            <a:r>
              <a:rPr lang="en-US" sz="1300" dirty="0">
                <a:solidFill>
                  <a:schemeClr val="tx2"/>
                </a:solidFill>
              </a:rPr>
              <a:t>AI assistant not yet evaluated on real documents</a:t>
            </a:r>
            <a:endParaRPr lang="en-US" sz="1300" dirty="0"/>
          </a:p>
        </p:txBody>
      </p:sp>
      <p:sp>
        <p:nvSpPr>
          <p:cNvPr id="20" name="card"/>
          <p:cNvSpPr/>
          <p:nvPr/>
        </p:nvSpPr>
        <p:spPr>
          <a:xfrm>
            <a:off x="6172200" y="4251960"/>
            <a:ext cx="5486400" cy="1920240"/>
          </a:xfrm>
          <a:prstGeom prst="roundRect">
            <a:avLst>
              <a:gd name="adj" fmla="val 381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1" name="icon-circle"/>
          <p:cNvSpPr/>
          <p:nvPr/>
        </p:nvSpPr>
        <p:spPr>
          <a:xfrm>
            <a:off x="6446520" y="4526280"/>
            <a:ext cx="548640" cy="548640"/>
          </a:xfrm>
          <a:prstGeom prst="ellipse">
            <a:avLst/>
          </a:prstGeom>
          <a:solidFill>
            <a:srgbClr val="E1251B"/>
          </a:solidFill>
          <a:ln w="12700">
            <a:solidFill>
              <a:srgbClr val="E1251B"/>
            </a:solidFill>
            <a:prstDash val="solid"/>
          </a:ln>
        </p:spPr>
      </p:sp>
      <p:pic>
        <p:nvPicPr>
          <p:cNvPr id="22" name="Image 3" descr="FaHandshake"/>
          <p:cNvPicPr>
            <a:picLocks noChangeAspect="1"/>
          </p:cNvPicPr>
          <p:nvPr/>
        </p:nvPicPr>
        <p:blipFill>
          <a:blip r:embed="rId6"/>
          <a:stretch>
            <a:fillRect/>
          </a:stretch>
        </p:blipFill>
        <p:spPr>
          <a:xfrm>
            <a:off x="6589166" y="4668926"/>
            <a:ext cx="263347" cy="263347"/>
          </a:xfrm>
          <a:prstGeom prst="rect">
            <a:avLst/>
          </a:prstGeom>
        </p:spPr>
      </p:pic>
      <p:sp>
        <p:nvSpPr>
          <p:cNvPr id="23" name="Text 16"/>
          <p:cNvSpPr txBox="1"/>
          <p:nvPr/>
        </p:nvSpPr>
        <p:spPr>
          <a:xfrm>
            <a:off x="7178040" y="4599432"/>
            <a:ext cx="4206240" cy="365760"/>
          </a:xfrm>
          <a:prstGeom prst="rect">
            <a:avLst/>
          </a:prstGeom>
          <a:noFill/>
          <a:ln/>
        </p:spPr>
        <p:txBody>
          <a:bodyPr wrap="square" lIns="0" tIns="0" rIns="0" bIns="0" rtlCol="0" anchor="t"/>
          <a:lstStyle/>
          <a:p>
            <a:pPr marL="0" indent="0">
              <a:buNone/>
            </a:pPr>
            <a:r>
              <a:rPr lang="en-US" sz="1700" b="1" dirty="0">
                <a:solidFill>
                  <a:schemeClr val="tx1"/>
                </a:solidFill>
              </a:rPr>
              <a:t>The ask</a:t>
            </a:r>
            <a:endParaRPr lang="en-US" sz="1700" dirty="0"/>
          </a:p>
        </p:txBody>
      </p:sp>
      <p:sp>
        <p:nvSpPr>
          <p:cNvPr id="24" name="Text 17"/>
          <p:cNvSpPr txBox="1"/>
          <p:nvPr/>
        </p:nvSpPr>
        <p:spPr>
          <a:xfrm>
            <a:off x="7178040" y="5029200"/>
            <a:ext cx="429768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Five decisions: closure definition, Zone H holders, pilot window, owners, AI scope</a:t>
            </a:r>
            <a:endParaRPr lang="en-US" sz="1300" dirty="0"/>
          </a:p>
          <a:p>
            <a:pPr marL="342900" indent="-342900">
              <a:spcAft>
                <a:spcPts val="300"/>
              </a:spcAft>
              <a:buSzPct val="100000"/>
              <a:buChar char="•"/>
            </a:pPr>
            <a:r>
              <a:rPr lang="en-US" sz="1300" dirty="0">
                <a:solidFill>
                  <a:schemeClr val="tx2"/>
                </a:solidFill>
              </a:rPr>
              <a:t>A 90-day gated pilot on one site</a:t>
            </a:r>
            <a:endParaRPr lang="en-US" sz="1300" dirty="0"/>
          </a:p>
          <a:p>
            <a:pPr marL="342900" indent="-342900">
              <a:spcAft>
                <a:spcPts val="300"/>
              </a:spcAft>
              <a:buSzPct val="100000"/>
              <a:buChar char="•"/>
            </a:pPr>
            <a:r>
              <a:rPr lang="en-US" sz="1300" dirty="0">
                <a:solidFill>
                  <a:schemeClr val="tx2"/>
                </a:solidFill>
              </a:rPr>
              <a:t>A second reviewer for separation of duties</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Why  ·  Problem statement</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THE ESTATE CANNOT AGREE</a:t>
            </a:r>
            <a:endParaRPr lang="en-US" sz="3000" dirty="0"/>
          </a:p>
          <a:p>
            <a:pPr marL="0" indent="0" algn="l">
              <a:lnSpc>
                <a:spcPct val="95000"/>
              </a:lnSpc>
              <a:buNone/>
            </a:pPr>
            <a:r>
              <a:rPr lang="en-US" sz="3000" b="1" dirty="0">
                <a:solidFill>
                  <a:schemeClr val="accent1"/>
                </a:solidFill>
              </a:rPr>
              <a:t>ON ITS OWN NUMBERS</a:t>
            </a:r>
            <a:endParaRPr lang="en-US" sz="3000" dirty="0"/>
          </a:p>
        </p:txBody>
      </p:sp>
      <p:sp>
        <p:nvSpPr>
          <p:cNvPr id="5" name="card"/>
          <p:cNvSpPr/>
          <p:nvPr/>
        </p:nvSpPr>
        <p:spPr>
          <a:xfrm>
            <a:off x="457200" y="2194560"/>
            <a:ext cx="26974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Text 3"/>
          <p:cNvSpPr txBox="1"/>
          <p:nvPr/>
        </p:nvSpPr>
        <p:spPr>
          <a:xfrm>
            <a:off x="685800" y="2395728"/>
            <a:ext cx="224028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MONTH-END INFLATION</a:t>
            </a:r>
            <a:endParaRPr lang="en-US" sz="1100" dirty="0"/>
          </a:p>
        </p:txBody>
      </p:sp>
      <p:sp>
        <p:nvSpPr>
          <p:cNvPr id="7" name="Text 4"/>
          <p:cNvSpPr txBox="1"/>
          <p:nvPr/>
        </p:nvSpPr>
        <p:spPr>
          <a:xfrm>
            <a:off x="685800" y="2670048"/>
            <a:ext cx="2240280" cy="685800"/>
          </a:xfrm>
          <a:prstGeom prst="rect">
            <a:avLst/>
          </a:prstGeom>
          <a:noFill/>
          <a:ln/>
        </p:spPr>
        <p:txBody>
          <a:bodyPr wrap="square" lIns="0" tIns="0" rIns="0" bIns="0" rtlCol="0" anchor="t">
            <a:normAutofit/>
          </a:bodyPr>
          <a:lstStyle/>
          <a:p>
            <a:pPr marL="0" indent="0">
              <a:buNone/>
            </a:pPr>
            <a:r>
              <a:rPr lang="en-US" sz="4000" b="1" dirty="0">
                <a:solidFill>
                  <a:schemeClr val="accent1"/>
                </a:solidFill>
              </a:rPr>
              <a:t>+19.3%</a:t>
            </a:r>
            <a:endParaRPr lang="en-US" sz="4000" dirty="0"/>
          </a:p>
        </p:txBody>
      </p:sp>
      <p:sp>
        <p:nvSpPr>
          <p:cNvPr id="8" name="Text 5"/>
          <p:cNvSpPr txBox="1"/>
          <p:nvPr/>
        </p:nvSpPr>
        <p:spPr>
          <a:xfrm>
            <a:off x="685800" y="3364992"/>
            <a:ext cx="2240280" cy="457200"/>
          </a:xfrm>
          <a:prstGeom prst="rect">
            <a:avLst/>
          </a:prstGeom>
          <a:noFill/>
          <a:ln/>
        </p:spPr>
        <p:txBody>
          <a:bodyPr wrap="square" lIns="0" tIns="0" rIns="0" bIns="0" rtlCol="0" anchor="t"/>
          <a:lstStyle/>
          <a:p>
            <a:pPr marL="0" indent="0">
              <a:buNone/>
            </a:pPr>
            <a:r>
              <a:rPr lang="en-US" sz="1100" dirty="0">
                <a:solidFill>
                  <a:schemeClr val="tx2"/>
                </a:solidFill>
              </a:rPr>
              <a:t>742,956.61 legacy vs 622,826.44 one-source</a:t>
            </a:r>
            <a:endParaRPr lang="en-US" sz="1100" dirty="0"/>
          </a:p>
        </p:txBody>
      </p:sp>
      <p:sp>
        <p:nvSpPr>
          <p:cNvPr id="9" name="card"/>
          <p:cNvSpPr/>
          <p:nvPr/>
        </p:nvSpPr>
        <p:spPr>
          <a:xfrm>
            <a:off x="3291840" y="2194560"/>
            <a:ext cx="26974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0" name="Text 7"/>
          <p:cNvSpPr txBox="1"/>
          <p:nvPr/>
        </p:nvSpPr>
        <p:spPr>
          <a:xfrm>
            <a:off x="3520440" y="2395728"/>
            <a:ext cx="224028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FEED ROWS UNMATCHED</a:t>
            </a:r>
            <a:endParaRPr lang="en-US" sz="1100" dirty="0"/>
          </a:p>
        </p:txBody>
      </p:sp>
      <p:sp>
        <p:nvSpPr>
          <p:cNvPr id="11" name="Text 8"/>
          <p:cNvSpPr txBox="1"/>
          <p:nvPr/>
        </p:nvSpPr>
        <p:spPr>
          <a:xfrm>
            <a:off x="3520440" y="2670048"/>
            <a:ext cx="2240280" cy="685800"/>
          </a:xfrm>
          <a:prstGeom prst="rect">
            <a:avLst/>
          </a:prstGeom>
          <a:noFill/>
          <a:ln/>
        </p:spPr>
        <p:txBody>
          <a:bodyPr wrap="square" lIns="0" tIns="0" rIns="0" bIns="0" rtlCol="0" anchor="t">
            <a:normAutofit/>
          </a:bodyPr>
          <a:lstStyle/>
          <a:p>
            <a:pPr marL="0" indent="0">
              <a:buNone/>
            </a:pPr>
            <a:r>
              <a:rPr lang="en-US" sz="4000" b="1" dirty="0">
                <a:solidFill>
                  <a:schemeClr val="accent1"/>
                </a:solidFill>
              </a:rPr>
              <a:t>97.98%</a:t>
            </a:r>
            <a:endParaRPr lang="en-US" sz="4000" dirty="0"/>
          </a:p>
        </p:txBody>
      </p:sp>
      <p:sp>
        <p:nvSpPr>
          <p:cNvPr id="12" name="Text 9"/>
          <p:cNvSpPr txBox="1"/>
          <p:nvPr/>
        </p:nvSpPr>
        <p:spPr>
          <a:xfrm>
            <a:off x="3520440" y="3364992"/>
            <a:ext cx="2240280" cy="457200"/>
          </a:xfrm>
          <a:prstGeom prst="rect">
            <a:avLst/>
          </a:prstGeom>
          <a:noFill/>
          <a:ln/>
        </p:spPr>
        <p:txBody>
          <a:bodyPr wrap="square" lIns="0" tIns="0" rIns="0" bIns="0" rtlCol="0" anchor="t"/>
          <a:lstStyle/>
          <a:p>
            <a:pPr marL="0" indent="0">
              <a:buNone/>
            </a:pPr>
            <a:r>
              <a:rPr lang="en-US" sz="1100" dirty="0">
                <a:solidFill>
                  <a:schemeClr val="tx2"/>
                </a:solidFill>
              </a:rPr>
              <a:t>8,394 of 8,567 reference no case</a:t>
            </a:r>
            <a:endParaRPr lang="en-US" sz="1100" dirty="0"/>
          </a:p>
        </p:txBody>
      </p:sp>
      <p:sp>
        <p:nvSpPr>
          <p:cNvPr id="13" name="card"/>
          <p:cNvSpPr/>
          <p:nvPr/>
        </p:nvSpPr>
        <p:spPr>
          <a:xfrm>
            <a:off x="6126480" y="2194560"/>
            <a:ext cx="26974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4" name="Text 11"/>
          <p:cNvSpPr txBox="1"/>
          <p:nvPr/>
        </p:nvSpPr>
        <p:spPr>
          <a:xfrm>
            <a:off x="6355080" y="2395728"/>
            <a:ext cx="224028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MEANINGS OF CLOSED</a:t>
            </a:r>
            <a:endParaRPr lang="en-US" sz="1100" dirty="0"/>
          </a:p>
        </p:txBody>
      </p:sp>
      <p:sp>
        <p:nvSpPr>
          <p:cNvPr id="15" name="Text 12"/>
          <p:cNvSpPr txBox="1"/>
          <p:nvPr/>
        </p:nvSpPr>
        <p:spPr>
          <a:xfrm>
            <a:off x="6355080" y="2670048"/>
            <a:ext cx="2240280" cy="685800"/>
          </a:xfrm>
          <a:prstGeom prst="rect">
            <a:avLst/>
          </a:prstGeom>
          <a:noFill/>
          <a:ln/>
        </p:spPr>
        <p:txBody>
          <a:bodyPr wrap="square" lIns="0" tIns="0" rIns="0" bIns="0" rtlCol="0" anchor="t">
            <a:normAutofit/>
          </a:bodyPr>
          <a:lstStyle/>
          <a:p>
            <a:pPr marL="0" indent="0">
              <a:buNone/>
            </a:pPr>
            <a:r>
              <a:rPr lang="en-US" sz="4000" b="1" dirty="0">
                <a:solidFill>
                  <a:schemeClr val="accent1"/>
                </a:solidFill>
              </a:rPr>
              <a:t>4</a:t>
            </a:r>
            <a:endParaRPr lang="en-US" sz="4000" dirty="0"/>
          </a:p>
        </p:txBody>
      </p:sp>
      <p:sp>
        <p:nvSpPr>
          <p:cNvPr id="16" name="Text 13"/>
          <p:cNvSpPr txBox="1"/>
          <p:nvPr/>
        </p:nvSpPr>
        <p:spPr>
          <a:xfrm>
            <a:off x="6355080" y="3364992"/>
            <a:ext cx="2240280" cy="457200"/>
          </a:xfrm>
          <a:prstGeom prst="rect">
            <a:avLst/>
          </a:prstGeom>
          <a:noFill/>
          <a:ln/>
        </p:spPr>
        <p:txBody>
          <a:bodyPr wrap="square" lIns="0" tIns="0" rIns="0" bIns="0" rtlCol="0" anchor="t"/>
          <a:lstStyle/>
          <a:p>
            <a:pPr marL="0" indent="0">
              <a:buNone/>
            </a:pPr>
            <a:r>
              <a:rPr lang="en-US" sz="1100" dirty="0">
                <a:solidFill>
                  <a:schemeClr val="tx2"/>
                </a:solidFill>
              </a:rPr>
              <a:t>across case, batch, deviation and enterprise vocabularies</a:t>
            </a:r>
            <a:endParaRPr lang="en-US" sz="1100" dirty="0"/>
          </a:p>
        </p:txBody>
      </p:sp>
      <p:sp>
        <p:nvSpPr>
          <p:cNvPr id="17" name="card"/>
          <p:cNvSpPr/>
          <p:nvPr/>
        </p:nvSpPr>
        <p:spPr>
          <a:xfrm>
            <a:off x="8961120" y="2194560"/>
            <a:ext cx="2770632"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8" name="Text 15"/>
          <p:cNvSpPr txBox="1"/>
          <p:nvPr/>
        </p:nvSpPr>
        <p:spPr>
          <a:xfrm>
            <a:off x="9189720" y="2395728"/>
            <a:ext cx="2313432"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OPEN CASES (D-OPS)</a:t>
            </a:r>
            <a:endParaRPr lang="en-US" sz="1100" dirty="0"/>
          </a:p>
        </p:txBody>
      </p:sp>
      <p:sp>
        <p:nvSpPr>
          <p:cNvPr id="19" name="Text 16"/>
          <p:cNvSpPr txBox="1"/>
          <p:nvPr/>
        </p:nvSpPr>
        <p:spPr>
          <a:xfrm>
            <a:off x="9189720" y="2670048"/>
            <a:ext cx="2313432" cy="685800"/>
          </a:xfrm>
          <a:prstGeom prst="rect">
            <a:avLst/>
          </a:prstGeom>
          <a:noFill/>
          <a:ln/>
        </p:spPr>
        <p:txBody>
          <a:bodyPr wrap="square" lIns="0" tIns="0" rIns="0" bIns="0" rtlCol="0" anchor="t">
            <a:normAutofit/>
          </a:bodyPr>
          <a:lstStyle/>
          <a:p>
            <a:pPr marL="0" indent="0">
              <a:buNone/>
            </a:pPr>
            <a:r>
              <a:rPr lang="en-US" sz="4000" b="1" dirty="0">
                <a:solidFill>
                  <a:schemeClr val="tx1"/>
                </a:solidFill>
              </a:rPr>
              <a:t>89 / 125</a:t>
            </a:r>
            <a:endParaRPr lang="en-US" sz="4000" dirty="0"/>
          </a:p>
        </p:txBody>
      </p:sp>
      <p:sp>
        <p:nvSpPr>
          <p:cNvPr id="20" name="Text 17"/>
          <p:cNvSpPr txBox="1"/>
          <p:nvPr/>
        </p:nvSpPr>
        <p:spPr>
          <a:xfrm>
            <a:off x="9189720" y="3364992"/>
            <a:ext cx="2313432" cy="457200"/>
          </a:xfrm>
          <a:prstGeom prst="rect">
            <a:avLst/>
          </a:prstGeom>
          <a:noFill/>
          <a:ln/>
        </p:spPr>
        <p:txBody>
          <a:bodyPr wrap="square" lIns="0" tIns="0" rIns="0" bIns="0" rtlCol="0" anchor="t"/>
          <a:lstStyle/>
          <a:p>
            <a:pPr marL="0" indent="0">
              <a:buNone/>
            </a:pPr>
            <a:r>
              <a:rPr lang="en-US" sz="1100" dirty="0">
                <a:solidFill>
                  <a:schemeClr val="tx2"/>
                </a:solidFill>
              </a:rPr>
              <a:t>median age 565 days; 31 older than two years</a:t>
            </a:r>
            <a:endParaRPr lang="en-US" sz="1100" dirty="0"/>
          </a:p>
        </p:txBody>
      </p:sp>
      <p:sp>
        <p:nvSpPr>
          <p:cNvPr id="21" name="card"/>
          <p:cNvSpPr/>
          <p:nvPr/>
        </p:nvSpPr>
        <p:spPr>
          <a:xfrm>
            <a:off x="457200" y="4160520"/>
            <a:ext cx="11274552" cy="1325880"/>
          </a:xfrm>
          <a:prstGeom prst="roundRect">
            <a:avLst>
              <a:gd name="adj" fmla="val 5517"/>
            </a:avLst>
          </a:prstGeom>
          <a:solidFill>
            <a:srgbClr val="F6F6F6"/>
          </a:solidFill>
          <a:ln w="9525">
            <a:solidFill>
              <a:srgbClr val="F6F6F6"/>
            </a:solidFill>
            <a:prstDash val="solid"/>
          </a:ln>
        </p:spPr>
      </p:sp>
      <p:sp>
        <p:nvSpPr>
          <p:cNvPr id="22" name="Text 19"/>
          <p:cNvSpPr txBox="1"/>
          <p:nvPr/>
        </p:nvSpPr>
        <p:spPr>
          <a:xfrm>
            <a:off x="731520" y="4315968"/>
            <a:ext cx="5486400"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WHAT THIS MEANS FOR THE BUSINESS</a:t>
            </a:r>
            <a:endParaRPr lang="en-US" sz="1100" dirty="0"/>
          </a:p>
        </p:txBody>
      </p:sp>
      <p:sp>
        <p:nvSpPr>
          <p:cNvPr id="23" name="Text 20"/>
          <p:cNvSpPr txBox="1"/>
          <p:nvPr/>
        </p:nvSpPr>
        <p:spPr>
          <a:xfrm>
            <a:off x="731520" y="4681728"/>
            <a:ext cx="3429000" cy="1188720"/>
          </a:xfrm>
          <a:prstGeom prst="rect">
            <a:avLst/>
          </a:prstGeom>
          <a:noFill/>
          <a:ln/>
        </p:spPr>
        <p:txBody>
          <a:bodyPr wrap="square" lIns="0" tIns="0" rIns="0" bIns="0" rtlCol="0" anchor="t"/>
          <a:lstStyle/>
          <a:p>
            <a:pPr marL="0" indent="0">
              <a:buNone/>
            </a:pPr>
            <a:r>
              <a:rPr lang="en-US" sz="1300" b="1" dirty="0">
                <a:solidFill>
                  <a:schemeClr val="tx1"/>
                </a:solidFill>
              </a:rPr>
              <a:t>Finance and operations report different month-ends</a:t>
            </a:r>
            <a:endParaRPr lang="en-US" sz="1300" dirty="0"/>
          </a:p>
          <a:p>
            <a:pPr marL="0" indent="0">
              <a:buNone/>
            </a:pPr>
            <a:r>
              <a:rPr lang="en-US" sz="1300" dirty="0">
                <a:solidFill>
                  <a:schemeClr val="tx2"/>
                </a:solidFill>
              </a:rPr>
              <a:t>and nobody owns the definition (OPD-08)</a:t>
            </a:r>
            <a:endParaRPr lang="en-US" sz="1300" dirty="0"/>
          </a:p>
        </p:txBody>
      </p:sp>
      <p:sp>
        <p:nvSpPr>
          <p:cNvPr id="24" name="Text 21"/>
          <p:cNvSpPr txBox="1"/>
          <p:nvPr/>
        </p:nvSpPr>
        <p:spPr>
          <a:xfrm>
            <a:off x="4434840" y="4681728"/>
            <a:ext cx="3429000" cy="1188720"/>
          </a:xfrm>
          <a:prstGeom prst="rect">
            <a:avLst/>
          </a:prstGeom>
          <a:noFill/>
          <a:ln/>
        </p:spPr>
        <p:txBody>
          <a:bodyPr wrap="square" lIns="0" tIns="0" rIns="0" bIns="0" rtlCol="0" anchor="t"/>
          <a:lstStyle/>
          <a:p>
            <a:pPr marL="0" indent="0">
              <a:buNone/>
            </a:pPr>
            <a:r>
              <a:rPr lang="en-US" sz="1300" b="1" dirty="0">
                <a:solidFill>
                  <a:schemeClr val="tx1"/>
                </a:solidFill>
              </a:rPr>
              <a:t>A 2025 partner replay inflated the exception queue</a:t>
            </a:r>
            <a:endParaRPr lang="en-US" sz="1300" dirty="0"/>
          </a:p>
          <a:p>
            <a:pPr marL="0" indent="0">
              <a:buNone/>
            </a:pPr>
            <a:r>
              <a:rPr lang="en-US" sz="1300" dirty="0">
                <a:solidFill>
                  <a:schemeClr val="tx2"/>
                </a:solidFill>
              </a:rPr>
              <a:t>and forced a rollback: intake was destructive</a:t>
            </a:r>
            <a:endParaRPr lang="en-US" sz="1300" dirty="0"/>
          </a:p>
        </p:txBody>
      </p:sp>
      <p:sp>
        <p:nvSpPr>
          <p:cNvPr id="25" name="Text 22"/>
          <p:cNvSpPr txBox="1"/>
          <p:nvPr/>
        </p:nvSpPr>
        <p:spPr>
          <a:xfrm>
            <a:off x="8138160" y="4681728"/>
            <a:ext cx="3429000" cy="1188720"/>
          </a:xfrm>
          <a:prstGeom prst="rect">
            <a:avLst/>
          </a:prstGeom>
          <a:noFill/>
          <a:ln/>
        </p:spPr>
        <p:txBody>
          <a:bodyPr wrap="square" lIns="0" tIns="0" rIns="0" bIns="0" rtlCol="0" anchor="t"/>
          <a:lstStyle/>
          <a:p>
            <a:pPr marL="0" indent="0">
              <a:buNone/>
            </a:pPr>
            <a:r>
              <a:rPr lang="en-US" sz="1300" b="1" dirty="0">
                <a:solidFill>
                  <a:schemeClr val="tx1"/>
                </a:solidFill>
              </a:rPr>
              <a:t>Quality decisions leave no record of who decided and why</a:t>
            </a:r>
            <a:endParaRPr lang="en-US" sz="1300" dirty="0"/>
          </a:p>
          <a:p>
            <a:pPr marL="0" indent="0">
              <a:buNone/>
            </a:pPr>
            <a:r>
              <a:rPr lang="en-US" sz="1300" dirty="0">
                <a:solidFill>
                  <a:schemeClr val="tx2"/>
                </a:solidFill>
              </a:rPr>
              <a:t>a GxP audit cannot be answered from the data</a:t>
            </a:r>
            <a:endParaRPr lang="en-US" sz="13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Who  ·  Stakeholders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WHO FEELS IT,</a:t>
            </a:r>
            <a:endParaRPr lang="en-US" sz="3000" dirty="0"/>
          </a:p>
          <a:p>
            <a:pPr marL="0" indent="0" algn="l">
              <a:lnSpc>
                <a:spcPct val="95000"/>
              </a:lnSpc>
              <a:buNone/>
            </a:pPr>
            <a:r>
              <a:rPr lang="en-US" sz="3000" b="1" dirty="0">
                <a:solidFill>
                  <a:schemeClr val="accent1"/>
                </a:solidFill>
              </a:rPr>
              <a:t>AND WHO MUST DECIDE</a:t>
            </a:r>
            <a:endParaRPr lang="en-US" sz="3000" dirty="0"/>
          </a:p>
        </p:txBody>
      </p:sp>
      <p:sp>
        <p:nvSpPr>
          <p:cNvPr id="5" name="card"/>
          <p:cNvSpPr/>
          <p:nvPr/>
        </p:nvSpPr>
        <p:spPr>
          <a:xfrm>
            <a:off x="457200" y="2148840"/>
            <a:ext cx="36118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icon-circle"/>
          <p:cNvSpPr/>
          <p:nvPr/>
        </p:nvSpPr>
        <p:spPr>
          <a:xfrm>
            <a:off x="685800" y="2404872"/>
            <a:ext cx="566928" cy="566928"/>
          </a:xfrm>
          <a:prstGeom prst="ellipse">
            <a:avLst/>
          </a:prstGeom>
          <a:solidFill>
            <a:srgbClr val="E1251B"/>
          </a:solidFill>
          <a:ln w="12700">
            <a:solidFill>
              <a:srgbClr val="E1251B"/>
            </a:solidFill>
            <a:prstDash val="solid"/>
          </a:ln>
        </p:spPr>
      </p:sp>
      <p:pic>
        <p:nvPicPr>
          <p:cNvPr id="7" name="Image 0" descr="FaSearch"/>
          <p:cNvPicPr>
            <a:picLocks noChangeAspect="1"/>
          </p:cNvPicPr>
          <p:nvPr/>
        </p:nvPicPr>
        <p:blipFill>
          <a:blip r:embed="rId3"/>
          <a:stretch>
            <a:fillRect/>
          </a:stretch>
        </p:blipFill>
        <p:spPr>
          <a:xfrm>
            <a:off x="833201" y="2552273"/>
            <a:ext cx="272125" cy="272125"/>
          </a:xfrm>
          <a:prstGeom prst="rect">
            <a:avLst/>
          </a:prstGeom>
        </p:spPr>
      </p:pic>
      <p:sp>
        <p:nvSpPr>
          <p:cNvPr id="8" name="Text 4"/>
          <p:cNvSpPr txBox="1"/>
          <p:nvPr/>
        </p:nvSpPr>
        <p:spPr>
          <a:xfrm>
            <a:off x="1417320" y="2441448"/>
            <a:ext cx="2514600" cy="365760"/>
          </a:xfrm>
          <a:prstGeom prst="rect">
            <a:avLst/>
          </a:prstGeom>
          <a:noFill/>
          <a:ln/>
        </p:spPr>
        <p:txBody>
          <a:bodyPr wrap="square" lIns="0" tIns="0" rIns="0" bIns="0" rtlCol="0" anchor="t"/>
          <a:lstStyle/>
          <a:p>
            <a:pPr marL="0" indent="0">
              <a:buNone/>
            </a:pPr>
            <a:r>
              <a:rPr lang="en-US" sz="1500" b="1" dirty="0">
                <a:solidFill>
                  <a:schemeClr val="tx1"/>
                </a:solidFill>
              </a:rPr>
              <a:t>Quality reviewer</a:t>
            </a:r>
            <a:endParaRPr lang="en-US" sz="1500" dirty="0"/>
          </a:p>
        </p:txBody>
      </p:sp>
      <p:sp>
        <p:nvSpPr>
          <p:cNvPr id="9" name="Text 5"/>
          <p:cNvSpPr txBox="1"/>
          <p:nvPr/>
        </p:nvSpPr>
        <p:spPr>
          <a:xfrm>
            <a:off x="1417320" y="2834640"/>
            <a:ext cx="2514600" cy="914400"/>
          </a:xfrm>
          <a:prstGeom prst="rect">
            <a:avLst/>
          </a:prstGeom>
          <a:noFill/>
          <a:ln/>
        </p:spPr>
        <p:txBody>
          <a:bodyPr wrap="square" lIns="0" tIns="0" rIns="0" bIns="0" rtlCol="0" anchor="t"/>
          <a:lstStyle/>
          <a:p>
            <a:pPr marL="0" indent="0">
              <a:buNone/>
            </a:pPr>
            <a:r>
              <a:rPr lang="en-US" sz="1200" dirty="0">
                <a:solidFill>
                  <a:schemeClr val="tx2"/>
                </a:solidFill>
              </a:rPr>
              <a:t>Works the exception queue; needs to know why an item is there and what to check</a:t>
            </a:r>
            <a:endParaRPr lang="en-US" sz="1200" dirty="0"/>
          </a:p>
        </p:txBody>
      </p:sp>
      <p:sp>
        <p:nvSpPr>
          <p:cNvPr id="10" name="card"/>
          <p:cNvSpPr/>
          <p:nvPr/>
        </p:nvSpPr>
        <p:spPr>
          <a:xfrm>
            <a:off x="4251960" y="2148840"/>
            <a:ext cx="36118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1" name="icon-circle"/>
          <p:cNvSpPr/>
          <p:nvPr/>
        </p:nvSpPr>
        <p:spPr>
          <a:xfrm>
            <a:off x="4480560" y="2404872"/>
            <a:ext cx="566928" cy="566928"/>
          </a:xfrm>
          <a:prstGeom prst="ellipse">
            <a:avLst/>
          </a:prstGeom>
          <a:solidFill>
            <a:srgbClr val="E1251B"/>
          </a:solidFill>
          <a:ln w="12700">
            <a:solidFill>
              <a:srgbClr val="E1251B"/>
            </a:solidFill>
            <a:prstDash val="solid"/>
          </a:ln>
        </p:spPr>
      </p:sp>
      <p:pic>
        <p:nvPicPr>
          <p:cNvPr id="12" name="Image 1" descr="FaClipboardCheck"/>
          <p:cNvPicPr>
            <a:picLocks noChangeAspect="1"/>
          </p:cNvPicPr>
          <p:nvPr/>
        </p:nvPicPr>
        <p:blipFill>
          <a:blip r:embed="rId4"/>
          <a:stretch>
            <a:fillRect/>
          </a:stretch>
        </p:blipFill>
        <p:spPr>
          <a:xfrm>
            <a:off x="4627961" y="2552273"/>
            <a:ext cx="272125" cy="272125"/>
          </a:xfrm>
          <a:prstGeom prst="rect">
            <a:avLst/>
          </a:prstGeom>
        </p:spPr>
      </p:pic>
      <p:sp>
        <p:nvSpPr>
          <p:cNvPr id="13" name="Text 8"/>
          <p:cNvSpPr txBox="1"/>
          <p:nvPr/>
        </p:nvSpPr>
        <p:spPr>
          <a:xfrm>
            <a:off x="5212080" y="2441448"/>
            <a:ext cx="2514600" cy="365760"/>
          </a:xfrm>
          <a:prstGeom prst="rect">
            <a:avLst/>
          </a:prstGeom>
          <a:noFill/>
          <a:ln/>
        </p:spPr>
        <p:txBody>
          <a:bodyPr wrap="square" lIns="0" tIns="0" rIns="0" bIns="0" rtlCol="0" anchor="t"/>
          <a:lstStyle/>
          <a:p>
            <a:pPr marL="0" indent="0">
              <a:buNone/>
            </a:pPr>
            <a:r>
              <a:rPr lang="en-US" sz="1500" b="1" dirty="0">
                <a:solidFill>
                  <a:schemeClr val="tx1"/>
                </a:solidFill>
              </a:rPr>
              <a:t>Quality lead</a:t>
            </a:r>
            <a:endParaRPr lang="en-US" sz="1500" dirty="0"/>
          </a:p>
        </p:txBody>
      </p:sp>
      <p:sp>
        <p:nvSpPr>
          <p:cNvPr id="14" name="Text 9"/>
          <p:cNvSpPr txBox="1"/>
          <p:nvPr/>
        </p:nvSpPr>
        <p:spPr>
          <a:xfrm>
            <a:off x="5212080" y="2834640"/>
            <a:ext cx="2514600" cy="914400"/>
          </a:xfrm>
          <a:prstGeom prst="rect">
            <a:avLst/>
          </a:prstGeom>
          <a:noFill/>
          <a:ln/>
        </p:spPr>
        <p:txBody>
          <a:bodyPr wrap="square" lIns="0" tIns="0" rIns="0" bIns="0" rtlCol="0" anchor="t"/>
          <a:lstStyle/>
          <a:p>
            <a:pPr marL="0" indent="0">
              <a:buNone/>
            </a:pPr>
            <a:r>
              <a:rPr lang="en-US" sz="1200" dirty="0">
                <a:solidFill>
                  <a:schemeClr val="tx2"/>
                </a:solidFill>
              </a:rPr>
              <a:t>Owns case work; needs one backlog number per definition, not one per report</a:t>
            </a:r>
            <a:endParaRPr lang="en-US" sz="1200" dirty="0"/>
          </a:p>
        </p:txBody>
      </p:sp>
      <p:sp>
        <p:nvSpPr>
          <p:cNvPr id="15" name="card"/>
          <p:cNvSpPr/>
          <p:nvPr/>
        </p:nvSpPr>
        <p:spPr>
          <a:xfrm>
            <a:off x="8046720" y="2148840"/>
            <a:ext cx="36118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6" name="icon-circle"/>
          <p:cNvSpPr/>
          <p:nvPr/>
        </p:nvSpPr>
        <p:spPr>
          <a:xfrm>
            <a:off x="8275320" y="2404872"/>
            <a:ext cx="566928" cy="566928"/>
          </a:xfrm>
          <a:prstGeom prst="ellipse">
            <a:avLst/>
          </a:prstGeom>
          <a:solidFill>
            <a:srgbClr val="E1251B"/>
          </a:solidFill>
          <a:ln w="12700">
            <a:solidFill>
              <a:srgbClr val="E1251B"/>
            </a:solidFill>
            <a:prstDash val="solid"/>
          </a:ln>
        </p:spPr>
      </p:sp>
      <p:pic>
        <p:nvPicPr>
          <p:cNvPr id="17" name="Image 2" descr="FaGavel"/>
          <p:cNvPicPr>
            <a:picLocks noChangeAspect="1"/>
          </p:cNvPicPr>
          <p:nvPr/>
        </p:nvPicPr>
        <p:blipFill>
          <a:blip r:embed="rId5"/>
          <a:stretch>
            <a:fillRect/>
          </a:stretch>
        </p:blipFill>
        <p:spPr>
          <a:xfrm>
            <a:off x="8422721" y="2552273"/>
            <a:ext cx="272125" cy="272125"/>
          </a:xfrm>
          <a:prstGeom prst="rect">
            <a:avLst/>
          </a:prstGeom>
        </p:spPr>
      </p:pic>
      <p:sp>
        <p:nvSpPr>
          <p:cNvPr id="18" name="Text 12"/>
          <p:cNvSpPr txBox="1"/>
          <p:nvPr/>
        </p:nvSpPr>
        <p:spPr>
          <a:xfrm>
            <a:off x="9006840" y="2441448"/>
            <a:ext cx="2514600" cy="365760"/>
          </a:xfrm>
          <a:prstGeom prst="rect">
            <a:avLst/>
          </a:prstGeom>
          <a:noFill/>
          <a:ln/>
        </p:spPr>
        <p:txBody>
          <a:bodyPr wrap="square" lIns="0" tIns="0" rIns="0" bIns="0" rtlCol="0" anchor="t"/>
          <a:lstStyle/>
          <a:p>
            <a:pPr marL="0" indent="0">
              <a:buNone/>
            </a:pPr>
            <a:r>
              <a:rPr lang="en-US" sz="1500" b="1" dirty="0">
                <a:solidFill>
                  <a:schemeClr val="tx1"/>
                </a:solidFill>
              </a:rPr>
              <a:t>Compliance</a:t>
            </a:r>
            <a:endParaRPr lang="en-US" sz="1500" dirty="0"/>
          </a:p>
        </p:txBody>
      </p:sp>
      <p:sp>
        <p:nvSpPr>
          <p:cNvPr id="19" name="Text 13"/>
          <p:cNvSpPr txBox="1"/>
          <p:nvPr/>
        </p:nvSpPr>
        <p:spPr>
          <a:xfrm>
            <a:off x="9006840" y="2834640"/>
            <a:ext cx="2514600" cy="914400"/>
          </a:xfrm>
          <a:prstGeom prst="rect">
            <a:avLst/>
          </a:prstGeom>
          <a:noFill/>
          <a:ln/>
        </p:spPr>
        <p:txBody>
          <a:bodyPr wrap="square" lIns="0" tIns="0" rIns="0" bIns="0" rtlCol="0" anchor="t"/>
          <a:lstStyle/>
          <a:p>
            <a:pPr marL="0" indent="0">
              <a:buNone/>
            </a:pPr>
            <a:r>
              <a:rPr lang="en-US" sz="1200" dirty="0">
                <a:solidFill>
                  <a:schemeClr val="tx2"/>
                </a:solidFill>
              </a:rPr>
              <a:t>Needs every decision traceable to a person, a reason and evidence</a:t>
            </a:r>
            <a:endParaRPr lang="en-US" sz="1200" dirty="0"/>
          </a:p>
        </p:txBody>
      </p:sp>
      <p:sp>
        <p:nvSpPr>
          <p:cNvPr id="20" name="card"/>
          <p:cNvSpPr/>
          <p:nvPr/>
        </p:nvSpPr>
        <p:spPr>
          <a:xfrm>
            <a:off x="457200" y="4023360"/>
            <a:ext cx="36118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1" name="icon-circle"/>
          <p:cNvSpPr/>
          <p:nvPr/>
        </p:nvSpPr>
        <p:spPr>
          <a:xfrm>
            <a:off x="685800" y="4279392"/>
            <a:ext cx="566928" cy="566928"/>
          </a:xfrm>
          <a:prstGeom prst="ellipse">
            <a:avLst/>
          </a:prstGeom>
          <a:solidFill>
            <a:srgbClr val="E1251B"/>
          </a:solidFill>
          <a:ln w="12700">
            <a:solidFill>
              <a:srgbClr val="E1251B"/>
            </a:solidFill>
            <a:prstDash val="solid"/>
          </a:ln>
        </p:spPr>
      </p:sp>
      <p:pic>
        <p:nvPicPr>
          <p:cNvPr id="22" name="Image 3" descr="FaFileInvoiceDollar"/>
          <p:cNvPicPr>
            <a:picLocks noChangeAspect="1"/>
          </p:cNvPicPr>
          <p:nvPr/>
        </p:nvPicPr>
        <p:blipFill>
          <a:blip r:embed="rId6"/>
          <a:stretch>
            <a:fillRect/>
          </a:stretch>
        </p:blipFill>
        <p:spPr>
          <a:xfrm>
            <a:off x="833201" y="4426793"/>
            <a:ext cx="272125" cy="272125"/>
          </a:xfrm>
          <a:prstGeom prst="rect">
            <a:avLst/>
          </a:prstGeom>
        </p:spPr>
      </p:pic>
      <p:sp>
        <p:nvSpPr>
          <p:cNvPr id="23" name="Text 16"/>
          <p:cNvSpPr txBox="1"/>
          <p:nvPr/>
        </p:nvSpPr>
        <p:spPr>
          <a:xfrm>
            <a:off x="1417320" y="4315968"/>
            <a:ext cx="2514600" cy="365760"/>
          </a:xfrm>
          <a:prstGeom prst="rect">
            <a:avLst/>
          </a:prstGeom>
          <a:noFill/>
          <a:ln/>
        </p:spPr>
        <p:txBody>
          <a:bodyPr wrap="square" lIns="0" tIns="0" rIns="0" bIns="0" rtlCol="0" anchor="t"/>
          <a:lstStyle/>
          <a:p>
            <a:pPr marL="0" indent="0">
              <a:buNone/>
            </a:pPr>
            <a:r>
              <a:rPr lang="en-US" sz="1500" b="1" dirty="0">
                <a:solidFill>
                  <a:schemeClr val="tx1"/>
                </a:solidFill>
              </a:rPr>
              <a:t>Finance (read)</a:t>
            </a:r>
            <a:endParaRPr lang="en-US" sz="1500" dirty="0"/>
          </a:p>
        </p:txBody>
      </p:sp>
      <p:sp>
        <p:nvSpPr>
          <p:cNvPr id="24" name="Text 17"/>
          <p:cNvSpPr txBox="1"/>
          <p:nvPr/>
        </p:nvSpPr>
        <p:spPr>
          <a:xfrm>
            <a:off x="1417320" y="4709160"/>
            <a:ext cx="2514600" cy="914400"/>
          </a:xfrm>
          <a:prstGeom prst="rect">
            <a:avLst/>
          </a:prstGeom>
          <a:noFill/>
          <a:ln/>
        </p:spPr>
        <p:txBody>
          <a:bodyPr wrap="square" lIns="0" tIns="0" rIns="0" bIns="0" rtlCol="0" anchor="t"/>
          <a:lstStyle/>
          <a:p>
            <a:pPr marL="0" indent="0">
              <a:buNone/>
            </a:pPr>
            <a:r>
              <a:rPr lang="en-US" sz="1200" dirty="0">
                <a:solidFill>
                  <a:schemeClr val="tx2"/>
                </a:solidFill>
              </a:rPr>
              <a:t>Needs a month-end total that reconciles, with a stated cut-off</a:t>
            </a:r>
            <a:endParaRPr lang="en-US" sz="1200" dirty="0"/>
          </a:p>
        </p:txBody>
      </p:sp>
      <p:sp>
        <p:nvSpPr>
          <p:cNvPr id="25" name="card"/>
          <p:cNvSpPr/>
          <p:nvPr/>
        </p:nvSpPr>
        <p:spPr>
          <a:xfrm>
            <a:off x="4251960" y="4023360"/>
            <a:ext cx="36118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6" name="icon-circle"/>
          <p:cNvSpPr/>
          <p:nvPr/>
        </p:nvSpPr>
        <p:spPr>
          <a:xfrm>
            <a:off x="4480560" y="4279392"/>
            <a:ext cx="566928" cy="566928"/>
          </a:xfrm>
          <a:prstGeom prst="ellipse">
            <a:avLst/>
          </a:prstGeom>
          <a:solidFill>
            <a:srgbClr val="E1251B"/>
          </a:solidFill>
          <a:ln w="12700">
            <a:solidFill>
              <a:srgbClr val="E1251B"/>
            </a:solidFill>
            <a:prstDash val="solid"/>
          </a:ln>
        </p:spPr>
      </p:sp>
      <p:pic>
        <p:nvPicPr>
          <p:cNvPr id="27" name="Image 4" descr="FaPlug"/>
          <p:cNvPicPr>
            <a:picLocks noChangeAspect="1"/>
          </p:cNvPicPr>
          <p:nvPr/>
        </p:nvPicPr>
        <p:blipFill>
          <a:blip r:embed="rId7"/>
          <a:stretch>
            <a:fillRect/>
          </a:stretch>
        </p:blipFill>
        <p:spPr>
          <a:xfrm>
            <a:off x="4627961" y="4426793"/>
            <a:ext cx="272125" cy="272125"/>
          </a:xfrm>
          <a:prstGeom prst="rect">
            <a:avLst/>
          </a:prstGeom>
        </p:spPr>
      </p:pic>
      <p:sp>
        <p:nvSpPr>
          <p:cNvPr id="28" name="Text 20"/>
          <p:cNvSpPr txBox="1"/>
          <p:nvPr/>
        </p:nvSpPr>
        <p:spPr>
          <a:xfrm>
            <a:off x="5212080" y="4315968"/>
            <a:ext cx="2514600" cy="365760"/>
          </a:xfrm>
          <a:prstGeom prst="rect">
            <a:avLst/>
          </a:prstGeom>
          <a:noFill/>
          <a:ln/>
        </p:spPr>
        <p:txBody>
          <a:bodyPr wrap="square" lIns="0" tIns="0" rIns="0" bIns="0" rtlCol="0" anchor="t"/>
          <a:lstStyle/>
          <a:p>
            <a:pPr marL="0" indent="0">
              <a:buNone/>
            </a:pPr>
            <a:r>
              <a:rPr lang="en-US" sz="1500" b="1" dirty="0">
                <a:solidFill>
                  <a:schemeClr val="tx1"/>
                </a:solidFill>
              </a:rPr>
              <a:t>Integration owner</a:t>
            </a:r>
            <a:endParaRPr lang="en-US" sz="1500" dirty="0"/>
          </a:p>
        </p:txBody>
      </p:sp>
      <p:sp>
        <p:nvSpPr>
          <p:cNvPr id="29" name="Text 21"/>
          <p:cNvSpPr txBox="1"/>
          <p:nvPr/>
        </p:nvSpPr>
        <p:spPr>
          <a:xfrm>
            <a:off x="5212080" y="4709160"/>
            <a:ext cx="2514600" cy="914400"/>
          </a:xfrm>
          <a:prstGeom prst="rect">
            <a:avLst/>
          </a:prstGeom>
          <a:noFill/>
          <a:ln/>
        </p:spPr>
        <p:txBody>
          <a:bodyPr wrap="square" lIns="0" tIns="0" rIns="0" bIns="0" rtlCol="0" anchor="t"/>
          <a:lstStyle/>
          <a:p>
            <a:pPr marL="0" indent="0">
              <a:buNone/>
            </a:pPr>
            <a:r>
              <a:rPr lang="en-US" sz="1200" dirty="0">
                <a:solidFill>
                  <a:schemeClr val="tx2"/>
                </a:solidFill>
              </a:rPr>
              <a:t>Needs replays and partner revisions to be safe, never destructive</a:t>
            </a:r>
            <a:endParaRPr lang="en-US" sz="1200" dirty="0"/>
          </a:p>
        </p:txBody>
      </p:sp>
      <p:sp>
        <p:nvSpPr>
          <p:cNvPr id="30" name="card"/>
          <p:cNvSpPr/>
          <p:nvPr/>
        </p:nvSpPr>
        <p:spPr>
          <a:xfrm>
            <a:off x="8046720" y="4023360"/>
            <a:ext cx="361188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31" name="icon-circle"/>
          <p:cNvSpPr/>
          <p:nvPr/>
        </p:nvSpPr>
        <p:spPr>
          <a:xfrm>
            <a:off x="8275320" y="4279392"/>
            <a:ext cx="566928" cy="566928"/>
          </a:xfrm>
          <a:prstGeom prst="ellipse">
            <a:avLst/>
          </a:prstGeom>
          <a:solidFill>
            <a:srgbClr val="4D4D4D"/>
          </a:solidFill>
          <a:ln w="12700">
            <a:solidFill>
              <a:srgbClr val="4D4D4D"/>
            </a:solidFill>
            <a:prstDash val="solid"/>
          </a:ln>
        </p:spPr>
      </p:sp>
      <p:pic>
        <p:nvPicPr>
          <p:cNvPr id="32" name="Image 5" descr="FaUserShield"/>
          <p:cNvPicPr>
            <a:picLocks noChangeAspect="1"/>
          </p:cNvPicPr>
          <p:nvPr/>
        </p:nvPicPr>
        <p:blipFill>
          <a:blip r:embed="rId8"/>
          <a:stretch>
            <a:fillRect/>
          </a:stretch>
        </p:blipFill>
        <p:spPr>
          <a:xfrm>
            <a:off x="8422721" y="4426793"/>
            <a:ext cx="272125" cy="272125"/>
          </a:xfrm>
          <a:prstGeom prst="rect">
            <a:avLst/>
          </a:prstGeom>
        </p:spPr>
      </p:pic>
      <p:sp>
        <p:nvSpPr>
          <p:cNvPr id="33" name="Text 24"/>
          <p:cNvSpPr txBox="1"/>
          <p:nvPr/>
        </p:nvSpPr>
        <p:spPr>
          <a:xfrm>
            <a:off x="9006840" y="4315968"/>
            <a:ext cx="2514600" cy="365760"/>
          </a:xfrm>
          <a:prstGeom prst="rect">
            <a:avLst/>
          </a:prstGeom>
          <a:noFill/>
          <a:ln/>
        </p:spPr>
        <p:txBody>
          <a:bodyPr wrap="square" lIns="0" tIns="0" rIns="0" bIns="0" rtlCol="0" anchor="t"/>
          <a:lstStyle/>
          <a:p>
            <a:pPr marL="0" indent="0">
              <a:buNone/>
            </a:pPr>
            <a:r>
              <a:rPr lang="en-US" sz="1500" b="1" dirty="0">
                <a:solidFill>
                  <a:schemeClr val="tx1"/>
                </a:solidFill>
              </a:rPr>
              <a:t>Dispositioner</a:t>
            </a:r>
            <a:endParaRPr lang="en-US" sz="1500" dirty="0"/>
          </a:p>
        </p:txBody>
      </p:sp>
      <p:sp>
        <p:nvSpPr>
          <p:cNvPr id="34" name="Text 25"/>
          <p:cNvSpPr txBox="1"/>
          <p:nvPr/>
        </p:nvSpPr>
        <p:spPr>
          <a:xfrm>
            <a:off x="9006840" y="4709160"/>
            <a:ext cx="2514600" cy="914400"/>
          </a:xfrm>
          <a:prstGeom prst="rect">
            <a:avLst/>
          </a:prstGeom>
          <a:noFill/>
          <a:ln/>
        </p:spPr>
        <p:txBody>
          <a:bodyPr wrap="square" lIns="0" tIns="0" rIns="0" bIns="0" rtlCol="0" anchor="t"/>
          <a:lstStyle/>
          <a:p>
            <a:pPr marL="0" indent="0">
              <a:buNone/>
            </a:pPr>
            <a:r>
              <a:rPr lang="en-US" sz="1200" dirty="0">
                <a:solidFill>
                  <a:schemeClr val="tx2"/>
                </a:solidFill>
              </a:rPr>
              <a:t>The only human who may release or reject a batch: Zone H, holder required</a:t>
            </a:r>
            <a:endParaRPr lang="en-US" sz="1200" dirty="0"/>
          </a:p>
        </p:txBody>
      </p:sp>
      <p:sp>
        <p:nvSpPr>
          <p:cNvPr id="35" name="Text 26"/>
          <p:cNvSpPr txBox="1"/>
          <p:nvPr/>
        </p:nvSpPr>
        <p:spPr>
          <a:xfrm>
            <a:off x="457200" y="5943600"/>
            <a:ext cx="11247120" cy="320040"/>
          </a:xfrm>
          <a:prstGeom prst="rect">
            <a:avLst/>
          </a:prstGeom>
          <a:noFill/>
          <a:ln/>
        </p:spPr>
        <p:txBody>
          <a:bodyPr wrap="square" lIns="0" tIns="0" rIns="0" bIns="0" rtlCol="0" anchor="t"/>
          <a:lstStyle/>
          <a:p>
            <a:pPr marL="0" indent="0">
              <a:buNone/>
            </a:pPr>
            <a:r>
              <a:rPr lang="en-US" sz="1100" i="1" dirty="0">
                <a:solidFill>
                  <a:schemeClr val="accent3"/>
                </a:solidFill>
              </a:rPr>
              <a:t>Sponsor: CTO  ·  Delivery: AI Forward Deployed Engineer  ·  In this capstone the accountable roles are vacant (0 of 28 assets have an accepted owner)</a:t>
            </a:r>
            <a:endParaRPr lang="en-US" sz="11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Why  ·  Diagnosis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EIGHT ROOT CAUSES,</a:t>
            </a:r>
            <a:endParaRPr lang="en-US" sz="3000" dirty="0"/>
          </a:p>
          <a:p>
            <a:pPr marL="0" indent="0" algn="l">
              <a:lnSpc>
                <a:spcPct val="95000"/>
              </a:lnSpc>
              <a:buNone/>
            </a:pPr>
            <a:r>
              <a:rPr lang="en-US" sz="3000" b="1" dirty="0">
                <a:solidFill>
                  <a:schemeClr val="accent1"/>
                </a:solidFill>
              </a:rPr>
              <a:t>CONFIRMED IN CODE AND SCHEMA</a:t>
            </a:r>
            <a:endParaRPr lang="en-US" sz="3000" dirty="0"/>
          </a:p>
        </p:txBody>
      </p:sp>
      <p:sp>
        <p:nvSpPr>
          <p:cNvPr id="5" name="card"/>
          <p:cNvSpPr/>
          <p:nvPr/>
        </p:nvSpPr>
        <p:spPr>
          <a:xfrm>
            <a:off x="457200" y="2194560"/>
            <a:ext cx="265176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Text 3"/>
          <p:cNvSpPr txBox="1"/>
          <p:nvPr/>
        </p:nvSpPr>
        <p:spPr>
          <a:xfrm>
            <a:off x="685800" y="2395728"/>
            <a:ext cx="2194560" cy="411480"/>
          </a:xfrm>
          <a:prstGeom prst="rect">
            <a:avLst/>
          </a:prstGeom>
          <a:noFill/>
          <a:ln/>
        </p:spPr>
        <p:txBody>
          <a:bodyPr wrap="square" lIns="0" tIns="0" rIns="0" bIns="0" rtlCol="0" anchor="t"/>
          <a:lstStyle/>
          <a:p>
            <a:pPr marL="0" indent="0">
              <a:buNone/>
            </a:pPr>
            <a:r>
              <a:rPr lang="en-US" sz="2200" b="1" dirty="0">
                <a:solidFill>
                  <a:schemeClr val="accent1"/>
                </a:solidFill>
              </a:rPr>
              <a:t>RC-1</a:t>
            </a:r>
            <a:endParaRPr lang="en-US" sz="2200" dirty="0"/>
          </a:p>
        </p:txBody>
      </p:sp>
      <p:sp>
        <p:nvSpPr>
          <p:cNvPr id="7" name="Text 4"/>
          <p:cNvSpPr txBox="1"/>
          <p:nvPr/>
        </p:nvSpPr>
        <p:spPr>
          <a:xfrm>
            <a:off x="685800" y="2880360"/>
            <a:ext cx="2240280" cy="731520"/>
          </a:xfrm>
          <a:prstGeom prst="rect">
            <a:avLst/>
          </a:prstGeom>
          <a:noFill/>
          <a:ln/>
        </p:spPr>
        <p:txBody>
          <a:bodyPr wrap="square" lIns="0" tIns="0" rIns="0" bIns="0" rtlCol="0" anchor="t"/>
          <a:lstStyle/>
          <a:p>
            <a:pPr marL="0" indent="0">
              <a:buNone/>
            </a:pPr>
            <a:r>
              <a:rPr lang="en-US" sz="1400" b="1" dirty="0">
                <a:solidFill>
                  <a:schemeClr val="tx1"/>
                </a:solidFill>
              </a:rPr>
              <a:t>No recorded decision step</a:t>
            </a:r>
            <a:endParaRPr lang="en-US" sz="1400" dirty="0"/>
          </a:p>
        </p:txBody>
      </p:sp>
      <p:sp>
        <p:nvSpPr>
          <p:cNvPr id="8" name="card"/>
          <p:cNvSpPr/>
          <p:nvPr/>
        </p:nvSpPr>
        <p:spPr>
          <a:xfrm>
            <a:off x="3291840" y="2194560"/>
            <a:ext cx="265176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9" name="Text 6"/>
          <p:cNvSpPr txBox="1"/>
          <p:nvPr/>
        </p:nvSpPr>
        <p:spPr>
          <a:xfrm>
            <a:off x="3520440" y="2395728"/>
            <a:ext cx="2194560" cy="411480"/>
          </a:xfrm>
          <a:prstGeom prst="rect">
            <a:avLst/>
          </a:prstGeom>
          <a:noFill/>
          <a:ln/>
        </p:spPr>
        <p:txBody>
          <a:bodyPr wrap="square" lIns="0" tIns="0" rIns="0" bIns="0" rtlCol="0" anchor="t"/>
          <a:lstStyle/>
          <a:p>
            <a:pPr marL="0" indent="0">
              <a:buNone/>
            </a:pPr>
            <a:r>
              <a:rPr lang="en-US" sz="2200" b="1" dirty="0">
                <a:solidFill>
                  <a:schemeClr val="accent1"/>
                </a:solidFill>
              </a:rPr>
              <a:t>RC-2</a:t>
            </a:r>
            <a:endParaRPr lang="en-US" sz="2200" dirty="0"/>
          </a:p>
        </p:txBody>
      </p:sp>
      <p:sp>
        <p:nvSpPr>
          <p:cNvPr id="10" name="Text 7"/>
          <p:cNvSpPr txBox="1"/>
          <p:nvPr/>
        </p:nvSpPr>
        <p:spPr>
          <a:xfrm>
            <a:off x="3520440" y="2880360"/>
            <a:ext cx="2240280" cy="731520"/>
          </a:xfrm>
          <a:prstGeom prst="rect">
            <a:avLst/>
          </a:prstGeom>
          <a:noFill/>
          <a:ln/>
        </p:spPr>
        <p:txBody>
          <a:bodyPr wrap="square" lIns="0" tIns="0" rIns="0" bIns="0" rtlCol="0" anchor="t"/>
          <a:lstStyle/>
          <a:p>
            <a:pPr marL="0" indent="0">
              <a:buNone/>
            </a:pPr>
            <a:r>
              <a:rPr lang="en-US" sz="1400" b="1" dirty="0">
                <a:solidFill>
                  <a:schemeClr val="tx1"/>
                </a:solidFill>
              </a:rPr>
              <a:t>Mutable case state</a:t>
            </a:r>
            <a:endParaRPr lang="en-US" sz="1400" dirty="0"/>
          </a:p>
        </p:txBody>
      </p:sp>
      <p:sp>
        <p:nvSpPr>
          <p:cNvPr id="11" name="card"/>
          <p:cNvSpPr/>
          <p:nvPr/>
        </p:nvSpPr>
        <p:spPr>
          <a:xfrm>
            <a:off x="6126480" y="2194560"/>
            <a:ext cx="265176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2" name="Text 9"/>
          <p:cNvSpPr txBox="1"/>
          <p:nvPr/>
        </p:nvSpPr>
        <p:spPr>
          <a:xfrm>
            <a:off x="6355080" y="2395728"/>
            <a:ext cx="2194560" cy="411480"/>
          </a:xfrm>
          <a:prstGeom prst="rect">
            <a:avLst/>
          </a:prstGeom>
          <a:noFill/>
          <a:ln/>
        </p:spPr>
        <p:txBody>
          <a:bodyPr wrap="square" lIns="0" tIns="0" rIns="0" bIns="0" rtlCol="0" anchor="t"/>
          <a:lstStyle/>
          <a:p>
            <a:pPr marL="0" indent="0">
              <a:buNone/>
            </a:pPr>
            <a:r>
              <a:rPr lang="en-US" sz="2200" b="1" dirty="0">
                <a:solidFill>
                  <a:schemeClr val="accent1"/>
                </a:solidFill>
              </a:rPr>
              <a:t>RC-3</a:t>
            </a:r>
            <a:endParaRPr lang="en-US" sz="2200" dirty="0"/>
          </a:p>
        </p:txBody>
      </p:sp>
      <p:sp>
        <p:nvSpPr>
          <p:cNvPr id="13" name="Text 10"/>
          <p:cNvSpPr txBox="1"/>
          <p:nvPr/>
        </p:nvSpPr>
        <p:spPr>
          <a:xfrm>
            <a:off x="6355080" y="2880360"/>
            <a:ext cx="2240280" cy="731520"/>
          </a:xfrm>
          <a:prstGeom prst="rect">
            <a:avLst/>
          </a:prstGeom>
          <a:noFill/>
          <a:ln/>
        </p:spPr>
        <p:txBody>
          <a:bodyPr wrap="square" lIns="0" tIns="0" rIns="0" bIns="0" rtlCol="0" anchor="t"/>
          <a:lstStyle/>
          <a:p>
            <a:pPr marL="0" indent="0">
              <a:buNone/>
            </a:pPr>
            <a:r>
              <a:rPr lang="en-US" sz="1400" b="1" dirty="0">
                <a:solidFill>
                  <a:schemeClr val="tx1"/>
                </a:solidFill>
              </a:rPr>
              <a:t>No owned definition of 'closed'</a:t>
            </a:r>
            <a:endParaRPr lang="en-US" sz="1400" dirty="0"/>
          </a:p>
        </p:txBody>
      </p:sp>
      <p:sp>
        <p:nvSpPr>
          <p:cNvPr id="14" name="card"/>
          <p:cNvSpPr/>
          <p:nvPr/>
        </p:nvSpPr>
        <p:spPr>
          <a:xfrm>
            <a:off x="8961120" y="2194560"/>
            <a:ext cx="265176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5" name="Text 12"/>
          <p:cNvSpPr txBox="1"/>
          <p:nvPr/>
        </p:nvSpPr>
        <p:spPr>
          <a:xfrm>
            <a:off x="9189720" y="2395728"/>
            <a:ext cx="2194560" cy="411480"/>
          </a:xfrm>
          <a:prstGeom prst="rect">
            <a:avLst/>
          </a:prstGeom>
          <a:noFill/>
          <a:ln/>
        </p:spPr>
        <p:txBody>
          <a:bodyPr wrap="square" lIns="0" tIns="0" rIns="0" bIns="0" rtlCol="0" anchor="t"/>
          <a:lstStyle/>
          <a:p>
            <a:pPr marL="0" indent="0">
              <a:buNone/>
            </a:pPr>
            <a:r>
              <a:rPr lang="en-US" sz="2200" b="1" dirty="0">
                <a:solidFill>
                  <a:schemeClr val="accent1"/>
                </a:solidFill>
              </a:rPr>
              <a:t>RC-4</a:t>
            </a:r>
            <a:endParaRPr lang="en-US" sz="2200" dirty="0"/>
          </a:p>
        </p:txBody>
      </p:sp>
      <p:sp>
        <p:nvSpPr>
          <p:cNvPr id="16" name="Text 13"/>
          <p:cNvSpPr txBox="1"/>
          <p:nvPr/>
        </p:nvSpPr>
        <p:spPr>
          <a:xfrm>
            <a:off x="9189720" y="2880360"/>
            <a:ext cx="2240280" cy="731520"/>
          </a:xfrm>
          <a:prstGeom prst="rect">
            <a:avLst/>
          </a:prstGeom>
          <a:noFill/>
          <a:ln/>
        </p:spPr>
        <p:txBody>
          <a:bodyPr wrap="square" lIns="0" tIns="0" rIns="0" bIns="0" rtlCol="0" anchor="t"/>
          <a:lstStyle/>
          <a:p>
            <a:pPr marL="0" indent="0">
              <a:buNone/>
            </a:pPr>
            <a:r>
              <a:rPr lang="en-US" sz="1400" b="1" dirty="0">
                <a:solidFill>
                  <a:schemeClr val="tx1"/>
                </a:solidFill>
              </a:rPr>
              <a:t>Three unsynchronised approval rules</a:t>
            </a:r>
            <a:endParaRPr lang="en-US" sz="1400" dirty="0"/>
          </a:p>
        </p:txBody>
      </p:sp>
      <p:sp>
        <p:nvSpPr>
          <p:cNvPr id="17" name="card"/>
          <p:cNvSpPr/>
          <p:nvPr/>
        </p:nvSpPr>
        <p:spPr>
          <a:xfrm>
            <a:off x="457200" y="3886200"/>
            <a:ext cx="265176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8" name="Text 15"/>
          <p:cNvSpPr txBox="1"/>
          <p:nvPr/>
        </p:nvSpPr>
        <p:spPr>
          <a:xfrm>
            <a:off x="685800" y="4087368"/>
            <a:ext cx="2194560" cy="411480"/>
          </a:xfrm>
          <a:prstGeom prst="rect">
            <a:avLst/>
          </a:prstGeom>
          <a:noFill/>
          <a:ln/>
        </p:spPr>
        <p:txBody>
          <a:bodyPr wrap="square" lIns="0" tIns="0" rIns="0" bIns="0" rtlCol="0" anchor="t"/>
          <a:lstStyle/>
          <a:p>
            <a:pPr marL="0" indent="0">
              <a:buNone/>
            </a:pPr>
            <a:r>
              <a:rPr lang="en-US" sz="2200" b="1" dirty="0">
                <a:solidFill>
                  <a:schemeClr val="accent1"/>
                </a:solidFill>
              </a:rPr>
              <a:t>RC-5</a:t>
            </a:r>
            <a:endParaRPr lang="en-US" sz="2200" dirty="0"/>
          </a:p>
        </p:txBody>
      </p:sp>
      <p:sp>
        <p:nvSpPr>
          <p:cNvPr id="19" name="Text 16"/>
          <p:cNvSpPr txBox="1"/>
          <p:nvPr/>
        </p:nvSpPr>
        <p:spPr>
          <a:xfrm>
            <a:off x="685800" y="4572000"/>
            <a:ext cx="2240280" cy="731520"/>
          </a:xfrm>
          <a:prstGeom prst="rect">
            <a:avLst/>
          </a:prstGeom>
          <a:noFill/>
          <a:ln/>
        </p:spPr>
        <p:txBody>
          <a:bodyPr wrap="square" lIns="0" tIns="0" rIns="0" bIns="0" rtlCol="0" anchor="t"/>
          <a:lstStyle/>
          <a:p>
            <a:pPr marL="0" indent="0">
              <a:buNone/>
            </a:pPr>
            <a:r>
              <a:rPr lang="en-US" sz="1400" b="1" dirty="0">
                <a:solidFill>
                  <a:schemeClr val="tx1"/>
                </a:solidFill>
              </a:rPr>
              <a:t>Manual, unrecorded execution</a:t>
            </a:r>
            <a:endParaRPr lang="en-US" sz="1400" dirty="0"/>
          </a:p>
        </p:txBody>
      </p:sp>
      <p:sp>
        <p:nvSpPr>
          <p:cNvPr id="20" name="card"/>
          <p:cNvSpPr/>
          <p:nvPr/>
        </p:nvSpPr>
        <p:spPr>
          <a:xfrm>
            <a:off x="3291840" y="3886200"/>
            <a:ext cx="265176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1" name="Text 18"/>
          <p:cNvSpPr txBox="1"/>
          <p:nvPr/>
        </p:nvSpPr>
        <p:spPr>
          <a:xfrm>
            <a:off x="3520440" y="4087368"/>
            <a:ext cx="2194560" cy="411480"/>
          </a:xfrm>
          <a:prstGeom prst="rect">
            <a:avLst/>
          </a:prstGeom>
          <a:noFill/>
          <a:ln/>
        </p:spPr>
        <p:txBody>
          <a:bodyPr wrap="square" lIns="0" tIns="0" rIns="0" bIns="0" rtlCol="0" anchor="t"/>
          <a:lstStyle/>
          <a:p>
            <a:pPr marL="0" indent="0">
              <a:buNone/>
            </a:pPr>
            <a:r>
              <a:rPr lang="en-US" sz="2200" b="1" dirty="0">
                <a:solidFill>
                  <a:schemeClr val="accent1"/>
                </a:solidFill>
              </a:rPr>
              <a:t>RC-6</a:t>
            </a:r>
            <a:endParaRPr lang="en-US" sz="2200" dirty="0"/>
          </a:p>
        </p:txBody>
      </p:sp>
      <p:sp>
        <p:nvSpPr>
          <p:cNvPr id="22" name="Text 19"/>
          <p:cNvSpPr txBox="1"/>
          <p:nvPr/>
        </p:nvSpPr>
        <p:spPr>
          <a:xfrm>
            <a:off x="3520440" y="4572000"/>
            <a:ext cx="2240280" cy="731520"/>
          </a:xfrm>
          <a:prstGeom prst="rect">
            <a:avLst/>
          </a:prstGeom>
          <a:noFill/>
          <a:ln/>
        </p:spPr>
        <p:txBody>
          <a:bodyPr wrap="square" lIns="0" tIns="0" rIns="0" bIns="0" rtlCol="0" anchor="t"/>
          <a:lstStyle/>
          <a:p>
            <a:pPr marL="0" indent="0">
              <a:buNone/>
            </a:pPr>
            <a:r>
              <a:rPr lang="en-US" sz="1400" b="1" dirty="0">
                <a:solidFill>
                  <a:schemeClr val="tx1"/>
                </a:solidFill>
              </a:rPr>
              <a:t>Destructive intake</a:t>
            </a:r>
            <a:endParaRPr lang="en-US" sz="1400" dirty="0"/>
          </a:p>
        </p:txBody>
      </p:sp>
      <p:sp>
        <p:nvSpPr>
          <p:cNvPr id="23" name="card"/>
          <p:cNvSpPr/>
          <p:nvPr/>
        </p:nvSpPr>
        <p:spPr>
          <a:xfrm>
            <a:off x="6126480" y="3886200"/>
            <a:ext cx="265176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4" name="Text 21"/>
          <p:cNvSpPr txBox="1"/>
          <p:nvPr/>
        </p:nvSpPr>
        <p:spPr>
          <a:xfrm>
            <a:off x="6355080" y="4087368"/>
            <a:ext cx="2194560" cy="411480"/>
          </a:xfrm>
          <a:prstGeom prst="rect">
            <a:avLst/>
          </a:prstGeom>
          <a:noFill/>
          <a:ln/>
        </p:spPr>
        <p:txBody>
          <a:bodyPr wrap="square" lIns="0" tIns="0" rIns="0" bIns="0" rtlCol="0" anchor="t"/>
          <a:lstStyle/>
          <a:p>
            <a:pPr marL="0" indent="0">
              <a:buNone/>
            </a:pPr>
            <a:r>
              <a:rPr lang="en-US" sz="2200" b="1" dirty="0">
                <a:solidFill>
                  <a:schemeClr val="accent1"/>
                </a:solidFill>
              </a:rPr>
              <a:t>RC-7</a:t>
            </a:r>
            <a:endParaRPr lang="en-US" sz="2200" dirty="0"/>
          </a:p>
        </p:txBody>
      </p:sp>
      <p:sp>
        <p:nvSpPr>
          <p:cNvPr id="25" name="Text 22"/>
          <p:cNvSpPr txBox="1"/>
          <p:nvPr/>
        </p:nvSpPr>
        <p:spPr>
          <a:xfrm>
            <a:off x="6355080" y="4572000"/>
            <a:ext cx="2240280" cy="731520"/>
          </a:xfrm>
          <a:prstGeom prst="rect">
            <a:avLst/>
          </a:prstGeom>
          <a:noFill/>
          <a:ln/>
        </p:spPr>
        <p:txBody>
          <a:bodyPr wrap="square" lIns="0" tIns="0" rIns="0" bIns="0" rtlCol="0" anchor="t"/>
          <a:lstStyle/>
          <a:p>
            <a:pPr marL="0" indent="0">
              <a:buNone/>
            </a:pPr>
            <a:r>
              <a:rPr lang="en-US" sz="1400" b="1" dirty="0">
                <a:solidFill>
                  <a:schemeClr val="tx1"/>
                </a:solidFill>
              </a:rPr>
              <a:t>No shared identity model</a:t>
            </a:r>
            <a:endParaRPr lang="en-US" sz="1400" dirty="0"/>
          </a:p>
        </p:txBody>
      </p:sp>
      <p:sp>
        <p:nvSpPr>
          <p:cNvPr id="26" name="card"/>
          <p:cNvSpPr/>
          <p:nvPr/>
        </p:nvSpPr>
        <p:spPr>
          <a:xfrm>
            <a:off x="8961120" y="3886200"/>
            <a:ext cx="265176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7" name="Text 24"/>
          <p:cNvSpPr txBox="1"/>
          <p:nvPr/>
        </p:nvSpPr>
        <p:spPr>
          <a:xfrm>
            <a:off x="9189720" y="4087368"/>
            <a:ext cx="2194560" cy="411480"/>
          </a:xfrm>
          <a:prstGeom prst="rect">
            <a:avLst/>
          </a:prstGeom>
          <a:noFill/>
          <a:ln/>
        </p:spPr>
        <p:txBody>
          <a:bodyPr wrap="square" lIns="0" tIns="0" rIns="0" bIns="0" rtlCol="0" anchor="t"/>
          <a:lstStyle/>
          <a:p>
            <a:pPr marL="0" indent="0">
              <a:buNone/>
            </a:pPr>
            <a:r>
              <a:rPr lang="en-US" sz="2200" b="1" dirty="0">
                <a:solidFill>
                  <a:schemeClr val="accent1"/>
                </a:solidFill>
              </a:rPr>
              <a:t>RC-8</a:t>
            </a:r>
            <a:endParaRPr lang="en-US" sz="2200" dirty="0"/>
          </a:p>
        </p:txBody>
      </p:sp>
      <p:sp>
        <p:nvSpPr>
          <p:cNvPr id="28" name="Text 25"/>
          <p:cNvSpPr txBox="1"/>
          <p:nvPr/>
        </p:nvSpPr>
        <p:spPr>
          <a:xfrm>
            <a:off x="9189720" y="4572000"/>
            <a:ext cx="2240280" cy="731520"/>
          </a:xfrm>
          <a:prstGeom prst="rect">
            <a:avLst/>
          </a:prstGeom>
          <a:noFill/>
          <a:ln/>
        </p:spPr>
        <p:txBody>
          <a:bodyPr wrap="square" lIns="0" tIns="0" rIns="0" bIns="0" rtlCol="0" anchor="t"/>
          <a:lstStyle/>
          <a:p>
            <a:pPr marL="0" indent="0">
              <a:buNone/>
            </a:pPr>
            <a:r>
              <a:rPr lang="en-US" sz="1400" b="1" dirty="0">
                <a:solidFill>
                  <a:schemeClr val="tx1"/>
                </a:solidFill>
              </a:rPr>
              <a:t>No shared month-end definition</a:t>
            </a:r>
            <a:endParaRPr lang="en-US" sz="1400" dirty="0"/>
          </a:p>
        </p:txBody>
      </p:sp>
      <p:sp>
        <p:nvSpPr>
          <p:cNvPr id="29" name="Text 26"/>
          <p:cNvSpPr txBox="1"/>
          <p:nvPr/>
        </p:nvSpPr>
        <p:spPr>
          <a:xfrm>
            <a:off x="457200" y="5715000"/>
            <a:ext cx="11247120" cy="320040"/>
          </a:xfrm>
          <a:prstGeom prst="rect">
            <a:avLst/>
          </a:prstGeom>
          <a:noFill/>
          <a:ln/>
        </p:spPr>
        <p:txBody>
          <a:bodyPr wrap="square" lIns="0" tIns="0" rIns="0" bIns="0" rtlCol="0" anchor="t"/>
          <a:lstStyle/>
          <a:p>
            <a:pPr marL="0" indent="0">
              <a:buNone/>
            </a:pPr>
            <a:r>
              <a:rPr lang="en-US" sz="1100" i="1" dirty="0">
                <a:solidFill>
                  <a:schemeClr val="accent3"/>
                </a:solidFill>
              </a:rPr>
              <a:t>Source: docs/06-root-cause/confirmed-root-causes.md  ·  Every root cause is an absence of design or ownership, not of language understanding</a:t>
            </a:r>
            <a:endParaRPr lang="en-US" sz="11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2011680"/>
            <a:ext cx="3657600" cy="914400"/>
          </a:xfrm>
          <a:prstGeom prst="rect">
            <a:avLst/>
          </a:prstGeom>
          <a:noFill/>
          <a:ln/>
        </p:spPr>
        <p:txBody>
          <a:bodyPr wrap="square" lIns="0" tIns="0" rIns="0" bIns="0" rtlCol="0"/>
          <a:lstStyle/>
          <a:p>
            <a:pPr marL="0" indent="0" algn="l">
              <a:buNone/>
            </a:pPr>
            <a:r>
              <a:rPr lang="en-US" sz="6000" b="1" dirty="0">
                <a:solidFill>
                  <a:schemeClr val="accent1"/>
                </a:solidFill>
              </a:rPr>
              <a:t>02</a:t>
            </a:r>
            <a:endParaRPr lang="en-US" sz="6000" dirty="0"/>
          </a:p>
        </p:txBody>
      </p:sp>
      <p:sp>
        <p:nvSpPr>
          <p:cNvPr id="3" name="Text 0"/>
          <p:cNvSpPr>
            <a:spLocks noGrp="1"/>
          </p:cNvSpPr>
          <p:nvPr>
            <p:ph type="title" idx="102" hasCustomPrompt="1"/>
          </p:nvPr>
        </p:nvSpPr>
        <p:spPr>
          <a:xfrm>
            <a:off x="548640" y="2971800"/>
            <a:ext cx="10515600" cy="1463040"/>
          </a:xfrm>
          <a:prstGeom prst="rect">
            <a:avLst/>
          </a:prstGeom>
          <a:noFill/>
          <a:ln/>
        </p:spPr>
        <p:txBody>
          <a:bodyPr wrap="square" lIns="0" tIns="0" rIns="0" bIns="0" rtlCol="0" anchor="t"/>
          <a:lstStyle/>
          <a:p>
            <a:pPr marL="0" indent="0" algn="l">
              <a:buNone/>
            </a:pPr>
            <a:r>
              <a:rPr lang="en-US" sz="4000" b="1" dirty="0">
                <a:solidFill>
                  <a:schemeClr val="bg1"/>
                </a:solidFill>
              </a:rPr>
              <a:t>What we built, and how it works</a:t>
            </a:r>
            <a:endParaRPr lang="en-US" sz="4000" dirty="0"/>
          </a:p>
        </p:txBody>
      </p:sp>
      <p:sp>
        <p:nvSpPr>
          <p:cNvPr id="4" name="Text 0"/>
          <p:cNvSpPr>
            <a:spLocks noGrp="1"/>
          </p:cNvSpPr>
          <p:nvPr>
            <p:ph type="body" idx="103" hasCustomPrompt="1"/>
          </p:nvPr>
        </p:nvSpPr>
        <p:spPr>
          <a:xfrm>
            <a:off x="548640" y="4572000"/>
            <a:ext cx="9601200" cy="914400"/>
          </a:xfrm>
          <a:prstGeom prst="rect">
            <a:avLst/>
          </a:prstGeom>
          <a:noFill/>
          <a:ln/>
        </p:spPr>
        <p:txBody>
          <a:bodyPr wrap="square" lIns="0" tIns="0" rIns="0" bIns="0" rtlCol="0" anchor="t"/>
          <a:lstStyle/>
          <a:p>
            <a:pPr marL="0" indent="0" algn="l">
              <a:buNone/>
            </a:pPr>
            <a:r>
              <a:rPr lang="en-US" sz="1600" dirty="0">
                <a:solidFill>
                  <a:schemeClr val="accent6"/>
                </a:solidFill>
              </a:rPr>
              <a:t>Solution approach  ·  functional flow  ·  technical implementation  ·  engineering decisions</a:t>
            </a:r>
            <a:endParaRPr lang="en-US" sz="16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What  ·  Solution approach</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FIVE PRINCIPLES</a:t>
            </a:r>
            <a:endParaRPr lang="en-US" sz="3000" dirty="0"/>
          </a:p>
          <a:p>
            <a:pPr marL="0" indent="0" algn="l">
              <a:lnSpc>
                <a:spcPct val="95000"/>
              </a:lnSpc>
              <a:buNone/>
            </a:pPr>
            <a:r>
              <a:rPr lang="en-US" sz="3000" b="1" dirty="0">
                <a:solidFill>
                  <a:schemeClr val="accent1"/>
                </a:solidFill>
              </a:rPr>
              <a:t>THAT SHAPED EVERY LINE OF CODE</a:t>
            </a:r>
            <a:endParaRPr lang="en-US" sz="3000" dirty="0"/>
          </a:p>
        </p:txBody>
      </p:sp>
      <p:sp>
        <p:nvSpPr>
          <p:cNvPr id="5" name="card"/>
          <p:cNvSpPr/>
          <p:nvPr/>
        </p:nvSpPr>
        <p:spPr>
          <a:xfrm>
            <a:off x="457200" y="2194560"/>
            <a:ext cx="2103120" cy="3794760"/>
          </a:xfrm>
          <a:prstGeom prst="roundRect">
            <a:avLst>
              <a:gd name="adj" fmla="val 347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icon-circle"/>
          <p:cNvSpPr/>
          <p:nvPr/>
        </p:nvSpPr>
        <p:spPr>
          <a:xfrm>
            <a:off x="685800" y="2423160"/>
            <a:ext cx="640080" cy="640080"/>
          </a:xfrm>
          <a:prstGeom prst="ellipse">
            <a:avLst/>
          </a:prstGeom>
          <a:solidFill>
            <a:srgbClr val="E1251B"/>
          </a:solidFill>
          <a:ln w="12700">
            <a:solidFill>
              <a:srgbClr val="E1251B"/>
            </a:solidFill>
            <a:prstDash val="solid"/>
          </a:ln>
        </p:spPr>
      </p:sp>
      <p:pic>
        <p:nvPicPr>
          <p:cNvPr id="7" name="Image 0" descr="FaDatabase"/>
          <p:cNvPicPr>
            <a:picLocks noChangeAspect="1"/>
          </p:cNvPicPr>
          <p:nvPr/>
        </p:nvPicPr>
        <p:blipFill>
          <a:blip r:embed="rId3"/>
          <a:stretch>
            <a:fillRect/>
          </a:stretch>
        </p:blipFill>
        <p:spPr>
          <a:xfrm>
            <a:off x="852221" y="2589581"/>
            <a:ext cx="307238" cy="307238"/>
          </a:xfrm>
          <a:prstGeom prst="rect">
            <a:avLst/>
          </a:prstGeom>
        </p:spPr>
      </p:pic>
      <p:sp>
        <p:nvSpPr>
          <p:cNvPr id="8" name="Text 4"/>
          <p:cNvSpPr txBox="1"/>
          <p:nvPr/>
        </p:nvSpPr>
        <p:spPr>
          <a:xfrm>
            <a:off x="685800" y="3246120"/>
            <a:ext cx="1691640" cy="685800"/>
          </a:xfrm>
          <a:prstGeom prst="rect">
            <a:avLst/>
          </a:prstGeom>
          <a:noFill/>
          <a:ln/>
        </p:spPr>
        <p:txBody>
          <a:bodyPr wrap="square" lIns="0" tIns="0" rIns="0" bIns="0" rtlCol="0" anchor="t"/>
          <a:lstStyle/>
          <a:p>
            <a:pPr marL="0" indent="0">
              <a:buNone/>
            </a:pPr>
            <a:r>
              <a:rPr lang="en-US" sz="1600" b="1" dirty="0">
                <a:solidFill>
                  <a:schemeClr val="tx1"/>
                </a:solidFill>
              </a:rPr>
              <a:t>Deterministic core</a:t>
            </a:r>
            <a:endParaRPr lang="en-US" sz="1600" dirty="0"/>
          </a:p>
        </p:txBody>
      </p:sp>
      <p:sp>
        <p:nvSpPr>
          <p:cNvPr id="9" name="Text 5"/>
          <p:cNvSpPr txBox="1"/>
          <p:nvPr/>
        </p:nvSpPr>
        <p:spPr>
          <a:xfrm>
            <a:off x="685800" y="3977640"/>
            <a:ext cx="1691640" cy="1920240"/>
          </a:xfrm>
          <a:prstGeom prst="rect">
            <a:avLst/>
          </a:prstGeom>
          <a:noFill/>
          <a:ln/>
        </p:spPr>
        <p:txBody>
          <a:bodyPr wrap="square" lIns="0" tIns="0" rIns="0" bIns="0" rtlCol="0" anchor="t"/>
          <a:lstStyle/>
          <a:p>
            <a:pPr marL="0" indent="0">
              <a:buNone/>
            </a:pPr>
            <a:r>
              <a:rPr lang="en-US" sz="1200" dirty="0">
                <a:solidFill>
                  <a:schemeClr val="tx2"/>
                </a:solidFill>
              </a:rPr>
              <a:t>Counting, classifying and recording are rules, not models. Exact decimals, fixed precedence, one query path.</a:t>
            </a:r>
            <a:endParaRPr lang="en-US" sz="1200" dirty="0"/>
          </a:p>
        </p:txBody>
      </p:sp>
      <p:sp>
        <p:nvSpPr>
          <p:cNvPr id="10" name="card"/>
          <p:cNvSpPr/>
          <p:nvPr/>
        </p:nvSpPr>
        <p:spPr>
          <a:xfrm>
            <a:off x="2743200" y="2194560"/>
            <a:ext cx="2103120" cy="3794760"/>
          </a:xfrm>
          <a:prstGeom prst="roundRect">
            <a:avLst>
              <a:gd name="adj" fmla="val 347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1" name="icon-circle"/>
          <p:cNvSpPr/>
          <p:nvPr/>
        </p:nvSpPr>
        <p:spPr>
          <a:xfrm>
            <a:off x="2971800" y="2423160"/>
            <a:ext cx="640080" cy="640080"/>
          </a:xfrm>
          <a:prstGeom prst="ellipse">
            <a:avLst/>
          </a:prstGeom>
          <a:solidFill>
            <a:srgbClr val="E1251B"/>
          </a:solidFill>
          <a:ln w="12700">
            <a:solidFill>
              <a:srgbClr val="E1251B"/>
            </a:solidFill>
            <a:prstDash val="solid"/>
          </a:ln>
        </p:spPr>
      </p:sp>
      <p:pic>
        <p:nvPicPr>
          <p:cNvPr id="12" name="Image 1" descr="FaUserShield"/>
          <p:cNvPicPr>
            <a:picLocks noChangeAspect="1"/>
          </p:cNvPicPr>
          <p:nvPr/>
        </p:nvPicPr>
        <p:blipFill>
          <a:blip r:embed="rId4"/>
          <a:stretch>
            <a:fillRect/>
          </a:stretch>
        </p:blipFill>
        <p:spPr>
          <a:xfrm>
            <a:off x="3138221" y="2589581"/>
            <a:ext cx="307238" cy="307238"/>
          </a:xfrm>
          <a:prstGeom prst="rect">
            <a:avLst/>
          </a:prstGeom>
        </p:spPr>
      </p:pic>
      <p:sp>
        <p:nvSpPr>
          <p:cNvPr id="13" name="Text 8"/>
          <p:cNvSpPr txBox="1"/>
          <p:nvPr/>
        </p:nvSpPr>
        <p:spPr>
          <a:xfrm>
            <a:off x="2971800" y="3246120"/>
            <a:ext cx="1691640" cy="685800"/>
          </a:xfrm>
          <a:prstGeom prst="rect">
            <a:avLst/>
          </a:prstGeom>
          <a:noFill/>
          <a:ln/>
        </p:spPr>
        <p:txBody>
          <a:bodyPr wrap="square" lIns="0" tIns="0" rIns="0" bIns="0" rtlCol="0" anchor="t"/>
          <a:lstStyle/>
          <a:p>
            <a:pPr marL="0" indent="0">
              <a:buNone/>
            </a:pPr>
            <a:r>
              <a:rPr lang="en-US" sz="1600" b="1" dirty="0">
                <a:solidFill>
                  <a:schemeClr val="tx1"/>
                </a:solidFill>
              </a:rPr>
              <a:t>Humans decide</a:t>
            </a:r>
            <a:endParaRPr lang="en-US" sz="1600" dirty="0"/>
          </a:p>
        </p:txBody>
      </p:sp>
      <p:sp>
        <p:nvSpPr>
          <p:cNvPr id="14" name="Text 9"/>
          <p:cNvSpPr txBox="1"/>
          <p:nvPr/>
        </p:nvSpPr>
        <p:spPr>
          <a:xfrm>
            <a:off x="2971800" y="3977640"/>
            <a:ext cx="1691640" cy="1920240"/>
          </a:xfrm>
          <a:prstGeom prst="rect">
            <a:avLst/>
          </a:prstGeom>
          <a:noFill/>
          <a:ln/>
        </p:spPr>
        <p:txBody>
          <a:bodyPr wrap="square" lIns="0" tIns="0" rIns="0" bIns="0" rtlCol="0" anchor="t"/>
          <a:lstStyle/>
          <a:p>
            <a:pPr marL="0" indent="0">
              <a:buNone/>
            </a:pPr>
            <a:r>
              <a:rPr lang="en-US" sz="1200" dirty="0">
                <a:solidFill>
                  <a:schemeClr val="tx2"/>
                </a:solidFill>
              </a:rPr>
              <a:t>Ten Zone H actions are human-only. The holder list ships empty, so nothing consequential can happen by accident.</a:t>
            </a:r>
            <a:endParaRPr lang="en-US" sz="1200" dirty="0"/>
          </a:p>
        </p:txBody>
      </p:sp>
      <p:sp>
        <p:nvSpPr>
          <p:cNvPr id="15" name="card"/>
          <p:cNvSpPr/>
          <p:nvPr/>
        </p:nvSpPr>
        <p:spPr>
          <a:xfrm>
            <a:off x="5029200" y="2194560"/>
            <a:ext cx="2103120" cy="3794760"/>
          </a:xfrm>
          <a:prstGeom prst="roundRect">
            <a:avLst>
              <a:gd name="adj" fmla="val 347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6" name="icon-circle"/>
          <p:cNvSpPr/>
          <p:nvPr/>
        </p:nvSpPr>
        <p:spPr>
          <a:xfrm>
            <a:off x="5257800" y="2423160"/>
            <a:ext cx="640080" cy="640080"/>
          </a:xfrm>
          <a:prstGeom prst="ellipse">
            <a:avLst/>
          </a:prstGeom>
          <a:solidFill>
            <a:srgbClr val="E1251B"/>
          </a:solidFill>
          <a:ln w="12700">
            <a:solidFill>
              <a:srgbClr val="E1251B"/>
            </a:solidFill>
            <a:prstDash val="solid"/>
          </a:ln>
        </p:spPr>
      </p:sp>
      <p:pic>
        <p:nvPicPr>
          <p:cNvPr id="17" name="Image 2" descr="FaLayerGroup"/>
          <p:cNvPicPr>
            <a:picLocks noChangeAspect="1"/>
          </p:cNvPicPr>
          <p:nvPr/>
        </p:nvPicPr>
        <p:blipFill>
          <a:blip r:embed="rId5"/>
          <a:stretch>
            <a:fillRect/>
          </a:stretch>
        </p:blipFill>
        <p:spPr>
          <a:xfrm>
            <a:off x="5424221" y="2589581"/>
            <a:ext cx="307238" cy="307238"/>
          </a:xfrm>
          <a:prstGeom prst="rect">
            <a:avLst/>
          </a:prstGeom>
        </p:spPr>
      </p:pic>
      <p:sp>
        <p:nvSpPr>
          <p:cNvPr id="18" name="Text 12"/>
          <p:cNvSpPr txBox="1"/>
          <p:nvPr/>
        </p:nvSpPr>
        <p:spPr>
          <a:xfrm>
            <a:off x="5257800" y="3246120"/>
            <a:ext cx="1691640" cy="685800"/>
          </a:xfrm>
          <a:prstGeom prst="rect">
            <a:avLst/>
          </a:prstGeom>
          <a:noFill/>
          <a:ln/>
        </p:spPr>
        <p:txBody>
          <a:bodyPr wrap="square" lIns="0" tIns="0" rIns="0" bIns="0" rtlCol="0" anchor="t"/>
          <a:lstStyle/>
          <a:p>
            <a:pPr marL="0" indent="0">
              <a:buNone/>
            </a:pPr>
            <a:r>
              <a:rPr lang="en-US" sz="1600" b="1" dirty="0">
                <a:solidFill>
                  <a:schemeClr val="tx1"/>
                </a:solidFill>
              </a:rPr>
              <a:t>Meaning before metrics</a:t>
            </a:r>
            <a:endParaRPr lang="en-US" sz="1600" dirty="0"/>
          </a:p>
        </p:txBody>
      </p:sp>
      <p:sp>
        <p:nvSpPr>
          <p:cNvPr id="19" name="Text 13"/>
          <p:cNvSpPr txBox="1"/>
          <p:nvPr/>
        </p:nvSpPr>
        <p:spPr>
          <a:xfrm>
            <a:off x="5257800" y="3977640"/>
            <a:ext cx="1691640" cy="1920240"/>
          </a:xfrm>
          <a:prstGeom prst="rect">
            <a:avLst/>
          </a:prstGeom>
          <a:noFill/>
          <a:ln/>
        </p:spPr>
        <p:txBody>
          <a:bodyPr wrap="square" lIns="0" tIns="0" rIns="0" bIns="0" rtlCol="0" anchor="t"/>
          <a:lstStyle/>
          <a:p>
            <a:pPr marL="0" indent="0">
              <a:buNone/>
            </a:pPr>
            <a:r>
              <a:rPr lang="en-US" sz="1200" dirty="0">
                <a:solidFill>
                  <a:schemeClr val="tx2"/>
                </a:solidFill>
              </a:rPr>
              <a:t>A semantic layer defines every entity, status and metric. Figures carry their definition tag and are never mixed.</a:t>
            </a:r>
            <a:endParaRPr lang="en-US" sz="1200" dirty="0"/>
          </a:p>
        </p:txBody>
      </p:sp>
      <p:sp>
        <p:nvSpPr>
          <p:cNvPr id="20" name="card"/>
          <p:cNvSpPr/>
          <p:nvPr/>
        </p:nvSpPr>
        <p:spPr>
          <a:xfrm>
            <a:off x="7315200" y="2194560"/>
            <a:ext cx="2103120" cy="3794760"/>
          </a:xfrm>
          <a:prstGeom prst="roundRect">
            <a:avLst>
              <a:gd name="adj" fmla="val 347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1" name="icon-circle"/>
          <p:cNvSpPr/>
          <p:nvPr/>
        </p:nvSpPr>
        <p:spPr>
          <a:xfrm>
            <a:off x="7543800" y="2423160"/>
            <a:ext cx="640080" cy="640080"/>
          </a:xfrm>
          <a:prstGeom prst="ellipse">
            <a:avLst/>
          </a:prstGeom>
          <a:solidFill>
            <a:srgbClr val="E1251B"/>
          </a:solidFill>
          <a:ln w="12700">
            <a:solidFill>
              <a:srgbClr val="E1251B"/>
            </a:solidFill>
            <a:prstDash val="solid"/>
          </a:ln>
        </p:spPr>
      </p:sp>
      <p:pic>
        <p:nvPicPr>
          <p:cNvPr id="22" name="Image 3" descr="FaStream"/>
          <p:cNvPicPr>
            <a:picLocks noChangeAspect="1"/>
          </p:cNvPicPr>
          <p:nvPr/>
        </p:nvPicPr>
        <p:blipFill>
          <a:blip r:embed="rId6"/>
          <a:stretch>
            <a:fillRect/>
          </a:stretch>
        </p:blipFill>
        <p:spPr>
          <a:xfrm>
            <a:off x="7710221" y="2589581"/>
            <a:ext cx="307238" cy="307238"/>
          </a:xfrm>
          <a:prstGeom prst="rect">
            <a:avLst/>
          </a:prstGeom>
        </p:spPr>
      </p:pic>
      <p:sp>
        <p:nvSpPr>
          <p:cNvPr id="23" name="Text 16"/>
          <p:cNvSpPr txBox="1"/>
          <p:nvPr/>
        </p:nvSpPr>
        <p:spPr>
          <a:xfrm>
            <a:off x="7543800" y="3246120"/>
            <a:ext cx="1691640" cy="685800"/>
          </a:xfrm>
          <a:prstGeom prst="rect">
            <a:avLst/>
          </a:prstGeom>
          <a:noFill/>
          <a:ln/>
        </p:spPr>
        <p:txBody>
          <a:bodyPr wrap="square" lIns="0" tIns="0" rIns="0" bIns="0" rtlCol="0" anchor="t"/>
          <a:lstStyle/>
          <a:p>
            <a:pPr marL="0" indent="0">
              <a:buNone/>
            </a:pPr>
            <a:r>
              <a:rPr lang="en-US" sz="1600" b="1" dirty="0">
                <a:solidFill>
                  <a:schemeClr val="tx1"/>
                </a:solidFill>
              </a:rPr>
              <a:t>Shadow, not cutover</a:t>
            </a:r>
            <a:endParaRPr lang="en-US" sz="1600" dirty="0"/>
          </a:p>
        </p:txBody>
      </p:sp>
      <p:sp>
        <p:nvSpPr>
          <p:cNvPr id="24" name="Text 17"/>
          <p:cNvSpPr txBox="1"/>
          <p:nvPr/>
        </p:nvSpPr>
        <p:spPr>
          <a:xfrm>
            <a:off x="7543800" y="3977640"/>
            <a:ext cx="1691640" cy="1920240"/>
          </a:xfrm>
          <a:prstGeom prst="rect">
            <a:avLst/>
          </a:prstGeom>
          <a:noFill/>
          <a:ln/>
        </p:spPr>
        <p:txBody>
          <a:bodyPr wrap="square" lIns="0" tIns="0" rIns="0" bIns="0" rtlCol="0" anchor="t"/>
          <a:lstStyle/>
          <a:p>
            <a:pPr marL="0" indent="0">
              <a:buNone/>
            </a:pPr>
            <a:r>
              <a:rPr lang="en-US" sz="1200" dirty="0">
                <a:solidFill>
                  <a:schemeClr val="tx2"/>
                </a:solidFill>
              </a:rPr>
              <a:t>The hub runs beside the untouched legacy code, reads a checksum-verified copy and proves parity first.</a:t>
            </a:r>
            <a:endParaRPr lang="en-US" sz="1200" dirty="0"/>
          </a:p>
        </p:txBody>
      </p:sp>
      <p:sp>
        <p:nvSpPr>
          <p:cNvPr id="25" name="card"/>
          <p:cNvSpPr/>
          <p:nvPr/>
        </p:nvSpPr>
        <p:spPr>
          <a:xfrm>
            <a:off x="9601200" y="2194560"/>
            <a:ext cx="2103120" cy="3794760"/>
          </a:xfrm>
          <a:prstGeom prst="roundRect">
            <a:avLst>
              <a:gd name="adj" fmla="val 347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6" name="icon-circle"/>
          <p:cNvSpPr/>
          <p:nvPr/>
        </p:nvSpPr>
        <p:spPr>
          <a:xfrm>
            <a:off x="9829800" y="2423160"/>
            <a:ext cx="640080" cy="640080"/>
          </a:xfrm>
          <a:prstGeom prst="ellipse">
            <a:avLst/>
          </a:prstGeom>
          <a:solidFill>
            <a:srgbClr val="4D4D4D"/>
          </a:solidFill>
          <a:ln w="12700">
            <a:solidFill>
              <a:srgbClr val="4D4D4D"/>
            </a:solidFill>
            <a:prstDash val="solid"/>
          </a:ln>
        </p:spPr>
      </p:sp>
      <p:pic>
        <p:nvPicPr>
          <p:cNvPr id="27" name="Image 4" descr="FaBrain"/>
          <p:cNvPicPr>
            <a:picLocks noChangeAspect="1"/>
          </p:cNvPicPr>
          <p:nvPr/>
        </p:nvPicPr>
        <p:blipFill>
          <a:blip r:embed="rId7"/>
          <a:stretch>
            <a:fillRect/>
          </a:stretch>
        </p:blipFill>
        <p:spPr>
          <a:xfrm>
            <a:off x="9996221" y="2589581"/>
            <a:ext cx="307238" cy="307238"/>
          </a:xfrm>
          <a:prstGeom prst="rect">
            <a:avLst/>
          </a:prstGeom>
        </p:spPr>
      </p:pic>
      <p:sp>
        <p:nvSpPr>
          <p:cNvPr id="28" name="Text 20"/>
          <p:cNvSpPr txBox="1"/>
          <p:nvPr/>
        </p:nvSpPr>
        <p:spPr>
          <a:xfrm>
            <a:off x="9829800" y="3246120"/>
            <a:ext cx="1691640" cy="685800"/>
          </a:xfrm>
          <a:prstGeom prst="rect">
            <a:avLst/>
          </a:prstGeom>
          <a:noFill/>
          <a:ln/>
        </p:spPr>
        <p:txBody>
          <a:bodyPr wrap="square" lIns="0" tIns="0" rIns="0" bIns="0" rtlCol="0" anchor="t"/>
          <a:lstStyle/>
          <a:p>
            <a:pPr marL="0" indent="0">
              <a:buNone/>
            </a:pPr>
            <a:r>
              <a:rPr lang="en-US" sz="1600" b="1" dirty="0">
                <a:solidFill>
                  <a:schemeClr val="tx1"/>
                </a:solidFill>
              </a:rPr>
              <a:t>AI as advisor</a:t>
            </a:r>
            <a:endParaRPr lang="en-US" sz="1600" dirty="0"/>
          </a:p>
        </p:txBody>
      </p:sp>
      <p:sp>
        <p:nvSpPr>
          <p:cNvPr id="29" name="Text 21"/>
          <p:cNvSpPr txBox="1"/>
          <p:nvPr/>
        </p:nvSpPr>
        <p:spPr>
          <a:xfrm>
            <a:off x="9829800" y="3977640"/>
            <a:ext cx="1691640" cy="1920240"/>
          </a:xfrm>
          <a:prstGeom prst="rect">
            <a:avLst/>
          </a:prstGeom>
          <a:noFill/>
          <a:ln/>
        </p:spPr>
        <p:txBody>
          <a:bodyPr wrap="square" lIns="0" tIns="0" rIns="0" bIns="0" rtlCol="0" anchor="t"/>
          <a:lstStyle/>
          <a:p>
            <a:pPr marL="0" indent="0">
              <a:buNone/>
            </a:pPr>
            <a:r>
              <a:rPr lang="en-US" sz="1200" dirty="0">
                <a:solidFill>
                  <a:schemeClr val="tx2"/>
                </a:solidFill>
              </a:rPr>
              <a:t>OpenAI explains cases, exceptions and rules with citations. Autonomy A1: it suggests; a human acts.</a:t>
            </a:r>
            <a:endParaRPr lang="en-US" sz="12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Functional flow</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FROM PARTNER FEED</a:t>
            </a:r>
            <a:endParaRPr lang="en-US" sz="3000" dirty="0"/>
          </a:p>
          <a:p>
            <a:pPr marL="0" indent="0" algn="l">
              <a:lnSpc>
                <a:spcPct val="95000"/>
              </a:lnSpc>
              <a:buNone/>
            </a:pPr>
            <a:r>
              <a:rPr lang="en-US" sz="3000" b="1" dirty="0">
                <a:solidFill>
                  <a:schemeClr val="accent1"/>
                </a:solidFill>
              </a:rPr>
              <a:t>TO A DEFENSIBLE DECISION</a:t>
            </a:r>
            <a:endParaRPr lang="en-US" sz="3000" dirty="0"/>
          </a:p>
        </p:txBody>
      </p:sp>
      <p:sp>
        <p:nvSpPr>
          <p:cNvPr id="5" name="card"/>
          <p:cNvSpPr/>
          <p:nvPr/>
        </p:nvSpPr>
        <p:spPr>
          <a:xfrm>
            <a:off x="457200" y="2377440"/>
            <a:ext cx="1719072" cy="2331720"/>
          </a:xfrm>
          <a:prstGeom prst="roundRect">
            <a:avLst>
              <a:gd name="adj" fmla="val 4255"/>
            </a:avLst>
          </a:prstGeom>
          <a:solidFill>
            <a:srgbClr val="FFFFFF"/>
          </a:solidFill>
          <a:ln w="9525">
            <a:solidFill>
              <a:srgbClr val="E6E6E6"/>
            </a:solidFill>
            <a:prstDash val="solid"/>
          </a:ln>
          <a:effectLst>
            <a:outerShdw blurRad="76200" dist="19050" dir="5400000" algn="bl" rotWithShape="0">
              <a:srgbClr val="000000">
                <a:alpha val="8000"/>
              </a:srgbClr>
            </a:outerShdw>
          </a:effectLst>
        </p:spPr>
      </p:sp>
      <p:sp>
        <p:nvSpPr>
          <p:cNvPr id="6" name="icon-circle"/>
          <p:cNvSpPr/>
          <p:nvPr/>
        </p:nvSpPr>
        <p:spPr>
          <a:xfrm>
            <a:off x="1033272" y="2606040"/>
            <a:ext cx="566928" cy="566928"/>
          </a:xfrm>
          <a:prstGeom prst="ellipse">
            <a:avLst/>
          </a:prstGeom>
          <a:solidFill>
            <a:srgbClr val="E1251B"/>
          </a:solidFill>
          <a:ln w="12700">
            <a:solidFill>
              <a:srgbClr val="E1251B"/>
            </a:solidFill>
            <a:prstDash val="solid"/>
          </a:ln>
        </p:spPr>
      </p:sp>
      <p:pic>
        <p:nvPicPr>
          <p:cNvPr id="7" name="Image 0" descr="FaPlug"/>
          <p:cNvPicPr>
            <a:picLocks noChangeAspect="1"/>
          </p:cNvPicPr>
          <p:nvPr/>
        </p:nvPicPr>
        <p:blipFill>
          <a:blip r:embed="rId3"/>
          <a:stretch>
            <a:fillRect/>
          </a:stretch>
        </p:blipFill>
        <p:spPr>
          <a:xfrm>
            <a:off x="1180673" y="2753441"/>
            <a:ext cx="272125" cy="272125"/>
          </a:xfrm>
          <a:prstGeom prst="rect">
            <a:avLst/>
          </a:prstGeom>
        </p:spPr>
      </p:pic>
      <p:sp>
        <p:nvSpPr>
          <p:cNvPr id="8" name="Text 4"/>
          <p:cNvSpPr txBox="1"/>
          <p:nvPr/>
        </p:nvSpPr>
        <p:spPr>
          <a:xfrm>
            <a:off x="594360" y="3291840"/>
            <a:ext cx="1444752" cy="365760"/>
          </a:xfrm>
          <a:prstGeom prst="rect">
            <a:avLst/>
          </a:prstGeom>
          <a:noFill/>
          <a:ln/>
        </p:spPr>
        <p:txBody>
          <a:bodyPr wrap="square" lIns="0" tIns="0" rIns="0" bIns="0" rtlCol="0" anchor="t"/>
          <a:lstStyle/>
          <a:p>
            <a:pPr marL="0" indent="0" algn="ctr">
              <a:buNone/>
            </a:pPr>
            <a:r>
              <a:rPr lang="en-US" sz="1500" b="1" dirty="0">
                <a:solidFill>
                  <a:schemeClr val="tx1"/>
                </a:solidFill>
              </a:rPr>
              <a:t>Receive</a:t>
            </a:r>
            <a:endParaRPr lang="en-US" sz="1500" dirty="0"/>
          </a:p>
        </p:txBody>
      </p:sp>
      <p:sp>
        <p:nvSpPr>
          <p:cNvPr id="9" name="Text 5"/>
          <p:cNvSpPr txBox="1"/>
          <p:nvPr/>
        </p:nvSpPr>
        <p:spPr>
          <a:xfrm>
            <a:off x="594360" y="3675888"/>
            <a:ext cx="1444752" cy="960120"/>
          </a:xfrm>
          <a:prstGeom prst="rect">
            <a:avLst/>
          </a:prstGeom>
          <a:noFill/>
          <a:ln/>
        </p:spPr>
        <p:txBody>
          <a:bodyPr wrap="square" lIns="0" tIns="0" rIns="0" bIns="0" rtlCol="0" anchor="t"/>
          <a:lstStyle/>
          <a:p>
            <a:pPr marL="0" indent="0" algn="ctr">
              <a:buNone/>
            </a:pPr>
            <a:r>
              <a:rPr lang="en-US" sz="1100" dirty="0">
                <a:solidFill>
                  <a:schemeClr val="tx2"/>
                </a:solidFill>
              </a:rPr>
              <a:t>Raw row kept verbatim; natural key (partner, kind, ref, source_ts)</a:t>
            </a:r>
            <a:endParaRPr lang="en-US" sz="1100" dirty="0"/>
          </a:p>
        </p:txBody>
      </p:sp>
      <p:sp>
        <p:nvSpPr>
          <p:cNvPr id="10" name="Shape 6"/>
          <p:cNvSpPr/>
          <p:nvPr/>
        </p:nvSpPr>
        <p:spPr>
          <a:xfrm>
            <a:off x="2203704" y="3429000"/>
            <a:ext cx="137160" cy="256032"/>
          </a:xfrm>
          <a:prstGeom prst="chevron">
            <a:avLst/>
          </a:prstGeom>
          <a:solidFill>
            <a:srgbClr val="C9C9C9"/>
          </a:solidFill>
          <a:ln w="12700">
            <a:solidFill>
              <a:srgbClr val="C9C9C9"/>
            </a:solidFill>
            <a:prstDash val="solid"/>
          </a:ln>
        </p:spPr>
      </p:sp>
      <p:sp>
        <p:nvSpPr>
          <p:cNvPr id="11" name="card"/>
          <p:cNvSpPr/>
          <p:nvPr/>
        </p:nvSpPr>
        <p:spPr>
          <a:xfrm>
            <a:off x="2368296" y="2377440"/>
            <a:ext cx="1719072" cy="2331720"/>
          </a:xfrm>
          <a:prstGeom prst="roundRect">
            <a:avLst>
              <a:gd name="adj" fmla="val 4255"/>
            </a:avLst>
          </a:prstGeom>
          <a:solidFill>
            <a:srgbClr val="FFFFFF"/>
          </a:solidFill>
          <a:ln w="9525">
            <a:solidFill>
              <a:srgbClr val="E6E6E6"/>
            </a:solidFill>
            <a:prstDash val="solid"/>
          </a:ln>
          <a:effectLst>
            <a:outerShdw blurRad="76200" dist="19050" dir="5400000" algn="bl" rotWithShape="0">
              <a:srgbClr val="000000">
                <a:alpha val="8000"/>
              </a:srgbClr>
            </a:outerShdw>
          </a:effectLst>
        </p:spPr>
      </p:sp>
      <p:sp>
        <p:nvSpPr>
          <p:cNvPr id="12" name="icon-circle"/>
          <p:cNvSpPr/>
          <p:nvPr/>
        </p:nvSpPr>
        <p:spPr>
          <a:xfrm>
            <a:off x="2944368" y="2606040"/>
            <a:ext cx="566928" cy="566928"/>
          </a:xfrm>
          <a:prstGeom prst="ellipse">
            <a:avLst/>
          </a:prstGeom>
          <a:solidFill>
            <a:srgbClr val="E1251B"/>
          </a:solidFill>
          <a:ln w="12700">
            <a:solidFill>
              <a:srgbClr val="E1251B"/>
            </a:solidFill>
            <a:prstDash val="solid"/>
          </a:ln>
        </p:spPr>
      </p:sp>
      <p:pic>
        <p:nvPicPr>
          <p:cNvPr id="13" name="Image 1" descr="FaCheckCircle"/>
          <p:cNvPicPr>
            <a:picLocks noChangeAspect="1"/>
          </p:cNvPicPr>
          <p:nvPr/>
        </p:nvPicPr>
        <p:blipFill>
          <a:blip r:embed="rId4"/>
          <a:stretch>
            <a:fillRect/>
          </a:stretch>
        </p:blipFill>
        <p:spPr>
          <a:xfrm>
            <a:off x="3091769" y="2753441"/>
            <a:ext cx="272125" cy="272125"/>
          </a:xfrm>
          <a:prstGeom prst="rect">
            <a:avLst/>
          </a:prstGeom>
        </p:spPr>
      </p:pic>
      <p:sp>
        <p:nvSpPr>
          <p:cNvPr id="14" name="Text 9"/>
          <p:cNvSpPr txBox="1"/>
          <p:nvPr/>
        </p:nvSpPr>
        <p:spPr>
          <a:xfrm>
            <a:off x="2505456" y="3291840"/>
            <a:ext cx="1444752" cy="365760"/>
          </a:xfrm>
          <a:prstGeom prst="rect">
            <a:avLst/>
          </a:prstGeom>
          <a:noFill/>
          <a:ln/>
        </p:spPr>
        <p:txBody>
          <a:bodyPr wrap="square" lIns="0" tIns="0" rIns="0" bIns="0" rtlCol="0" anchor="t"/>
          <a:lstStyle/>
          <a:p>
            <a:pPr marL="0" indent="0" algn="ctr">
              <a:buNone/>
            </a:pPr>
            <a:r>
              <a:rPr lang="en-US" sz="1500" b="1" dirty="0">
                <a:solidFill>
                  <a:schemeClr val="tx1"/>
                </a:solidFill>
              </a:rPr>
              <a:t>Validate</a:t>
            </a:r>
            <a:endParaRPr lang="en-US" sz="1500" dirty="0"/>
          </a:p>
        </p:txBody>
      </p:sp>
      <p:sp>
        <p:nvSpPr>
          <p:cNvPr id="15" name="Text 10"/>
          <p:cNvSpPr txBox="1"/>
          <p:nvPr/>
        </p:nvSpPr>
        <p:spPr>
          <a:xfrm>
            <a:off x="2505456" y="3675888"/>
            <a:ext cx="1444752" cy="960120"/>
          </a:xfrm>
          <a:prstGeom prst="rect">
            <a:avLst/>
          </a:prstGeom>
          <a:noFill/>
          <a:ln/>
        </p:spPr>
        <p:txBody>
          <a:bodyPr wrap="square" lIns="0" tIns="0" rIns="0" bIns="0" rtlCol="0" anchor="t"/>
          <a:lstStyle/>
          <a:p>
            <a:pPr marL="0" indent="0" algn="ctr">
              <a:buNone/>
            </a:pPr>
            <a:r>
              <a:rPr lang="en-US" sz="1100" dirty="0">
                <a:solidFill>
                  <a:schemeClr val="tx2"/>
                </a:solidFill>
              </a:rPr>
              <a:t>15 reason codes, fixed precedence, no silent fixes</a:t>
            </a:r>
            <a:endParaRPr lang="en-US" sz="1100" dirty="0"/>
          </a:p>
        </p:txBody>
      </p:sp>
      <p:sp>
        <p:nvSpPr>
          <p:cNvPr id="16" name="Shape 11"/>
          <p:cNvSpPr/>
          <p:nvPr/>
        </p:nvSpPr>
        <p:spPr>
          <a:xfrm>
            <a:off x="4114800" y="3429000"/>
            <a:ext cx="137160" cy="256032"/>
          </a:xfrm>
          <a:prstGeom prst="chevron">
            <a:avLst/>
          </a:prstGeom>
          <a:solidFill>
            <a:srgbClr val="C9C9C9"/>
          </a:solidFill>
          <a:ln w="12700">
            <a:solidFill>
              <a:srgbClr val="C9C9C9"/>
            </a:solidFill>
            <a:prstDash val="solid"/>
          </a:ln>
        </p:spPr>
      </p:sp>
      <p:sp>
        <p:nvSpPr>
          <p:cNvPr id="17" name="card"/>
          <p:cNvSpPr/>
          <p:nvPr/>
        </p:nvSpPr>
        <p:spPr>
          <a:xfrm>
            <a:off x="4279392" y="2377440"/>
            <a:ext cx="1719072" cy="2331720"/>
          </a:xfrm>
          <a:prstGeom prst="roundRect">
            <a:avLst>
              <a:gd name="adj" fmla="val 4255"/>
            </a:avLst>
          </a:prstGeom>
          <a:solidFill>
            <a:srgbClr val="FFFFFF"/>
          </a:solidFill>
          <a:ln w="9525">
            <a:solidFill>
              <a:srgbClr val="E6E6E6"/>
            </a:solidFill>
            <a:prstDash val="solid"/>
          </a:ln>
          <a:effectLst>
            <a:outerShdw blurRad="76200" dist="19050" dir="5400000" algn="bl" rotWithShape="0">
              <a:srgbClr val="000000">
                <a:alpha val="8000"/>
              </a:srgbClr>
            </a:outerShdw>
          </a:effectLst>
        </p:spPr>
      </p:sp>
      <p:sp>
        <p:nvSpPr>
          <p:cNvPr id="18" name="icon-circle"/>
          <p:cNvSpPr/>
          <p:nvPr/>
        </p:nvSpPr>
        <p:spPr>
          <a:xfrm>
            <a:off x="4855464" y="2606040"/>
            <a:ext cx="566928" cy="566928"/>
          </a:xfrm>
          <a:prstGeom prst="ellipse">
            <a:avLst/>
          </a:prstGeom>
          <a:solidFill>
            <a:srgbClr val="E1251B"/>
          </a:solidFill>
          <a:ln w="12700">
            <a:solidFill>
              <a:srgbClr val="E1251B"/>
            </a:solidFill>
            <a:prstDash val="solid"/>
          </a:ln>
        </p:spPr>
      </p:sp>
      <p:pic>
        <p:nvPicPr>
          <p:cNvPr id="19" name="Image 2" descr="FaSitemap"/>
          <p:cNvPicPr>
            <a:picLocks noChangeAspect="1"/>
          </p:cNvPicPr>
          <p:nvPr/>
        </p:nvPicPr>
        <p:blipFill>
          <a:blip r:embed="rId5"/>
          <a:stretch>
            <a:fillRect/>
          </a:stretch>
        </p:blipFill>
        <p:spPr>
          <a:xfrm>
            <a:off x="5002865" y="2753441"/>
            <a:ext cx="272125" cy="272125"/>
          </a:xfrm>
          <a:prstGeom prst="rect">
            <a:avLst/>
          </a:prstGeom>
        </p:spPr>
      </p:pic>
      <p:sp>
        <p:nvSpPr>
          <p:cNvPr id="20" name="Text 14"/>
          <p:cNvSpPr txBox="1"/>
          <p:nvPr/>
        </p:nvSpPr>
        <p:spPr>
          <a:xfrm>
            <a:off x="4416552" y="3291840"/>
            <a:ext cx="1444752" cy="365760"/>
          </a:xfrm>
          <a:prstGeom prst="rect">
            <a:avLst/>
          </a:prstGeom>
          <a:noFill/>
          <a:ln/>
        </p:spPr>
        <p:txBody>
          <a:bodyPr wrap="square" lIns="0" tIns="0" rIns="0" bIns="0" rtlCol="0" anchor="t"/>
          <a:lstStyle/>
          <a:p>
            <a:pPr marL="0" indent="0" algn="ctr">
              <a:buNone/>
            </a:pPr>
            <a:r>
              <a:rPr lang="en-US" sz="1500" b="1" dirty="0">
                <a:solidFill>
                  <a:schemeClr val="tx1"/>
                </a:solidFill>
              </a:rPr>
              <a:t>Route</a:t>
            </a:r>
            <a:endParaRPr lang="en-US" sz="1500" dirty="0"/>
          </a:p>
        </p:txBody>
      </p:sp>
      <p:sp>
        <p:nvSpPr>
          <p:cNvPr id="21" name="Text 15"/>
          <p:cNvSpPr txBox="1"/>
          <p:nvPr/>
        </p:nvSpPr>
        <p:spPr>
          <a:xfrm>
            <a:off x="4416552" y="3675888"/>
            <a:ext cx="1444752" cy="960120"/>
          </a:xfrm>
          <a:prstGeom prst="rect">
            <a:avLst/>
          </a:prstGeom>
          <a:noFill/>
          <a:ln/>
        </p:spPr>
        <p:txBody>
          <a:bodyPr wrap="square" lIns="0" tIns="0" rIns="0" bIns="0" rtlCol="0" anchor="t"/>
          <a:lstStyle/>
          <a:p>
            <a:pPr marL="0" indent="0" algn="ctr">
              <a:buNone/>
            </a:pPr>
            <a:r>
              <a:rPr lang="en-US" sz="1100" dirty="0">
                <a:solidFill>
                  <a:schemeClr val="tx2"/>
                </a:solidFill>
              </a:rPr>
              <a:t>5 queues: quarantine, revision, unmatched, ambiguous, flagged</a:t>
            </a:r>
            <a:endParaRPr lang="en-US" sz="1100" dirty="0"/>
          </a:p>
        </p:txBody>
      </p:sp>
      <p:sp>
        <p:nvSpPr>
          <p:cNvPr id="22" name="Shape 16"/>
          <p:cNvSpPr/>
          <p:nvPr/>
        </p:nvSpPr>
        <p:spPr>
          <a:xfrm>
            <a:off x="6025896" y="3429000"/>
            <a:ext cx="137160" cy="256032"/>
          </a:xfrm>
          <a:prstGeom prst="chevron">
            <a:avLst/>
          </a:prstGeom>
          <a:solidFill>
            <a:srgbClr val="C9C9C9"/>
          </a:solidFill>
          <a:ln w="12700">
            <a:solidFill>
              <a:srgbClr val="C9C9C9"/>
            </a:solidFill>
            <a:prstDash val="solid"/>
          </a:ln>
        </p:spPr>
      </p:sp>
      <p:sp>
        <p:nvSpPr>
          <p:cNvPr id="23" name="card"/>
          <p:cNvSpPr/>
          <p:nvPr/>
        </p:nvSpPr>
        <p:spPr>
          <a:xfrm>
            <a:off x="6190488" y="2377440"/>
            <a:ext cx="1719072" cy="2331720"/>
          </a:xfrm>
          <a:prstGeom prst="roundRect">
            <a:avLst>
              <a:gd name="adj" fmla="val 4255"/>
            </a:avLst>
          </a:prstGeom>
          <a:solidFill>
            <a:srgbClr val="F7F7F7"/>
          </a:solidFill>
          <a:ln w="9525">
            <a:solidFill>
              <a:srgbClr val="E6E6E6"/>
            </a:solidFill>
            <a:prstDash val="solid"/>
          </a:ln>
          <a:effectLst>
            <a:outerShdw blurRad="76200" dist="19050" dir="5400000" algn="bl" rotWithShape="0">
              <a:srgbClr val="000000">
                <a:alpha val="8000"/>
              </a:srgbClr>
            </a:outerShdw>
          </a:effectLst>
        </p:spPr>
      </p:sp>
      <p:sp>
        <p:nvSpPr>
          <p:cNvPr id="24" name="icon-circle"/>
          <p:cNvSpPr/>
          <p:nvPr/>
        </p:nvSpPr>
        <p:spPr>
          <a:xfrm>
            <a:off x="6766560" y="2606040"/>
            <a:ext cx="566928" cy="566928"/>
          </a:xfrm>
          <a:prstGeom prst="ellipse">
            <a:avLst/>
          </a:prstGeom>
          <a:solidFill>
            <a:srgbClr val="4D4D4D"/>
          </a:solidFill>
          <a:ln w="12700">
            <a:solidFill>
              <a:srgbClr val="4D4D4D"/>
            </a:solidFill>
            <a:prstDash val="solid"/>
          </a:ln>
        </p:spPr>
      </p:sp>
      <p:pic>
        <p:nvPicPr>
          <p:cNvPr id="25" name="Image 3" descr="FaBrain"/>
          <p:cNvPicPr>
            <a:picLocks noChangeAspect="1"/>
          </p:cNvPicPr>
          <p:nvPr/>
        </p:nvPicPr>
        <p:blipFill>
          <a:blip r:embed="rId6"/>
          <a:stretch>
            <a:fillRect/>
          </a:stretch>
        </p:blipFill>
        <p:spPr>
          <a:xfrm>
            <a:off x="6913961" y="2753441"/>
            <a:ext cx="272125" cy="272125"/>
          </a:xfrm>
          <a:prstGeom prst="rect">
            <a:avLst/>
          </a:prstGeom>
        </p:spPr>
      </p:pic>
      <p:sp>
        <p:nvSpPr>
          <p:cNvPr id="26" name="Text 19"/>
          <p:cNvSpPr txBox="1"/>
          <p:nvPr/>
        </p:nvSpPr>
        <p:spPr>
          <a:xfrm>
            <a:off x="6327648" y="3291840"/>
            <a:ext cx="1444752" cy="365760"/>
          </a:xfrm>
          <a:prstGeom prst="rect">
            <a:avLst/>
          </a:prstGeom>
          <a:noFill/>
          <a:ln/>
        </p:spPr>
        <p:txBody>
          <a:bodyPr wrap="square" lIns="0" tIns="0" rIns="0" bIns="0" rtlCol="0" anchor="t"/>
          <a:lstStyle/>
          <a:p>
            <a:pPr marL="0" indent="0" algn="ctr">
              <a:buNone/>
            </a:pPr>
            <a:r>
              <a:rPr lang="en-US" sz="1500" b="1" dirty="0">
                <a:solidFill>
                  <a:schemeClr val="tx1"/>
                </a:solidFill>
              </a:rPr>
              <a:t>Explain</a:t>
            </a:r>
            <a:endParaRPr lang="en-US" sz="1500" dirty="0"/>
          </a:p>
        </p:txBody>
      </p:sp>
      <p:sp>
        <p:nvSpPr>
          <p:cNvPr id="27" name="Text 20"/>
          <p:cNvSpPr txBox="1"/>
          <p:nvPr/>
        </p:nvSpPr>
        <p:spPr>
          <a:xfrm>
            <a:off x="6327648" y="3675888"/>
            <a:ext cx="1444752" cy="960120"/>
          </a:xfrm>
          <a:prstGeom prst="rect">
            <a:avLst/>
          </a:prstGeom>
          <a:noFill/>
          <a:ln/>
        </p:spPr>
        <p:txBody>
          <a:bodyPr wrap="square" lIns="0" tIns="0" rIns="0" bIns="0" rtlCol="0" anchor="t"/>
          <a:lstStyle/>
          <a:p>
            <a:pPr marL="0" indent="0" algn="ctr">
              <a:buNone/>
            </a:pPr>
            <a:r>
              <a:rPr lang="en-US" sz="1100" dirty="0">
                <a:solidFill>
                  <a:schemeClr val="tx2"/>
                </a:solidFill>
              </a:rPr>
              <a:t>AI assistant cites the rule, definition and record (A1)</a:t>
            </a:r>
            <a:endParaRPr lang="en-US" sz="1100" dirty="0"/>
          </a:p>
        </p:txBody>
      </p:sp>
      <p:sp>
        <p:nvSpPr>
          <p:cNvPr id="28" name="Shape 21"/>
          <p:cNvSpPr/>
          <p:nvPr/>
        </p:nvSpPr>
        <p:spPr>
          <a:xfrm>
            <a:off x="7936992" y="3429000"/>
            <a:ext cx="137160" cy="256032"/>
          </a:xfrm>
          <a:prstGeom prst="chevron">
            <a:avLst/>
          </a:prstGeom>
          <a:solidFill>
            <a:srgbClr val="C9C9C9"/>
          </a:solidFill>
          <a:ln w="12700">
            <a:solidFill>
              <a:srgbClr val="C9C9C9"/>
            </a:solidFill>
            <a:prstDash val="solid"/>
          </a:ln>
        </p:spPr>
      </p:sp>
      <p:sp>
        <p:nvSpPr>
          <p:cNvPr id="29" name="card"/>
          <p:cNvSpPr/>
          <p:nvPr/>
        </p:nvSpPr>
        <p:spPr>
          <a:xfrm>
            <a:off x="8101584" y="2377440"/>
            <a:ext cx="1719072" cy="2331720"/>
          </a:xfrm>
          <a:prstGeom prst="roundRect">
            <a:avLst>
              <a:gd name="adj" fmla="val 4255"/>
            </a:avLst>
          </a:prstGeom>
          <a:solidFill>
            <a:srgbClr val="FFFFFF"/>
          </a:solidFill>
          <a:ln w="9525">
            <a:solidFill>
              <a:srgbClr val="E6E6E6"/>
            </a:solidFill>
            <a:prstDash val="solid"/>
          </a:ln>
          <a:effectLst>
            <a:outerShdw blurRad="76200" dist="19050" dir="5400000" algn="bl" rotWithShape="0">
              <a:srgbClr val="000000">
                <a:alpha val="8000"/>
              </a:srgbClr>
            </a:outerShdw>
          </a:effectLst>
        </p:spPr>
      </p:sp>
      <p:sp>
        <p:nvSpPr>
          <p:cNvPr id="30" name="icon-circle"/>
          <p:cNvSpPr/>
          <p:nvPr/>
        </p:nvSpPr>
        <p:spPr>
          <a:xfrm>
            <a:off x="8677656" y="2606040"/>
            <a:ext cx="566928" cy="566928"/>
          </a:xfrm>
          <a:prstGeom prst="ellipse">
            <a:avLst/>
          </a:prstGeom>
          <a:solidFill>
            <a:srgbClr val="E1251B"/>
          </a:solidFill>
          <a:ln w="12700">
            <a:solidFill>
              <a:srgbClr val="E1251B"/>
            </a:solidFill>
            <a:prstDash val="solid"/>
          </a:ln>
        </p:spPr>
      </p:sp>
      <p:pic>
        <p:nvPicPr>
          <p:cNvPr id="31" name="Image 4" descr="FaUserCheck"/>
          <p:cNvPicPr>
            <a:picLocks noChangeAspect="1"/>
          </p:cNvPicPr>
          <p:nvPr/>
        </p:nvPicPr>
        <p:blipFill>
          <a:blip r:embed="rId7"/>
          <a:stretch>
            <a:fillRect/>
          </a:stretch>
        </p:blipFill>
        <p:spPr>
          <a:xfrm>
            <a:off x="8825057" y="2753441"/>
            <a:ext cx="272125" cy="272125"/>
          </a:xfrm>
          <a:prstGeom prst="rect">
            <a:avLst/>
          </a:prstGeom>
        </p:spPr>
      </p:pic>
      <p:sp>
        <p:nvSpPr>
          <p:cNvPr id="32" name="Text 24"/>
          <p:cNvSpPr txBox="1"/>
          <p:nvPr/>
        </p:nvSpPr>
        <p:spPr>
          <a:xfrm>
            <a:off x="8238744" y="3291840"/>
            <a:ext cx="1444752" cy="365760"/>
          </a:xfrm>
          <a:prstGeom prst="rect">
            <a:avLst/>
          </a:prstGeom>
          <a:noFill/>
          <a:ln/>
        </p:spPr>
        <p:txBody>
          <a:bodyPr wrap="square" lIns="0" tIns="0" rIns="0" bIns="0" rtlCol="0" anchor="t"/>
          <a:lstStyle/>
          <a:p>
            <a:pPr marL="0" indent="0" algn="ctr">
              <a:buNone/>
            </a:pPr>
            <a:r>
              <a:rPr lang="en-US" sz="1500" b="1" dirty="0">
                <a:solidFill>
                  <a:schemeClr val="tx1"/>
                </a:solidFill>
              </a:rPr>
              <a:t>Review</a:t>
            </a:r>
            <a:endParaRPr lang="en-US" sz="1500" dirty="0"/>
          </a:p>
        </p:txBody>
      </p:sp>
      <p:sp>
        <p:nvSpPr>
          <p:cNvPr id="33" name="Text 25"/>
          <p:cNvSpPr txBox="1"/>
          <p:nvPr/>
        </p:nvSpPr>
        <p:spPr>
          <a:xfrm>
            <a:off x="8238744" y="3675888"/>
            <a:ext cx="1444752" cy="960120"/>
          </a:xfrm>
          <a:prstGeom prst="rect">
            <a:avLst/>
          </a:prstGeom>
          <a:noFill/>
          <a:ln/>
        </p:spPr>
        <p:txBody>
          <a:bodyPr wrap="square" lIns="0" tIns="0" rIns="0" bIns="0" rtlCol="0" anchor="t"/>
          <a:lstStyle/>
          <a:p>
            <a:pPr marL="0" indent="0" algn="ctr">
              <a:buNone/>
            </a:pPr>
            <a:r>
              <a:rPr lang="en-US" sz="1100" dirty="0">
                <a:solidFill>
                  <a:schemeClr val="tx2"/>
                </a:solidFill>
              </a:rPr>
              <a:t>Reviewer acts with a reason; event appended, hash-chained</a:t>
            </a:r>
            <a:endParaRPr lang="en-US" sz="1100" dirty="0"/>
          </a:p>
        </p:txBody>
      </p:sp>
      <p:sp>
        <p:nvSpPr>
          <p:cNvPr id="34" name="Shape 26"/>
          <p:cNvSpPr/>
          <p:nvPr/>
        </p:nvSpPr>
        <p:spPr>
          <a:xfrm>
            <a:off x="9848088" y="3429000"/>
            <a:ext cx="137160" cy="256032"/>
          </a:xfrm>
          <a:prstGeom prst="chevron">
            <a:avLst/>
          </a:prstGeom>
          <a:solidFill>
            <a:srgbClr val="C9C9C9"/>
          </a:solidFill>
          <a:ln w="12700">
            <a:solidFill>
              <a:srgbClr val="C9C9C9"/>
            </a:solidFill>
            <a:prstDash val="solid"/>
          </a:ln>
        </p:spPr>
      </p:sp>
      <p:sp>
        <p:nvSpPr>
          <p:cNvPr id="35" name="card"/>
          <p:cNvSpPr/>
          <p:nvPr/>
        </p:nvSpPr>
        <p:spPr>
          <a:xfrm>
            <a:off x="10012680" y="2377440"/>
            <a:ext cx="1719072" cy="2331720"/>
          </a:xfrm>
          <a:prstGeom prst="roundRect">
            <a:avLst>
              <a:gd name="adj" fmla="val 4255"/>
            </a:avLst>
          </a:prstGeom>
          <a:solidFill>
            <a:srgbClr val="FDECEA"/>
          </a:solidFill>
          <a:ln w="9525">
            <a:solidFill>
              <a:srgbClr val="F3C9C6"/>
            </a:solidFill>
            <a:prstDash val="solid"/>
          </a:ln>
          <a:effectLst>
            <a:outerShdw blurRad="76200" dist="19050" dir="5400000" algn="bl" rotWithShape="0">
              <a:srgbClr val="000000">
                <a:alpha val="8000"/>
              </a:srgbClr>
            </a:outerShdw>
          </a:effectLst>
        </p:spPr>
      </p:sp>
      <p:sp>
        <p:nvSpPr>
          <p:cNvPr id="36" name="icon-circle"/>
          <p:cNvSpPr/>
          <p:nvPr/>
        </p:nvSpPr>
        <p:spPr>
          <a:xfrm>
            <a:off x="10588752" y="2606040"/>
            <a:ext cx="566928" cy="566928"/>
          </a:xfrm>
          <a:prstGeom prst="ellipse">
            <a:avLst/>
          </a:prstGeom>
          <a:solidFill>
            <a:srgbClr val="E1251B"/>
          </a:solidFill>
          <a:ln w="12700">
            <a:solidFill>
              <a:srgbClr val="E1251B"/>
            </a:solidFill>
            <a:prstDash val="solid"/>
          </a:ln>
        </p:spPr>
      </p:sp>
      <p:pic>
        <p:nvPicPr>
          <p:cNvPr id="37" name="Image 5" descr="FaUserShield"/>
          <p:cNvPicPr>
            <a:picLocks noChangeAspect="1"/>
          </p:cNvPicPr>
          <p:nvPr/>
        </p:nvPicPr>
        <p:blipFill>
          <a:blip r:embed="rId8"/>
          <a:stretch>
            <a:fillRect/>
          </a:stretch>
        </p:blipFill>
        <p:spPr>
          <a:xfrm>
            <a:off x="10736153" y="2753441"/>
            <a:ext cx="272125" cy="272125"/>
          </a:xfrm>
          <a:prstGeom prst="rect">
            <a:avLst/>
          </a:prstGeom>
        </p:spPr>
      </p:pic>
      <p:sp>
        <p:nvSpPr>
          <p:cNvPr id="38" name="Text 29"/>
          <p:cNvSpPr txBox="1"/>
          <p:nvPr/>
        </p:nvSpPr>
        <p:spPr>
          <a:xfrm>
            <a:off x="10149840" y="3291840"/>
            <a:ext cx="1444752" cy="365760"/>
          </a:xfrm>
          <a:prstGeom prst="rect">
            <a:avLst/>
          </a:prstGeom>
          <a:noFill/>
          <a:ln/>
        </p:spPr>
        <p:txBody>
          <a:bodyPr wrap="square" lIns="0" tIns="0" rIns="0" bIns="0" rtlCol="0" anchor="t"/>
          <a:lstStyle/>
          <a:p>
            <a:pPr marL="0" indent="0" algn="ctr">
              <a:buNone/>
            </a:pPr>
            <a:r>
              <a:rPr lang="en-US" sz="1500" b="1" dirty="0">
                <a:solidFill>
                  <a:schemeClr val="tx1"/>
                </a:solidFill>
              </a:rPr>
              <a:t>Gate</a:t>
            </a:r>
            <a:endParaRPr lang="en-US" sz="1500" dirty="0"/>
          </a:p>
        </p:txBody>
      </p:sp>
      <p:sp>
        <p:nvSpPr>
          <p:cNvPr id="39" name="Text 30"/>
          <p:cNvSpPr txBox="1"/>
          <p:nvPr/>
        </p:nvSpPr>
        <p:spPr>
          <a:xfrm>
            <a:off x="10149840" y="3675888"/>
            <a:ext cx="1444752" cy="960120"/>
          </a:xfrm>
          <a:prstGeom prst="rect">
            <a:avLst/>
          </a:prstGeom>
          <a:noFill/>
          <a:ln/>
        </p:spPr>
        <p:txBody>
          <a:bodyPr wrap="square" lIns="0" tIns="0" rIns="0" bIns="0" rtlCol="0" anchor="t"/>
          <a:lstStyle/>
          <a:p>
            <a:pPr marL="0" indent="0" algn="ctr">
              <a:buNone/>
            </a:pPr>
            <a:r>
              <a:rPr lang="en-US" sz="1100" dirty="0">
                <a:solidFill>
                  <a:schemeClr val="tx2"/>
                </a:solidFill>
              </a:rPr>
              <a:t>Zone H: named human holder only; AI and services refused</a:t>
            </a:r>
            <a:endParaRPr lang="en-US" sz="1100" dirty="0"/>
          </a:p>
        </p:txBody>
      </p:sp>
      <p:sp>
        <p:nvSpPr>
          <p:cNvPr id="40" name="card"/>
          <p:cNvSpPr/>
          <p:nvPr/>
        </p:nvSpPr>
        <p:spPr>
          <a:xfrm>
            <a:off x="457200" y="4983480"/>
            <a:ext cx="11274552" cy="1097280"/>
          </a:xfrm>
          <a:prstGeom prst="roundRect">
            <a:avLst>
              <a:gd name="adj" fmla="val 6667"/>
            </a:avLst>
          </a:prstGeom>
          <a:solidFill>
            <a:srgbClr val="F6F6F6"/>
          </a:solidFill>
          <a:ln w="9525">
            <a:solidFill>
              <a:srgbClr val="F6F6F6"/>
            </a:solidFill>
            <a:prstDash val="solid"/>
          </a:ln>
        </p:spPr>
      </p:sp>
      <p:sp>
        <p:nvSpPr>
          <p:cNvPr id="41" name="Text 32"/>
          <p:cNvSpPr txBox="1"/>
          <p:nvPr/>
        </p:nvSpPr>
        <p:spPr>
          <a:xfrm>
            <a:off x="731520" y="5166360"/>
            <a:ext cx="10789920" cy="777240"/>
          </a:xfrm>
          <a:prstGeom prst="rect">
            <a:avLst/>
          </a:prstGeom>
          <a:noFill/>
          <a:ln/>
        </p:spPr>
        <p:txBody>
          <a:bodyPr wrap="square" lIns="0" tIns="0" rIns="0" bIns="0" rtlCol="0" anchor="t"/>
          <a:lstStyle/>
          <a:p>
            <a:pPr marL="0" indent="0">
              <a:buNone/>
            </a:pPr>
            <a:r>
              <a:rPr lang="en-US" sz="1300" b="1" dirty="0">
                <a:solidFill>
                  <a:schemeClr val="accent1"/>
                </a:solidFill>
              </a:rPr>
              <a:t>Metrics read the same events.  </a:t>
            </a:r>
            <a:r>
              <a:rPr lang="en-US" sz="1300" dirty="0">
                <a:solidFill>
                  <a:schemeClr val="tx1"/>
                </a:solidFill>
              </a:rPr>
              <a:t>Backlog, time-to-close and month-end are computed once, each tagged D-OPS, D-EVID or D-FIN. Where a definition is undecided the figure is reported as unavailable rather than guessed.</a:t>
            </a:r>
            <a:endParaRPr lang="en-US" sz="13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Technical baseline</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BEFORE: WHAT THE REPO HAD</a:t>
            </a:r>
            <a:endParaRPr lang="en-US" sz="3000" dirty="0"/>
          </a:p>
          <a:p>
            <a:pPr marL="0" indent="0" algn="l">
              <a:lnSpc>
                <a:spcPct val="95000"/>
              </a:lnSpc>
              <a:buNone/>
            </a:pPr>
            <a:r>
              <a:rPr lang="en-US" sz="3000" b="1" dirty="0">
                <a:solidFill>
                  <a:schemeClr val="accent1"/>
                </a:solidFill>
              </a:rPr>
              <a:t>FIVE CODEBASES, THREE RULE COPIES</a:t>
            </a:r>
            <a:endParaRPr lang="en-US" sz="3000" dirty="0"/>
          </a:p>
        </p:txBody>
      </p:sp>
      <p:sp>
        <p:nvSpPr>
          <p:cNvPr id="5" name="Text 2"/>
          <p:cNvSpPr txBox="1"/>
          <p:nvPr/>
        </p:nvSpPr>
        <p:spPr>
          <a:xfrm>
            <a:off x="457200" y="2103120"/>
            <a:ext cx="2011680" cy="228600"/>
          </a:xfrm>
          <a:prstGeom prst="rect">
            <a:avLst/>
          </a:prstGeom>
          <a:noFill/>
          <a:ln/>
        </p:spPr>
        <p:txBody>
          <a:bodyPr wrap="square" lIns="0" tIns="0" rIns="0" bIns="0" rtlCol="0" anchor="t"/>
          <a:lstStyle/>
          <a:p>
            <a:pPr marL="0" indent="0">
              <a:buNone/>
            </a:pPr>
            <a:r>
              <a:rPr lang="en-US" sz="1000" b="1" kern="0" spc="100" dirty="0">
                <a:solidFill>
                  <a:schemeClr val="accent3"/>
                </a:solidFill>
              </a:rPr>
              <a:t>SOURCES</a:t>
            </a:r>
            <a:endParaRPr lang="en-US" sz="1000" dirty="0"/>
          </a:p>
        </p:txBody>
      </p:sp>
      <p:sp>
        <p:nvSpPr>
          <p:cNvPr id="6" name="diagram-box"/>
          <p:cNvSpPr/>
          <p:nvPr/>
        </p:nvSpPr>
        <p:spPr>
          <a:xfrm>
            <a:off x="457200" y="2377440"/>
            <a:ext cx="2011680" cy="713232"/>
          </a:xfrm>
          <a:prstGeom prst="roundRect">
            <a:avLst>
              <a:gd name="adj" fmla="val 7692"/>
            </a:avLst>
          </a:prstGeom>
          <a:solidFill>
            <a:srgbClr val="F6F6F6"/>
          </a:solidFill>
          <a:ln w="12700">
            <a:solidFill>
              <a:srgbClr val="E6E6E6"/>
            </a:solidFill>
            <a:prstDash val="solid"/>
          </a:ln>
        </p:spPr>
      </p:sp>
      <p:sp>
        <p:nvSpPr>
          <p:cNvPr id="7" name="Text 4"/>
          <p:cNvSpPr txBox="1"/>
          <p:nvPr/>
        </p:nvSpPr>
        <p:spPr>
          <a:xfrm>
            <a:off x="548640" y="2432304"/>
            <a:ext cx="1828800" cy="603504"/>
          </a:xfrm>
          <a:prstGeom prst="rect">
            <a:avLst/>
          </a:prstGeom>
          <a:noFill/>
          <a:ln/>
        </p:spPr>
        <p:txBody>
          <a:bodyPr wrap="square" lIns="0" tIns="0" rIns="0" bIns="0" rtlCol="0" anchor="ctr"/>
          <a:lstStyle/>
          <a:p>
            <a:pPr marL="0" indent="0" algn="ctr">
              <a:buNone/>
            </a:pPr>
            <a:r>
              <a:rPr lang="en-US" sz="1200" b="1" dirty="0">
                <a:solidFill>
                  <a:srgbClr val="2B2B2B"/>
                </a:solidFill>
              </a:rPr>
              <a:t>Partner feeds</a:t>
            </a:r>
            <a:endParaRPr lang="en-US" sz="1400" dirty="0"/>
          </a:p>
          <a:p>
            <a:pPr marL="0" indent="0" algn="ctr">
              <a:buNone/>
            </a:pPr>
            <a:r>
              <a:rPr lang="en-US" sz="1000" dirty="0">
                <a:solidFill>
                  <a:srgbClr val="4D4D4D"/>
                </a:solidFill>
              </a:rPr>
              <a:t>8,567 rows · replays</a:t>
            </a:r>
            <a:endParaRPr lang="en-US" sz="1400" dirty="0"/>
          </a:p>
        </p:txBody>
      </p:sp>
      <p:sp>
        <p:nvSpPr>
          <p:cNvPr id="8" name="diagram-box"/>
          <p:cNvSpPr/>
          <p:nvPr/>
        </p:nvSpPr>
        <p:spPr>
          <a:xfrm>
            <a:off x="457200" y="3246120"/>
            <a:ext cx="2011680" cy="713232"/>
          </a:xfrm>
          <a:prstGeom prst="roundRect">
            <a:avLst>
              <a:gd name="adj" fmla="val 7692"/>
            </a:avLst>
          </a:prstGeom>
          <a:solidFill>
            <a:srgbClr val="F6F6F6"/>
          </a:solidFill>
          <a:ln w="12700">
            <a:solidFill>
              <a:srgbClr val="E6E6E6"/>
            </a:solidFill>
            <a:prstDash val="solid"/>
          </a:ln>
        </p:spPr>
      </p:sp>
      <p:sp>
        <p:nvSpPr>
          <p:cNvPr id="9" name="Text 6"/>
          <p:cNvSpPr txBox="1"/>
          <p:nvPr/>
        </p:nvSpPr>
        <p:spPr>
          <a:xfrm>
            <a:off x="548640" y="3300984"/>
            <a:ext cx="1828800" cy="603504"/>
          </a:xfrm>
          <a:prstGeom prst="rect">
            <a:avLst/>
          </a:prstGeom>
          <a:noFill/>
          <a:ln/>
        </p:spPr>
        <p:txBody>
          <a:bodyPr wrap="square" lIns="0" tIns="0" rIns="0" bIns="0" rtlCol="0" anchor="ctr"/>
          <a:lstStyle/>
          <a:p>
            <a:pPr marL="0" indent="0" algn="ctr">
              <a:buNone/>
            </a:pPr>
            <a:r>
              <a:rPr lang="en-US" sz="1200" b="1" dirty="0">
                <a:solidFill>
                  <a:srgbClr val="2B2B2B"/>
                </a:solidFill>
              </a:rPr>
              <a:t>Gateway inbox</a:t>
            </a:r>
            <a:endParaRPr lang="en-US" sz="1400" dirty="0"/>
          </a:p>
          <a:p>
            <a:pPr marL="0" indent="0" algn="ctr">
              <a:buNone/>
            </a:pPr>
            <a:r>
              <a:rPr lang="en-US" sz="1000" dirty="0">
                <a:solidFill>
                  <a:srgbClr val="4D4D4D"/>
                </a:solidFill>
              </a:rPr>
              <a:t>MES / LIMS / QMS</a:t>
            </a:r>
            <a:endParaRPr lang="en-US" sz="1400" dirty="0"/>
          </a:p>
        </p:txBody>
      </p:sp>
      <p:sp>
        <p:nvSpPr>
          <p:cNvPr id="10" name="diagram-box"/>
          <p:cNvSpPr/>
          <p:nvPr/>
        </p:nvSpPr>
        <p:spPr>
          <a:xfrm>
            <a:off x="457200" y="4114800"/>
            <a:ext cx="2011680" cy="713232"/>
          </a:xfrm>
          <a:prstGeom prst="roundRect">
            <a:avLst>
              <a:gd name="adj" fmla="val 7692"/>
            </a:avLst>
          </a:prstGeom>
          <a:solidFill>
            <a:srgbClr val="F6F6F6"/>
          </a:solidFill>
          <a:ln w="12700">
            <a:solidFill>
              <a:srgbClr val="E6E6E6"/>
            </a:solidFill>
            <a:prstDash val="solid"/>
          </a:ln>
        </p:spPr>
      </p:sp>
      <p:sp>
        <p:nvSpPr>
          <p:cNvPr id="11" name="Text 8"/>
          <p:cNvSpPr txBox="1"/>
          <p:nvPr/>
        </p:nvSpPr>
        <p:spPr>
          <a:xfrm>
            <a:off x="548640" y="4169664"/>
            <a:ext cx="1828800" cy="603504"/>
          </a:xfrm>
          <a:prstGeom prst="rect">
            <a:avLst/>
          </a:prstGeom>
          <a:noFill/>
          <a:ln/>
        </p:spPr>
        <p:txBody>
          <a:bodyPr wrap="square" lIns="0" tIns="0" rIns="0" bIns="0" rtlCol="0" anchor="ctr"/>
          <a:lstStyle/>
          <a:p>
            <a:pPr marL="0" indent="0" algn="ctr">
              <a:buNone/>
            </a:pPr>
            <a:r>
              <a:rPr lang="en-US" sz="1200" b="1" dirty="0">
                <a:solidFill>
                  <a:srgbClr val="2B2B2B"/>
                </a:solidFill>
              </a:rPr>
              <a:t>Vendor CSV</a:t>
            </a:r>
            <a:endParaRPr lang="en-US" sz="1400" dirty="0"/>
          </a:p>
          <a:p>
            <a:pPr marL="0" indent="0" algn="ctr">
              <a:buNone/>
            </a:pPr>
            <a:r>
              <a:rPr lang="en-US" sz="1000" dirty="0">
                <a:solidFill>
                  <a:srgbClr val="4D4D4D"/>
                </a:solidFill>
              </a:rPr>
              <a:t>2,400 rows</a:t>
            </a:r>
            <a:endParaRPr lang="en-US" sz="1400" dirty="0"/>
          </a:p>
        </p:txBody>
      </p:sp>
      <p:sp>
        <p:nvSpPr>
          <p:cNvPr id="12" name="diagram-box"/>
          <p:cNvSpPr/>
          <p:nvPr/>
        </p:nvSpPr>
        <p:spPr>
          <a:xfrm>
            <a:off x="457200" y="4983480"/>
            <a:ext cx="2011680" cy="713232"/>
          </a:xfrm>
          <a:prstGeom prst="roundRect">
            <a:avLst>
              <a:gd name="adj" fmla="val 7692"/>
            </a:avLst>
          </a:prstGeom>
          <a:solidFill>
            <a:srgbClr val="F6F6F6"/>
          </a:solidFill>
          <a:ln w="12700">
            <a:solidFill>
              <a:srgbClr val="E6E6E6"/>
            </a:solidFill>
            <a:prstDash val="solid"/>
          </a:ln>
        </p:spPr>
      </p:sp>
      <p:sp>
        <p:nvSpPr>
          <p:cNvPr id="13" name="Text 10"/>
          <p:cNvSpPr txBox="1"/>
          <p:nvPr/>
        </p:nvSpPr>
        <p:spPr>
          <a:xfrm>
            <a:off x="548640" y="5038344"/>
            <a:ext cx="1828800" cy="603504"/>
          </a:xfrm>
          <a:prstGeom prst="rect">
            <a:avLst/>
          </a:prstGeom>
          <a:noFill/>
          <a:ln/>
        </p:spPr>
        <p:txBody>
          <a:bodyPr wrap="square" lIns="0" tIns="0" rIns="0" bIns="0" rtlCol="0" anchor="ctr"/>
          <a:lstStyle/>
          <a:p>
            <a:pPr marL="0" indent="0" algn="ctr">
              <a:buNone/>
            </a:pPr>
            <a:r>
              <a:rPr lang="en-US" sz="1200" b="1" dirty="0">
                <a:solidFill>
                  <a:srgbClr val="2B2B2B"/>
                </a:solidFill>
              </a:rPr>
              <a:t>Documents</a:t>
            </a:r>
            <a:endParaRPr lang="en-US" sz="1400" dirty="0"/>
          </a:p>
          <a:p>
            <a:pPr marL="0" indent="0" algn="ctr">
              <a:buNone/>
            </a:pPr>
            <a:r>
              <a:rPr lang="en-US" sz="1000" dirty="0">
                <a:solidFill>
                  <a:srgbClr val="4D4D4D"/>
                </a:solidFill>
              </a:rPr>
              <a:t>1,200 archive items</a:t>
            </a:r>
            <a:endParaRPr lang="en-US" sz="1400" dirty="0"/>
          </a:p>
        </p:txBody>
      </p:sp>
      <p:sp>
        <p:nvSpPr>
          <p:cNvPr id="14" name="Text 11"/>
          <p:cNvSpPr txBox="1"/>
          <p:nvPr/>
        </p:nvSpPr>
        <p:spPr>
          <a:xfrm>
            <a:off x="3017520" y="2103120"/>
            <a:ext cx="4937760" cy="228600"/>
          </a:xfrm>
          <a:prstGeom prst="rect">
            <a:avLst/>
          </a:prstGeom>
          <a:noFill/>
          <a:ln/>
        </p:spPr>
        <p:txBody>
          <a:bodyPr wrap="square" lIns="0" tIns="0" rIns="0" bIns="0" rtlCol="0" anchor="t"/>
          <a:lstStyle/>
          <a:p>
            <a:pPr marL="0" indent="0">
              <a:buNone/>
            </a:pPr>
            <a:r>
              <a:rPr lang="en-US" sz="1000" b="1" kern="0" spc="100" dirty="0">
                <a:solidFill>
                  <a:schemeClr val="accent3"/>
                </a:solidFill>
              </a:rPr>
              <a:t>LEGACY CODE (as imported)</a:t>
            </a:r>
            <a:endParaRPr lang="en-US" sz="1000" dirty="0"/>
          </a:p>
        </p:txBody>
      </p:sp>
      <p:sp>
        <p:nvSpPr>
          <p:cNvPr id="15" name="diagram-box"/>
          <p:cNvSpPr/>
          <p:nvPr/>
        </p:nvSpPr>
        <p:spPr>
          <a:xfrm>
            <a:off x="3017520" y="2377440"/>
            <a:ext cx="2377440" cy="960120"/>
          </a:xfrm>
          <a:prstGeom prst="roundRect">
            <a:avLst>
              <a:gd name="adj" fmla="val 5714"/>
            </a:avLst>
          </a:prstGeom>
          <a:solidFill>
            <a:srgbClr val="FFFFFF"/>
          </a:solidFill>
          <a:ln w="12700">
            <a:solidFill>
              <a:srgbClr val="C9C9C9"/>
            </a:solidFill>
            <a:prstDash val="solid"/>
          </a:ln>
        </p:spPr>
      </p:sp>
      <p:sp>
        <p:nvSpPr>
          <p:cNvPr id="16" name="Text 13"/>
          <p:cNvSpPr txBox="1"/>
          <p:nvPr/>
        </p:nvSpPr>
        <p:spPr>
          <a:xfrm>
            <a:off x="3108960" y="2432304"/>
            <a:ext cx="2194560" cy="850392"/>
          </a:xfrm>
          <a:prstGeom prst="rect">
            <a:avLst/>
          </a:prstGeom>
          <a:noFill/>
          <a:ln/>
        </p:spPr>
        <p:txBody>
          <a:bodyPr wrap="square" lIns="0" tIns="0" rIns="0" bIns="0" rtlCol="0" anchor="ctr"/>
          <a:lstStyle/>
          <a:p>
            <a:pPr marL="0" indent="0" algn="ctr">
              <a:buNone/>
            </a:pPr>
            <a:r>
              <a:rPr lang="en-US" sz="1200" b="1" dirty="0">
                <a:solidFill>
                  <a:srgbClr val="2B2B2B"/>
                </a:solidFill>
              </a:rPr>
              <a:t>app/ JSON API</a:t>
            </a:r>
            <a:endParaRPr lang="en-US" sz="1400" dirty="0"/>
          </a:p>
          <a:p>
            <a:pPr marL="0" indent="0" algn="ctr">
              <a:buNone/>
            </a:pPr>
            <a:r>
              <a:rPr lang="en-US" sz="1000" dirty="0">
                <a:solidFill>
                  <a:srgbClr val="4D4D4D"/>
                </a:solidFill>
              </a:rPr>
              <a:t>Python · 18 files · 552 lines · Docker 0.0.0.0:8080 · no login</a:t>
            </a:r>
            <a:endParaRPr lang="en-US" sz="1400" dirty="0"/>
          </a:p>
        </p:txBody>
      </p:sp>
      <p:sp>
        <p:nvSpPr>
          <p:cNvPr id="17" name="diagram-box"/>
          <p:cNvSpPr/>
          <p:nvPr/>
        </p:nvSpPr>
        <p:spPr>
          <a:xfrm>
            <a:off x="5577840" y="2377440"/>
            <a:ext cx="2377440" cy="960120"/>
          </a:xfrm>
          <a:prstGeom prst="roundRect">
            <a:avLst>
              <a:gd name="adj" fmla="val 5714"/>
            </a:avLst>
          </a:prstGeom>
          <a:solidFill>
            <a:srgbClr val="FFFFFF"/>
          </a:solidFill>
          <a:ln w="12700">
            <a:solidFill>
              <a:srgbClr val="C9C9C9"/>
            </a:solidFill>
            <a:prstDash val="solid"/>
          </a:ln>
        </p:spPr>
      </p:sp>
      <p:sp>
        <p:nvSpPr>
          <p:cNvPr id="18" name="Text 15"/>
          <p:cNvSpPr txBox="1"/>
          <p:nvPr/>
        </p:nvSpPr>
        <p:spPr>
          <a:xfrm>
            <a:off x="5669280" y="2432304"/>
            <a:ext cx="2194560" cy="850392"/>
          </a:xfrm>
          <a:prstGeom prst="rect">
            <a:avLst/>
          </a:prstGeom>
          <a:noFill/>
          <a:ln/>
        </p:spPr>
        <p:txBody>
          <a:bodyPr wrap="square" lIns="0" tIns="0" rIns="0" bIns="0" rtlCol="0" anchor="ctr"/>
          <a:lstStyle/>
          <a:p>
            <a:pPr marL="0" indent="0" algn="ctr">
              <a:buNone/>
            </a:pPr>
            <a:r>
              <a:rPr lang="en-US" sz="1200" b="1" dirty="0">
                <a:solidFill>
                  <a:srgbClr val="2B2B2B"/>
                </a:solidFill>
              </a:rPr>
              <a:t>services/source_gateway</a:t>
            </a:r>
            <a:endParaRPr lang="en-US" sz="1400" dirty="0"/>
          </a:p>
          <a:p>
            <a:pPr marL="0" indent="0" algn="ctr">
              <a:buNone/>
            </a:pPr>
            <a:r>
              <a:rPr lang="en-US" sz="1000" dirty="0">
                <a:solidFill>
                  <a:srgbClr val="4D4D4D"/>
                </a:solidFill>
              </a:rPr>
              <a:t>Python HTTP service :8090 · pulls partner data</a:t>
            </a:r>
            <a:endParaRPr lang="en-US" sz="1400" dirty="0"/>
          </a:p>
        </p:txBody>
      </p:sp>
      <p:sp>
        <p:nvSpPr>
          <p:cNvPr id="19" name="diagram-box"/>
          <p:cNvSpPr/>
          <p:nvPr/>
        </p:nvSpPr>
        <p:spPr>
          <a:xfrm>
            <a:off x="3017520" y="3520440"/>
            <a:ext cx="2377440" cy="960120"/>
          </a:xfrm>
          <a:prstGeom prst="roundRect">
            <a:avLst>
              <a:gd name="adj" fmla="val 5714"/>
            </a:avLst>
          </a:prstGeom>
          <a:solidFill>
            <a:srgbClr val="FFFFFF"/>
          </a:solidFill>
          <a:ln w="12700">
            <a:solidFill>
              <a:srgbClr val="C9C9C9"/>
            </a:solidFill>
            <a:prstDash val="solid"/>
          </a:ln>
        </p:spPr>
      </p:sp>
      <p:sp>
        <p:nvSpPr>
          <p:cNvPr id="20" name="Text 17"/>
          <p:cNvSpPr txBox="1"/>
          <p:nvPr/>
        </p:nvSpPr>
        <p:spPr>
          <a:xfrm>
            <a:off x="3108960" y="3575304"/>
            <a:ext cx="2194560" cy="850392"/>
          </a:xfrm>
          <a:prstGeom prst="rect">
            <a:avLst/>
          </a:prstGeom>
          <a:noFill/>
          <a:ln/>
        </p:spPr>
        <p:txBody>
          <a:bodyPr wrap="square" lIns="0" tIns="0" rIns="0" bIns="0" rtlCol="0" anchor="ctr"/>
          <a:lstStyle/>
          <a:p>
            <a:pPr marL="0" indent="0" algn="ctr">
              <a:buNone/>
            </a:pPr>
            <a:r>
              <a:rPr lang="en-US" sz="1200" b="1" dirty="0">
                <a:solidFill>
                  <a:srgbClr val="2B2B2B"/>
                </a:solidFill>
              </a:rPr>
              <a:t>legacy_batch/</a:t>
            </a:r>
            <a:endParaRPr lang="en-US" sz="1400" dirty="0"/>
          </a:p>
          <a:p>
            <a:pPr marL="0" indent="0" algn="ctr">
              <a:buNone/>
            </a:pPr>
            <a:r>
              <a:rPr lang="en-US" sz="1000" dirty="0">
                <a:solidFill>
                  <a:srgbClr val="4D4D4D"/>
                </a:solidFill>
              </a:rPr>
              <a:t>night-shift reconciliation · treats REVIEW as open</a:t>
            </a:r>
            <a:endParaRPr lang="en-US" sz="1400" dirty="0"/>
          </a:p>
        </p:txBody>
      </p:sp>
      <p:sp>
        <p:nvSpPr>
          <p:cNvPr id="21" name="diagram-box"/>
          <p:cNvSpPr/>
          <p:nvPr/>
        </p:nvSpPr>
        <p:spPr>
          <a:xfrm>
            <a:off x="5577840" y="3520440"/>
            <a:ext cx="2377440" cy="960120"/>
          </a:xfrm>
          <a:prstGeom prst="roundRect">
            <a:avLst>
              <a:gd name="adj" fmla="val 5714"/>
            </a:avLst>
          </a:prstGeom>
          <a:solidFill>
            <a:srgbClr val="FFFFFF"/>
          </a:solidFill>
          <a:ln w="12700">
            <a:solidFill>
              <a:srgbClr val="C9C9C9"/>
            </a:solidFill>
            <a:prstDash val="solid"/>
          </a:ln>
        </p:spPr>
      </p:sp>
      <p:sp>
        <p:nvSpPr>
          <p:cNvPr id="22" name="Text 19"/>
          <p:cNvSpPr txBox="1"/>
          <p:nvPr/>
        </p:nvSpPr>
        <p:spPr>
          <a:xfrm>
            <a:off x="5669280" y="3575304"/>
            <a:ext cx="2194560" cy="850392"/>
          </a:xfrm>
          <a:prstGeom prst="rect">
            <a:avLst/>
          </a:prstGeom>
          <a:noFill/>
          <a:ln/>
        </p:spPr>
        <p:txBody>
          <a:bodyPr wrap="square" lIns="0" tIns="0" rIns="0" bIns="0" rtlCol="0" anchor="ctr"/>
          <a:lstStyle/>
          <a:p>
            <a:pPr marL="0" indent="0" algn="ctr">
              <a:buNone/>
            </a:pPr>
            <a:r>
              <a:rPr lang="en-US" sz="1200" b="1" dirty="0">
                <a:solidFill>
                  <a:srgbClr val="2B2B2B"/>
                </a:solidFill>
              </a:rPr>
              <a:t>legacy_java/</a:t>
            </a:r>
            <a:endParaRPr lang="en-US" sz="1400" dirty="0"/>
          </a:p>
          <a:p>
            <a:pPr marL="0" indent="0" algn="ctr">
              <a:buNone/>
            </a:pPr>
            <a:r>
              <a:rPr lang="en-US" sz="1000" dirty="0">
                <a:solidFill>
                  <a:srgbClr val="4D4D4D"/>
                </a:solidFill>
              </a:rPr>
              <a:t>ReconcileLegacy.java · month-end in floating point</a:t>
            </a:r>
            <a:endParaRPr lang="en-US" sz="1400" dirty="0"/>
          </a:p>
        </p:txBody>
      </p:sp>
      <p:sp>
        <p:nvSpPr>
          <p:cNvPr id="23" name="diagram-box"/>
          <p:cNvSpPr/>
          <p:nvPr/>
        </p:nvSpPr>
        <p:spPr>
          <a:xfrm>
            <a:off x="3017520" y="4663440"/>
            <a:ext cx="2377440" cy="960120"/>
          </a:xfrm>
          <a:prstGeom prst="roundRect">
            <a:avLst>
              <a:gd name="adj" fmla="val 5714"/>
            </a:avLst>
          </a:prstGeom>
          <a:solidFill>
            <a:srgbClr val="FFFFFF"/>
          </a:solidFill>
          <a:ln w="12700">
            <a:solidFill>
              <a:srgbClr val="C9C9C9"/>
            </a:solidFill>
            <a:prstDash val="solid"/>
          </a:ln>
        </p:spPr>
      </p:sp>
      <p:sp>
        <p:nvSpPr>
          <p:cNvPr id="24" name="Text 21"/>
          <p:cNvSpPr txBox="1"/>
          <p:nvPr/>
        </p:nvSpPr>
        <p:spPr>
          <a:xfrm>
            <a:off x="3108960" y="4718304"/>
            <a:ext cx="2194560" cy="850392"/>
          </a:xfrm>
          <a:prstGeom prst="rect">
            <a:avLst/>
          </a:prstGeom>
          <a:noFill/>
          <a:ln/>
        </p:spPr>
        <p:txBody>
          <a:bodyPr wrap="square" lIns="0" tIns="0" rIns="0" bIns="0" rtlCol="0" anchor="ctr"/>
          <a:lstStyle/>
          <a:p>
            <a:pPr marL="0" indent="0" algn="ctr">
              <a:buNone/>
            </a:pPr>
            <a:r>
              <a:rPr lang="en-US" sz="1200" b="1" dirty="0">
                <a:solidFill>
                  <a:srgbClr val="2B2B2B"/>
                </a:solidFill>
              </a:rPr>
              <a:t>legacy_js/</a:t>
            </a:r>
            <a:endParaRPr lang="en-US" sz="1400" dirty="0"/>
          </a:p>
          <a:p>
            <a:pPr marL="0" indent="0" algn="ctr">
              <a:buNone/>
            </a:pPr>
            <a:r>
              <a:rPr lang="en-US" sz="1000" dirty="0">
                <a:solidFill>
                  <a:srgbClr val="4D4D4D"/>
                </a:solidFill>
              </a:rPr>
              <a:t>front-end approval threshold · 999,999 default · ×1.05</a:t>
            </a:r>
            <a:endParaRPr lang="en-US" sz="1400" dirty="0"/>
          </a:p>
        </p:txBody>
      </p:sp>
      <p:sp>
        <p:nvSpPr>
          <p:cNvPr id="25" name="diagram-box"/>
          <p:cNvSpPr/>
          <p:nvPr/>
        </p:nvSpPr>
        <p:spPr>
          <a:xfrm>
            <a:off x="5577840" y="4663440"/>
            <a:ext cx="2377440" cy="960120"/>
          </a:xfrm>
          <a:prstGeom prst="roundRect">
            <a:avLst>
              <a:gd name="adj" fmla="val 5714"/>
            </a:avLst>
          </a:prstGeom>
          <a:solidFill>
            <a:srgbClr val="FFFFFF"/>
          </a:solidFill>
          <a:ln w="12700">
            <a:solidFill>
              <a:srgbClr val="C9C9C9"/>
            </a:solidFill>
            <a:prstDash val="solid"/>
          </a:ln>
        </p:spPr>
      </p:sp>
      <p:sp>
        <p:nvSpPr>
          <p:cNvPr id="26" name="Text 23"/>
          <p:cNvSpPr txBox="1"/>
          <p:nvPr/>
        </p:nvSpPr>
        <p:spPr>
          <a:xfrm>
            <a:off x="5669280" y="4718304"/>
            <a:ext cx="2194560" cy="850392"/>
          </a:xfrm>
          <a:prstGeom prst="rect">
            <a:avLst/>
          </a:prstGeom>
          <a:noFill/>
          <a:ln/>
        </p:spPr>
        <p:txBody>
          <a:bodyPr wrap="square" lIns="0" tIns="0" rIns="0" bIns="0" rtlCol="0" anchor="ctr"/>
          <a:lstStyle/>
          <a:p>
            <a:pPr marL="0" indent="0" algn="ctr">
              <a:buNone/>
            </a:pPr>
            <a:r>
              <a:rPr lang="en-US" sz="1200" b="1" dirty="0">
                <a:solidFill>
                  <a:srgbClr val="2B2B2B"/>
                </a:solidFill>
              </a:rPr>
              <a:t>app/legacy_logic.py</a:t>
            </a:r>
            <a:endParaRPr lang="en-US" sz="1400" dirty="0"/>
          </a:p>
          <a:p>
            <a:pPr marL="0" indent="0" algn="ctr">
              <a:buNone/>
            </a:pPr>
            <a:r>
              <a:rPr lang="en-US" sz="1000" dirty="0">
                <a:solidFill>
                  <a:srgbClr val="4D4D4D"/>
                </a:solidFill>
              </a:rPr>
              <a:t>server priority + manual-review rule</a:t>
            </a:r>
            <a:endParaRPr lang="en-US" sz="1400" dirty="0"/>
          </a:p>
        </p:txBody>
      </p:sp>
      <p:sp>
        <p:nvSpPr>
          <p:cNvPr id="27" name="Shape 24"/>
          <p:cNvSpPr/>
          <p:nvPr/>
        </p:nvSpPr>
        <p:spPr>
          <a:xfrm>
            <a:off x="4800600" y="2404872"/>
            <a:ext cx="566928" cy="219456"/>
          </a:xfrm>
          <a:prstGeom prst="roundRect">
            <a:avLst>
              <a:gd name="adj" fmla="val 20833"/>
            </a:avLst>
          </a:prstGeom>
          <a:solidFill>
            <a:srgbClr val="E1251B"/>
          </a:solidFill>
          <a:ln w="12700">
            <a:solidFill>
              <a:srgbClr val="E1251B"/>
            </a:solidFill>
            <a:prstDash val="solid"/>
          </a:ln>
        </p:spPr>
      </p:sp>
      <p:sp>
        <p:nvSpPr>
          <p:cNvPr id="28" name="Text 25"/>
          <p:cNvSpPr txBox="1"/>
          <p:nvPr/>
        </p:nvSpPr>
        <p:spPr>
          <a:xfrm>
            <a:off x="4800600" y="2404872"/>
            <a:ext cx="566928" cy="219456"/>
          </a:xfrm>
          <a:prstGeom prst="rect">
            <a:avLst/>
          </a:prstGeom>
          <a:noFill/>
          <a:ln/>
        </p:spPr>
        <p:txBody>
          <a:bodyPr wrap="square" lIns="0" tIns="0" rIns="0" bIns="0" rtlCol="0" anchor="ctr"/>
          <a:lstStyle/>
          <a:p>
            <a:pPr marL="0" indent="0" algn="ctr">
              <a:buNone/>
            </a:pPr>
            <a:r>
              <a:rPr lang="en-US" sz="900" b="1" dirty="0">
                <a:solidFill>
                  <a:schemeClr val="bg1"/>
                </a:solidFill>
              </a:rPr>
              <a:t>RC-8</a:t>
            </a:r>
            <a:endParaRPr lang="en-US" sz="900" dirty="0"/>
          </a:p>
        </p:txBody>
      </p:sp>
      <p:sp>
        <p:nvSpPr>
          <p:cNvPr id="29" name="Shape 26"/>
          <p:cNvSpPr/>
          <p:nvPr/>
        </p:nvSpPr>
        <p:spPr>
          <a:xfrm>
            <a:off x="7360920" y="3547872"/>
            <a:ext cx="566928" cy="219456"/>
          </a:xfrm>
          <a:prstGeom prst="roundRect">
            <a:avLst>
              <a:gd name="adj" fmla="val 20833"/>
            </a:avLst>
          </a:prstGeom>
          <a:solidFill>
            <a:srgbClr val="E1251B"/>
          </a:solidFill>
          <a:ln w="12700">
            <a:solidFill>
              <a:srgbClr val="E1251B"/>
            </a:solidFill>
            <a:prstDash val="solid"/>
          </a:ln>
        </p:spPr>
      </p:sp>
      <p:sp>
        <p:nvSpPr>
          <p:cNvPr id="30" name="Text 27"/>
          <p:cNvSpPr txBox="1"/>
          <p:nvPr/>
        </p:nvSpPr>
        <p:spPr>
          <a:xfrm>
            <a:off x="7360920" y="3547872"/>
            <a:ext cx="566928" cy="219456"/>
          </a:xfrm>
          <a:prstGeom prst="rect">
            <a:avLst/>
          </a:prstGeom>
          <a:noFill/>
          <a:ln/>
        </p:spPr>
        <p:txBody>
          <a:bodyPr wrap="square" lIns="0" tIns="0" rIns="0" bIns="0" rtlCol="0" anchor="ctr"/>
          <a:lstStyle/>
          <a:p>
            <a:pPr marL="0" indent="0" algn="ctr">
              <a:buNone/>
            </a:pPr>
            <a:r>
              <a:rPr lang="en-US" sz="900" b="1" dirty="0">
                <a:solidFill>
                  <a:schemeClr val="bg1"/>
                </a:solidFill>
              </a:rPr>
              <a:t>RC-8</a:t>
            </a:r>
            <a:endParaRPr lang="en-US" sz="900" dirty="0"/>
          </a:p>
        </p:txBody>
      </p:sp>
      <p:sp>
        <p:nvSpPr>
          <p:cNvPr id="31" name="Shape 28"/>
          <p:cNvSpPr/>
          <p:nvPr/>
        </p:nvSpPr>
        <p:spPr>
          <a:xfrm>
            <a:off x="4800600" y="3547872"/>
            <a:ext cx="566928" cy="219456"/>
          </a:xfrm>
          <a:prstGeom prst="roundRect">
            <a:avLst>
              <a:gd name="adj" fmla="val 20833"/>
            </a:avLst>
          </a:prstGeom>
          <a:solidFill>
            <a:srgbClr val="E1251B"/>
          </a:solidFill>
          <a:ln w="12700">
            <a:solidFill>
              <a:srgbClr val="E1251B"/>
            </a:solidFill>
            <a:prstDash val="solid"/>
          </a:ln>
        </p:spPr>
      </p:sp>
      <p:sp>
        <p:nvSpPr>
          <p:cNvPr id="32" name="Text 29"/>
          <p:cNvSpPr txBox="1"/>
          <p:nvPr/>
        </p:nvSpPr>
        <p:spPr>
          <a:xfrm>
            <a:off x="4800600" y="3547872"/>
            <a:ext cx="566928" cy="219456"/>
          </a:xfrm>
          <a:prstGeom prst="rect">
            <a:avLst/>
          </a:prstGeom>
          <a:noFill/>
          <a:ln/>
        </p:spPr>
        <p:txBody>
          <a:bodyPr wrap="square" lIns="0" tIns="0" rIns="0" bIns="0" rtlCol="0" anchor="ctr"/>
          <a:lstStyle/>
          <a:p>
            <a:pPr marL="0" indent="0" algn="ctr">
              <a:buNone/>
            </a:pPr>
            <a:r>
              <a:rPr lang="en-US" sz="900" b="1" dirty="0">
                <a:solidFill>
                  <a:schemeClr val="bg1"/>
                </a:solidFill>
              </a:rPr>
              <a:t>RC-5</a:t>
            </a:r>
            <a:endParaRPr lang="en-US" sz="900" dirty="0"/>
          </a:p>
        </p:txBody>
      </p:sp>
      <p:sp>
        <p:nvSpPr>
          <p:cNvPr id="33" name="Shape 30"/>
          <p:cNvSpPr/>
          <p:nvPr/>
        </p:nvSpPr>
        <p:spPr>
          <a:xfrm>
            <a:off x="4800600" y="4690872"/>
            <a:ext cx="566928" cy="219456"/>
          </a:xfrm>
          <a:prstGeom prst="roundRect">
            <a:avLst>
              <a:gd name="adj" fmla="val 20833"/>
            </a:avLst>
          </a:prstGeom>
          <a:solidFill>
            <a:srgbClr val="E1251B"/>
          </a:solidFill>
          <a:ln w="12700">
            <a:solidFill>
              <a:srgbClr val="E1251B"/>
            </a:solidFill>
            <a:prstDash val="solid"/>
          </a:ln>
        </p:spPr>
      </p:sp>
      <p:sp>
        <p:nvSpPr>
          <p:cNvPr id="34" name="Text 31"/>
          <p:cNvSpPr txBox="1"/>
          <p:nvPr/>
        </p:nvSpPr>
        <p:spPr>
          <a:xfrm>
            <a:off x="4800600" y="4690872"/>
            <a:ext cx="566928" cy="219456"/>
          </a:xfrm>
          <a:prstGeom prst="rect">
            <a:avLst/>
          </a:prstGeom>
          <a:noFill/>
          <a:ln/>
        </p:spPr>
        <p:txBody>
          <a:bodyPr wrap="square" lIns="0" tIns="0" rIns="0" bIns="0" rtlCol="0" anchor="ctr"/>
          <a:lstStyle/>
          <a:p>
            <a:pPr marL="0" indent="0" algn="ctr">
              <a:buNone/>
            </a:pPr>
            <a:r>
              <a:rPr lang="en-US" sz="900" b="1" dirty="0">
                <a:solidFill>
                  <a:schemeClr val="bg1"/>
                </a:solidFill>
              </a:rPr>
              <a:t>RC-4</a:t>
            </a:r>
            <a:endParaRPr lang="en-US" sz="900" dirty="0"/>
          </a:p>
        </p:txBody>
      </p:sp>
      <p:sp>
        <p:nvSpPr>
          <p:cNvPr id="35" name="Shape 32"/>
          <p:cNvSpPr/>
          <p:nvPr/>
        </p:nvSpPr>
        <p:spPr>
          <a:xfrm>
            <a:off x="7360920" y="4690872"/>
            <a:ext cx="566928" cy="219456"/>
          </a:xfrm>
          <a:prstGeom prst="roundRect">
            <a:avLst>
              <a:gd name="adj" fmla="val 20833"/>
            </a:avLst>
          </a:prstGeom>
          <a:solidFill>
            <a:srgbClr val="E1251B"/>
          </a:solidFill>
          <a:ln w="12700">
            <a:solidFill>
              <a:srgbClr val="E1251B"/>
            </a:solidFill>
            <a:prstDash val="solid"/>
          </a:ln>
        </p:spPr>
      </p:sp>
      <p:sp>
        <p:nvSpPr>
          <p:cNvPr id="36" name="Text 33"/>
          <p:cNvSpPr txBox="1"/>
          <p:nvPr/>
        </p:nvSpPr>
        <p:spPr>
          <a:xfrm>
            <a:off x="7360920" y="4690872"/>
            <a:ext cx="566928" cy="219456"/>
          </a:xfrm>
          <a:prstGeom prst="rect">
            <a:avLst/>
          </a:prstGeom>
          <a:noFill/>
          <a:ln/>
        </p:spPr>
        <p:txBody>
          <a:bodyPr wrap="square" lIns="0" tIns="0" rIns="0" bIns="0" rtlCol="0" anchor="ctr"/>
          <a:lstStyle/>
          <a:p>
            <a:pPr marL="0" indent="0" algn="ctr">
              <a:buNone/>
            </a:pPr>
            <a:r>
              <a:rPr lang="en-US" sz="900" b="1" dirty="0">
                <a:solidFill>
                  <a:schemeClr val="bg1"/>
                </a:solidFill>
              </a:rPr>
              <a:t>RC-4</a:t>
            </a:r>
            <a:endParaRPr lang="en-US" sz="900" dirty="0"/>
          </a:p>
        </p:txBody>
      </p:sp>
      <p:sp>
        <p:nvSpPr>
          <p:cNvPr id="37" name="Shape 34"/>
          <p:cNvSpPr/>
          <p:nvPr/>
        </p:nvSpPr>
        <p:spPr>
          <a:xfrm>
            <a:off x="7360920" y="2404872"/>
            <a:ext cx="566928" cy="219456"/>
          </a:xfrm>
          <a:prstGeom prst="roundRect">
            <a:avLst>
              <a:gd name="adj" fmla="val 20833"/>
            </a:avLst>
          </a:prstGeom>
          <a:solidFill>
            <a:srgbClr val="E1251B"/>
          </a:solidFill>
          <a:ln w="12700">
            <a:solidFill>
              <a:srgbClr val="E1251B"/>
            </a:solidFill>
            <a:prstDash val="solid"/>
          </a:ln>
        </p:spPr>
      </p:sp>
      <p:sp>
        <p:nvSpPr>
          <p:cNvPr id="38" name="Text 35"/>
          <p:cNvSpPr txBox="1"/>
          <p:nvPr/>
        </p:nvSpPr>
        <p:spPr>
          <a:xfrm>
            <a:off x="7360920" y="2404872"/>
            <a:ext cx="566928" cy="219456"/>
          </a:xfrm>
          <a:prstGeom prst="rect">
            <a:avLst/>
          </a:prstGeom>
          <a:noFill/>
          <a:ln/>
        </p:spPr>
        <p:txBody>
          <a:bodyPr wrap="square" lIns="0" tIns="0" rIns="0" bIns="0" rtlCol="0" anchor="ctr"/>
          <a:lstStyle/>
          <a:p>
            <a:pPr marL="0" indent="0" algn="ctr">
              <a:buNone/>
            </a:pPr>
            <a:r>
              <a:rPr lang="en-US" sz="900" b="1" dirty="0">
                <a:solidFill>
                  <a:schemeClr val="bg1"/>
                </a:solidFill>
              </a:rPr>
              <a:t>RC-6</a:t>
            </a:r>
            <a:endParaRPr lang="en-US" sz="900" dirty="0"/>
          </a:p>
        </p:txBody>
      </p:sp>
      <p:sp>
        <p:nvSpPr>
          <p:cNvPr id="39" name="Text 36"/>
          <p:cNvSpPr txBox="1"/>
          <p:nvPr/>
        </p:nvSpPr>
        <p:spPr>
          <a:xfrm>
            <a:off x="8503920" y="2103120"/>
            <a:ext cx="3200400" cy="228600"/>
          </a:xfrm>
          <a:prstGeom prst="rect">
            <a:avLst/>
          </a:prstGeom>
          <a:noFill/>
          <a:ln/>
        </p:spPr>
        <p:txBody>
          <a:bodyPr wrap="square" lIns="0" tIns="0" rIns="0" bIns="0" rtlCol="0" anchor="t"/>
          <a:lstStyle/>
          <a:p>
            <a:pPr marL="0" indent="0">
              <a:buNone/>
            </a:pPr>
            <a:r>
              <a:rPr lang="en-US" sz="1000" b="1" kern="0" spc="100" dirty="0">
                <a:solidFill>
                  <a:schemeClr val="accent3"/>
                </a:solidFill>
              </a:rPr>
              <a:t>DATA</a:t>
            </a:r>
            <a:endParaRPr lang="en-US" sz="1000" dirty="0"/>
          </a:p>
        </p:txBody>
      </p:sp>
      <p:sp>
        <p:nvSpPr>
          <p:cNvPr id="40" name="diagram-box"/>
          <p:cNvSpPr/>
          <p:nvPr/>
        </p:nvSpPr>
        <p:spPr>
          <a:xfrm>
            <a:off x="8503920" y="2377440"/>
            <a:ext cx="3227832" cy="1417320"/>
          </a:xfrm>
          <a:prstGeom prst="roundRect">
            <a:avLst>
              <a:gd name="adj" fmla="val 3871"/>
            </a:avLst>
          </a:prstGeom>
          <a:solidFill>
            <a:srgbClr val="F6F6F6"/>
          </a:solidFill>
          <a:ln w="12700">
            <a:solidFill>
              <a:srgbClr val="9E9E9E"/>
            </a:solidFill>
            <a:prstDash val="solid"/>
          </a:ln>
        </p:spPr>
      </p:sp>
      <p:sp>
        <p:nvSpPr>
          <p:cNvPr id="41" name="Text 38"/>
          <p:cNvSpPr txBox="1"/>
          <p:nvPr/>
        </p:nvSpPr>
        <p:spPr>
          <a:xfrm>
            <a:off x="8595360" y="2432304"/>
            <a:ext cx="3044952" cy="1307592"/>
          </a:xfrm>
          <a:prstGeom prst="rect">
            <a:avLst/>
          </a:prstGeom>
          <a:noFill/>
          <a:ln/>
        </p:spPr>
        <p:txBody>
          <a:bodyPr wrap="square" lIns="0" tIns="0" rIns="0" bIns="0" rtlCol="0" anchor="ctr"/>
          <a:lstStyle/>
          <a:p>
            <a:pPr marL="0" indent="0" algn="ctr">
              <a:buNone/>
            </a:pPr>
            <a:r>
              <a:rPr lang="en-US" sz="1200" b="1" dirty="0">
                <a:solidFill>
                  <a:srgbClr val="2B2B2B"/>
                </a:solidFill>
              </a:rPr>
              <a:t>SQLite: legacy.sqlite3</a:t>
            </a:r>
            <a:endParaRPr lang="en-US" sz="1400" dirty="0"/>
          </a:p>
          <a:p>
            <a:pPr marL="0" indent="0" algn="ctr">
              <a:buNone/>
            </a:pPr>
            <a:r>
              <a:rPr lang="en-US" sz="1000" dirty="0">
                <a:solidFill>
                  <a:srgbClr val="4D4D4D"/>
                </a:solidFill>
              </a:rPr>
              <a:t>cases · events · partner_feeds · policy_exceptions · mutable status column</a:t>
            </a:r>
            <a:endParaRPr lang="en-US" sz="1400" dirty="0"/>
          </a:p>
        </p:txBody>
      </p:sp>
      <p:sp>
        <p:nvSpPr>
          <p:cNvPr id="42" name="diagram-box"/>
          <p:cNvSpPr/>
          <p:nvPr/>
        </p:nvSpPr>
        <p:spPr>
          <a:xfrm>
            <a:off x="8503920" y="3977640"/>
            <a:ext cx="3227832" cy="777240"/>
          </a:xfrm>
          <a:prstGeom prst="roundRect">
            <a:avLst>
              <a:gd name="adj" fmla="val 7059"/>
            </a:avLst>
          </a:prstGeom>
          <a:solidFill>
            <a:srgbClr val="F6F6F6"/>
          </a:solidFill>
          <a:ln w="12700">
            <a:solidFill>
              <a:srgbClr val="9E9E9E"/>
            </a:solidFill>
            <a:prstDash val="solid"/>
          </a:ln>
        </p:spPr>
      </p:sp>
      <p:sp>
        <p:nvSpPr>
          <p:cNvPr id="43" name="Text 40"/>
          <p:cNvSpPr txBox="1"/>
          <p:nvPr/>
        </p:nvSpPr>
        <p:spPr>
          <a:xfrm>
            <a:off x="8595360" y="4032504"/>
            <a:ext cx="3044952" cy="667512"/>
          </a:xfrm>
          <a:prstGeom prst="rect">
            <a:avLst/>
          </a:prstGeom>
          <a:noFill/>
          <a:ln/>
        </p:spPr>
        <p:txBody>
          <a:bodyPr wrap="square" lIns="0" tIns="0" rIns="0" bIns="0" rtlCol="0" anchor="ctr"/>
          <a:lstStyle/>
          <a:p>
            <a:pPr marL="0" indent="0" algn="ctr">
              <a:buNone/>
            </a:pPr>
            <a:r>
              <a:rPr lang="en-US" sz="1200" b="1" dirty="0">
                <a:solidFill>
                  <a:srgbClr val="2B2B2B"/>
                </a:solidFill>
              </a:rPr>
              <a:t>enterprise_legacy.sqlite3 + lake</a:t>
            </a:r>
            <a:endParaRPr lang="en-US" sz="1400" dirty="0"/>
          </a:p>
          <a:p>
            <a:pPr marL="0" indent="0" algn="ctr">
              <a:buNone/>
            </a:pPr>
            <a:r>
              <a:rPr lang="en-US" sz="1000" dirty="0">
                <a:solidFill>
                  <a:srgbClr val="4D4D4D"/>
                </a:solidFill>
              </a:rPr>
              <a:t>finance / reference stores</a:t>
            </a:r>
            <a:endParaRPr lang="en-US" sz="1400" dirty="0"/>
          </a:p>
        </p:txBody>
      </p:sp>
      <p:sp>
        <p:nvSpPr>
          <p:cNvPr id="44" name="Shape 41"/>
          <p:cNvSpPr/>
          <p:nvPr/>
        </p:nvSpPr>
        <p:spPr>
          <a:xfrm>
            <a:off x="11109960" y="2404872"/>
            <a:ext cx="566928" cy="219456"/>
          </a:xfrm>
          <a:prstGeom prst="roundRect">
            <a:avLst>
              <a:gd name="adj" fmla="val 20833"/>
            </a:avLst>
          </a:prstGeom>
          <a:solidFill>
            <a:srgbClr val="E1251B"/>
          </a:solidFill>
          <a:ln w="12700">
            <a:solidFill>
              <a:srgbClr val="E1251B"/>
            </a:solidFill>
            <a:prstDash val="solid"/>
          </a:ln>
        </p:spPr>
      </p:sp>
      <p:sp>
        <p:nvSpPr>
          <p:cNvPr id="45" name="Text 42"/>
          <p:cNvSpPr txBox="1"/>
          <p:nvPr/>
        </p:nvSpPr>
        <p:spPr>
          <a:xfrm>
            <a:off x="11109960" y="2404872"/>
            <a:ext cx="566928" cy="219456"/>
          </a:xfrm>
          <a:prstGeom prst="rect">
            <a:avLst/>
          </a:prstGeom>
          <a:noFill/>
          <a:ln/>
        </p:spPr>
        <p:txBody>
          <a:bodyPr wrap="square" lIns="0" tIns="0" rIns="0" bIns="0" rtlCol="0" anchor="ctr"/>
          <a:lstStyle/>
          <a:p>
            <a:pPr marL="0" indent="0" algn="ctr">
              <a:buNone/>
            </a:pPr>
            <a:r>
              <a:rPr lang="en-US" sz="900" b="1" dirty="0">
                <a:solidFill>
                  <a:schemeClr val="bg1"/>
                </a:solidFill>
              </a:rPr>
              <a:t>RC-2</a:t>
            </a:r>
            <a:endParaRPr lang="en-US" sz="900" dirty="0"/>
          </a:p>
        </p:txBody>
      </p:sp>
      <p:sp>
        <p:nvSpPr>
          <p:cNvPr id="46" name="Shape 43"/>
          <p:cNvSpPr/>
          <p:nvPr/>
        </p:nvSpPr>
        <p:spPr>
          <a:xfrm>
            <a:off x="2468880" y="2743200"/>
            <a:ext cx="548640" cy="914"/>
          </a:xfrm>
          <a:prstGeom prst="line">
            <a:avLst/>
          </a:prstGeom>
          <a:noFill/>
          <a:ln w="15875">
            <a:solidFill>
              <a:srgbClr val="7A7A7A"/>
            </a:solidFill>
            <a:prstDash val="solid"/>
            <a:tailEnd type="triangle"/>
          </a:ln>
        </p:spPr>
      </p:sp>
      <p:sp>
        <p:nvSpPr>
          <p:cNvPr id="47" name="Shape 44"/>
          <p:cNvSpPr/>
          <p:nvPr/>
        </p:nvSpPr>
        <p:spPr>
          <a:xfrm>
            <a:off x="2468880" y="3611880"/>
            <a:ext cx="548640" cy="320040"/>
          </a:xfrm>
          <a:prstGeom prst="line">
            <a:avLst/>
          </a:prstGeom>
          <a:noFill/>
          <a:ln w="15875">
            <a:solidFill>
              <a:srgbClr val="7A7A7A"/>
            </a:solidFill>
            <a:prstDash val="solid"/>
            <a:tailEnd type="triangle"/>
          </a:ln>
        </p:spPr>
      </p:sp>
      <p:sp>
        <p:nvSpPr>
          <p:cNvPr id="48" name="Shape 45"/>
          <p:cNvSpPr/>
          <p:nvPr/>
        </p:nvSpPr>
        <p:spPr>
          <a:xfrm flipV="1">
            <a:off x="2468880" y="4114800"/>
            <a:ext cx="548640" cy="365760"/>
          </a:xfrm>
          <a:prstGeom prst="line">
            <a:avLst/>
          </a:prstGeom>
          <a:noFill/>
          <a:ln w="15875">
            <a:solidFill>
              <a:srgbClr val="7A7A7A"/>
            </a:solidFill>
            <a:prstDash val="solid"/>
            <a:tailEnd type="triangle"/>
          </a:ln>
        </p:spPr>
      </p:sp>
      <p:sp>
        <p:nvSpPr>
          <p:cNvPr id="49" name="Shape 46"/>
          <p:cNvSpPr/>
          <p:nvPr/>
        </p:nvSpPr>
        <p:spPr>
          <a:xfrm>
            <a:off x="7955280" y="2834640"/>
            <a:ext cx="548640" cy="914"/>
          </a:xfrm>
          <a:prstGeom prst="line">
            <a:avLst/>
          </a:prstGeom>
          <a:noFill/>
          <a:ln w="15875">
            <a:solidFill>
              <a:srgbClr val="7A7A7A"/>
            </a:solidFill>
            <a:prstDash val="solid"/>
            <a:tailEnd type="triangle"/>
          </a:ln>
        </p:spPr>
      </p:sp>
      <p:sp>
        <p:nvSpPr>
          <p:cNvPr id="50" name="Shape 47"/>
          <p:cNvSpPr/>
          <p:nvPr/>
        </p:nvSpPr>
        <p:spPr>
          <a:xfrm>
            <a:off x="7955280" y="4023360"/>
            <a:ext cx="548640" cy="274320"/>
          </a:xfrm>
          <a:prstGeom prst="line">
            <a:avLst/>
          </a:prstGeom>
          <a:noFill/>
          <a:ln w="15875">
            <a:solidFill>
              <a:srgbClr val="7A7A7A"/>
            </a:solidFill>
            <a:prstDash val="solid"/>
            <a:tailEnd type="triangle"/>
          </a:ln>
        </p:spPr>
      </p:sp>
      <p:sp>
        <p:nvSpPr>
          <p:cNvPr id="51" name="card"/>
          <p:cNvSpPr/>
          <p:nvPr/>
        </p:nvSpPr>
        <p:spPr>
          <a:xfrm>
            <a:off x="8503920" y="4937760"/>
            <a:ext cx="3227832" cy="1143000"/>
          </a:xfrm>
          <a:prstGeom prst="roundRect">
            <a:avLst>
              <a:gd name="adj" fmla="val 6400"/>
            </a:avLst>
          </a:prstGeom>
          <a:solidFill>
            <a:srgbClr val="FDECEA"/>
          </a:solidFill>
          <a:ln w="9525">
            <a:solidFill>
              <a:srgbClr val="F3C9C6"/>
            </a:solidFill>
            <a:prstDash val="solid"/>
          </a:ln>
        </p:spPr>
      </p:sp>
      <p:sp>
        <p:nvSpPr>
          <p:cNvPr id="52" name="Text 49"/>
          <p:cNvSpPr txBox="1"/>
          <p:nvPr/>
        </p:nvSpPr>
        <p:spPr>
          <a:xfrm>
            <a:off x="8686800" y="5029200"/>
            <a:ext cx="2926080" cy="1005840"/>
          </a:xfrm>
          <a:prstGeom prst="rect">
            <a:avLst/>
          </a:prstGeom>
          <a:noFill/>
          <a:ln/>
        </p:spPr>
        <p:txBody>
          <a:bodyPr wrap="square" lIns="0" tIns="0" rIns="0" bIns="0" rtlCol="0" anchor="t"/>
          <a:lstStyle/>
          <a:p>
            <a:pPr marL="0" indent="0">
              <a:buNone/>
            </a:pPr>
            <a:r>
              <a:rPr lang="en-US" sz="1100" b="1" dirty="0">
                <a:solidFill>
                  <a:schemeClr val="accent1"/>
                </a:solidFill>
              </a:rPr>
              <a:t>Missing entirely</a:t>
            </a:r>
            <a:endParaRPr lang="en-US" sz="1100" dirty="0"/>
          </a:p>
          <a:p>
            <a:pPr marL="0" indent="0">
              <a:buNone/>
            </a:pPr>
            <a:r>
              <a:rPr lang="en-US" sz="1100" dirty="0">
                <a:solidFill>
                  <a:schemeClr val="tx1"/>
                </a:solidFill>
              </a:rPr>
              <a:t>decision record · audit trail · login and roles · shared identity keys · owned definitions · UI</a:t>
            </a:r>
            <a:endParaRPr lang="en-US" sz="1100" dirty="0"/>
          </a:p>
        </p:txBody>
      </p:sp>
      <p:sp>
        <p:nvSpPr>
          <p:cNvPr id="53" name="Text 50"/>
          <p:cNvSpPr txBox="1"/>
          <p:nvPr/>
        </p:nvSpPr>
        <p:spPr>
          <a:xfrm>
            <a:off x="457200" y="5852160"/>
            <a:ext cx="7589520" cy="274320"/>
          </a:xfrm>
          <a:prstGeom prst="rect">
            <a:avLst/>
          </a:prstGeom>
          <a:noFill/>
          <a:ln/>
        </p:spPr>
        <p:txBody>
          <a:bodyPr wrap="square" lIns="0" tIns="0" rIns="0" bIns="0" rtlCol="0" anchor="t"/>
          <a:lstStyle/>
          <a:p>
            <a:pPr marL="0" indent="0">
              <a:buNone/>
            </a:pPr>
            <a:r>
              <a:rPr lang="en-US" sz="1100" i="1" dirty="0">
                <a:solidFill>
                  <a:schemeClr val="accent3"/>
                </a:solidFill>
              </a:rPr>
              <a:t>Baseline commit a6eb4e8 (17 Oct 2026): 7 test files (121 lines), 1 CI workflow, shipped suite kills 1 of 15 mutants</a:t>
            </a:r>
            <a:endParaRPr lang="en-US" sz="11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Target architecture</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NOW: ONE GOVERNED HUB</a:t>
            </a:r>
            <a:endParaRPr lang="en-US" sz="3000" dirty="0"/>
          </a:p>
          <a:p>
            <a:pPr marL="0" indent="0" algn="l">
              <a:lnSpc>
                <a:spcPct val="95000"/>
              </a:lnSpc>
              <a:buNone/>
            </a:pPr>
            <a:r>
              <a:rPr lang="en-US" sz="3000" b="1" dirty="0">
                <a:solidFill>
                  <a:schemeClr val="accent1"/>
                </a:solidFill>
              </a:rPr>
              <a:t>BESIDE THE UNTOUCHED ESTATE</a:t>
            </a:r>
            <a:endParaRPr lang="en-US" sz="3000" dirty="0"/>
          </a:p>
        </p:txBody>
      </p:sp>
      <p:sp>
        <p:nvSpPr>
          <p:cNvPr id="5" name="Shape 2"/>
          <p:cNvSpPr/>
          <p:nvPr/>
        </p:nvSpPr>
        <p:spPr>
          <a:xfrm>
            <a:off x="457200" y="2103120"/>
            <a:ext cx="2148840" cy="3977640"/>
          </a:xfrm>
          <a:prstGeom prst="roundRect">
            <a:avLst>
              <a:gd name="adj" fmla="val 3404"/>
            </a:avLst>
          </a:prstGeom>
          <a:solidFill>
            <a:srgbClr val="F6F6F6"/>
          </a:solidFill>
          <a:ln w="12700">
            <a:solidFill>
              <a:srgbClr val="C9C9C9"/>
            </a:solidFill>
            <a:prstDash val="dash"/>
          </a:ln>
        </p:spPr>
      </p:sp>
      <p:sp>
        <p:nvSpPr>
          <p:cNvPr id="6" name="Text 3"/>
          <p:cNvSpPr txBox="1"/>
          <p:nvPr/>
        </p:nvSpPr>
        <p:spPr>
          <a:xfrm>
            <a:off x="566928" y="2176272"/>
            <a:ext cx="1965960" cy="411480"/>
          </a:xfrm>
          <a:prstGeom prst="rect">
            <a:avLst/>
          </a:prstGeom>
          <a:noFill/>
          <a:ln/>
        </p:spPr>
        <p:txBody>
          <a:bodyPr wrap="square" lIns="0" tIns="0" rIns="0" bIns="0" rtlCol="0" anchor="t"/>
          <a:lstStyle/>
          <a:p>
            <a:pPr marL="0" indent="0">
              <a:buNone/>
            </a:pPr>
            <a:r>
              <a:rPr lang="en-US" sz="1000" b="1" dirty="0">
                <a:solidFill>
                  <a:schemeClr val="accent3"/>
                </a:solidFill>
              </a:rPr>
              <a:t>LEGACY ESTATE (unchanged, shadow)</a:t>
            </a:r>
            <a:endParaRPr lang="en-US" sz="1000" dirty="0"/>
          </a:p>
        </p:txBody>
      </p:sp>
      <p:sp>
        <p:nvSpPr>
          <p:cNvPr id="7" name="diagram-box"/>
          <p:cNvSpPr/>
          <p:nvPr/>
        </p:nvSpPr>
        <p:spPr>
          <a:xfrm>
            <a:off x="594360" y="2697480"/>
            <a:ext cx="1874520" cy="640080"/>
          </a:xfrm>
          <a:prstGeom prst="roundRect">
            <a:avLst>
              <a:gd name="adj" fmla="val 8571"/>
            </a:avLst>
          </a:prstGeom>
          <a:solidFill>
            <a:srgbClr val="FFFFFF"/>
          </a:solidFill>
          <a:ln w="12700">
            <a:solidFill>
              <a:srgbClr val="E6E6E6"/>
            </a:solidFill>
            <a:prstDash val="solid"/>
          </a:ln>
        </p:spPr>
      </p:sp>
      <p:sp>
        <p:nvSpPr>
          <p:cNvPr id="8" name="Text 5"/>
          <p:cNvSpPr txBox="1"/>
          <p:nvPr/>
        </p:nvSpPr>
        <p:spPr>
          <a:xfrm>
            <a:off x="685800" y="2752344"/>
            <a:ext cx="1691640" cy="530352"/>
          </a:xfrm>
          <a:prstGeom prst="rect">
            <a:avLst/>
          </a:prstGeom>
          <a:noFill/>
          <a:ln/>
        </p:spPr>
        <p:txBody>
          <a:bodyPr wrap="square" lIns="0" tIns="0" rIns="0" bIns="0" rtlCol="0" anchor="ctr"/>
          <a:lstStyle/>
          <a:p>
            <a:pPr marL="0" indent="0" algn="ctr">
              <a:buNone/>
            </a:pPr>
            <a:r>
              <a:rPr lang="en-US" sz="1100" b="1" dirty="0">
                <a:solidFill>
                  <a:srgbClr val="2B2B2B"/>
                </a:solidFill>
              </a:rPr>
              <a:t>app/ API + rules</a:t>
            </a:r>
            <a:endParaRPr lang="en-US" sz="1400" dirty="0"/>
          </a:p>
        </p:txBody>
      </p:sp>
      <p:sp>
        <p:nvSpPr>
          <p:cNvPr id="9" name="diagram-box"/>
          <p:cNvSpPr/>
          <p:nvPr/>
        </p:nvSpPr>
        <p:spPr>
          <a:xfrm>
            <a:off x="594360" y="3520440"/>
            <a:ext cx="1874520" cy="640080"/>
          </a:xfrm>
          <a:prstGeom prst="roundRect">
            <a:avLst>
              <a:gd name="adj" fmla="val 8571"/>
            </a:avLst>
          </a:prstGeom>
          <a:solidFill>
            <a:srgbClr val="FFFFFF"/>
          </a:solidFill>
          <a:ln w="12700">
            <a:solidFill>
              <a:srgbClr val="E6E6E6"/>
            </a:solidFill>
            <a:prstDash val="solid"/>
          </a:ln>
        </p:spPr>
      </p:sp>
      <p:sp>
        <p:nvSpPr>
          <p:cNvPr id="10" name="Text 7"/>
          <p:cNvSpPr txBox="1"/>
          <p:nvPr/>
        </p:nvSpPr>
        <p:spPr>
          <a:xfrm>
            <a:off x="685800" y="3575304"/>
            <a:ext cx="1691640" cy="530352"/>
          </a:xfrm>
          <a:prstGeom prst="rect">
            <a:avLst/>
          </a:prstGeom>
          <a:noFill/>
          <a:ln/>
        </p:spPr>
        <p:txBody>
          <a:bodyPr wrap="square" lIns="0" tIns="0" rIns="0" bIns="0" rtlCol="0" anchor="ctr"/>
          <a:lstStyle/>
          <a:p>
            <a:pPr marL="0" indent="0" algn="ctr">
              <a:buNone/>
            </a:pPr>
            <a:r>
              <a:rPr lang="en-US" sz="1100" b="1" dirty="0">
                <a:solidFill>
                  <a:srgbClr val="2B2B2B"/>
                </a:solidFill>
              </a:rPr>
              <a:t>Java / JS / batch</a:t>
            </a:r>
            <a:endParaRPr lang="en-US" sz="1400" dirty="0"/>
          </a:p>
        </p:txBody>
      </p:sp>
      <p:sp>
        <p:nvSpPr>
          <p:cNvPr id="11" name="diagram-box"/>
          <p:cNvSpPr/>
          <p:nvPr/>
        </p:nvSpPr>
        <p:spPr>
          <a:xfrm>
            <a:off x="594360" y="4343400"/>
            <a:ext cx="1874520" cy="640080"/>
          </a:xfrm>
          <a:prstGeom prst="roundRect">
            <a:avLst>
              <a:gd name="adj" fmla="val 8571"/>
            </a:avLst>
          </a:prstGeom>
          <a:solidFill>
            <a:srgbClr val="FFFFFF"/>
          </a:solidFill>
          <a:ln w="12700">
            <a:solidFill>
              <a:srgbClr val="E6E6E6"/>
            </a:solidFill>
            <a:prstDash val="solid"/>
          </a:ln>
        </p:spPr>
      </p:sp>
      <p:sp>
        <p:nvSpPr>
          <p:cNvPr id="12" name="Text 9"/>
          <p:cNvSpPr txBox="1"/>
          <p:nvPr/>
        </p:nvSpPr>
        <p:spPr>
          <a:xfrm>
            <a:off x="685800" y="4398264"/>
            <a:ext cx="1691640" cy="530352"/>
          </a:xfrm>
          <a:prstGeom prst="rect">
            <a:avLst/>
          </a:prstGeom>
          <a:noFill/>
          <a:ln/>
        </p:spPr>
        <p:txBody>
          <a:bodyPr wrap="square" lIns="0" tIns="0" rIns="0" bIns="0" rtlCol="0" anchor="ctr"/>
          <a:lstStyle/>
          <a:p>
            <a:pPr marL="0" indent="0" algn="ctr">
              <a:buNone/>
            </a:pPr>
            <a:r>
              <a:rPr lang="en-US" sz="1100" b="1" dirty="0">
                <a:solidFill>
                  <a:srgbClr val="2B2B2B"/>
                </a:solidFill>
              </a:rPr>
              <a:t>legacy.sqlite3</a:t>
            </a:r>
            <a:endParaRPr lang="en-US" sz="1400" dirty="0"/>
          </a:p>
        </p:txBody>
      </p:sp>
      <p:sp>
        <p:nvSpPr>
          <p:cNvPr id="13" name="diagram-box"/>
          <p:cNvSpPr/>
          <p:nvPr/>
        </p:nvSpPr>
        <p:spPr>
          <a:xfrm>
            <a:off x="594360" y="5166360"/>
            <a:ext cx="1874520" cy="640080"/>
          </a:xfrm>
          <a:prstGeom prst="roundRect">
            <a:avLst>
              <a:gd name="adj" fmla="val 8571"/>
            </a:avLst>
          </a:prstGeom>
          <a:solidFill>
            <a:srgbClr val="FFFFFF"/>
          </a:solidFill>
          <a:ln w="12700">
            <a:solidFill>
              <a:srgbClr val="E6E6E6"/>
            </a:solidFill>
            <a:prstDash val="solid"/>
          </a:ln>
        </p:spPr>
      </p:sp>
      <p:sp>
        <p:nvSpPr>
          <p:cNvPr id="14" name="Text 11"/>
          <p:cNvSpPr txBox="1"/>
          <p:nvPr/>
        </p:nvSpPr>
        <p:spPr>
          <a:xfrm>
            <a:off x="685800" y="5221224"/>
            <a:ext cx="1691640" cy="530352"/>
          </a:xfrm>
          <a:prstGeom prst="rect">
            <a:avLst/>
          </a:prstGeom>
          <a:noFill/>
          <a:ln/>
        </p:spPr>
        <p:txBody>
          <a:bodyPr wrap="square" lIns="0" tIns="0" rIns="0" bIns="0" rtlCol="0" anchor="ctr"/>
          <a:lstStyle/>
          <a:p>
            <a:pPr marL="0" indent="0" algn="ctr">
              <a:buNone/>
            </a:pPr>
            <a:r>
              <a:rPr lang="en-US" sz="1100" b="1" dirty="0">
                <a:solidFill>
                  <a:srgbClr val="2B2B2B"/>
                </a:solidFill>
              </a:rPr>
              <a:t>feeds · gateway · vendor · docs</a:t>
            </a:r>
            <a:endParaRPr lang="en-US" sz="1400" dirty="0"/>
          </a:p>
        </p:txBody>
      </p:sp>
      <p:sp>
        <p:nvSpPr>
          <p:cNvPr id="15" name="Shape 12"/>
          <p:cNvSpPr/>
          <p:nvPr/>
        </p:nvSpPr>
        <p:spPr>
          <a:xfrm>
            <a:off x="3063240" y="2103120"/>
            <a:ext cx="5394960" cy="3977640"/>
          </a:xfrm>
          <a:prstGeom prst="roundRect">
            <a:avLst>
              <a:gd name="adj" fmla="val 1839"/>
            </a:avLst>
          </a:prstGeom>
          <a:solidFill>
            <a:srgbClr val="FFFFFF"/>
          </a:solidFill>
          <a:ln w="19050">
            <a:solidFill>
              <a:srgbClr val="E1251B"/>
            </a:solidFill>
            <a:prstDash val="solid"/>
          </a:ln>
        </p:spPr>
      </p:sp>
      <p:sp>
        <p:nvSpPr>
          <p:cNvPr id="16" name="Text 13"/>
          <p:cNvSpPr txBox="1"/>
          <p:nvPr/>
        </p:nvSpPr>
        <p:spPr>
          <a:xfrm>
            <a:off x="3200400" y="2176272"/>
            <a:ext cx="5120640" cy="274320"/>
          </a:xfrm>
          <a:prstGeom prst="rect">
            <a:avLst/>
          </a:prstGeom>
          <a:noFill/>
          <a:ln/>
        </p:spPr>
        <p:txBody>
          <a:bodyPr wrap="square" lIns="0" tIns="0" rIns="0" bIns="0" rtlCol="0" anchor="t"/>
          <a:lstStyle/>
          <a:p>
            <a:pPr marL="0" indent="0">
              <a:buNone/>
            </a:pPr>
            <a:r>
              <a:rPr lang="en-US" sz="1000" b="1" dirty="0">
                <a:solidFill>
                  <a:schemeClr val="accent1"/>
                </a:solidFill>
              </a:rPr>
              <a:t>GxP QUALITY HUB  ·  Python stdlib  ·  204 files  ·  24 packages</a:t>
            </a:r>
            <a:endParaRPr lang="en-US" sz="1000" dirty="0"/>
          </a:p>
        </p:txBody>
      </p:sp>
      <p:sp>
        <p:nvSpPr>
          <p:cNvPr id="17" name="diagram-box"/>
          <p:cNvSpPr/>
          <p:nvPr/>
        </p:nvSpPr>
        <p:spPr>
          <a:xfrm>
            <a:off x="3200400" y="2560320"/>
            <a:ext cx="1600200" cy="685800"/>
          </a:xfrm>
          <a:prstGeom prst="roundRect">
            <a:avLst>
              <a:gd name="adj" fmla="val 8000"/>
            </a:avLst>
          </a:prstGeom>
          <a:solidFill>
            <a:srgbClr val="F6F6F6"/>
          </a:solidFill>
          <a:ln w="12700">
            <a:solidFill>
              <a:srgbClr val="E6E6E6"/>
            </a:solidFill>
            <a:prstDash val="solid"/>
          </a:ln>
        </p:spPr>
      </p:sp>
      <p:sp>
        <p:nvSpPr>
          <p:cNvPr id="18" name="Text 15"/>
          <p:cNvSpPr txBox="1"/>
          <p:nvPr/>
        </p:nvSpPr>
        <p:spPr>
          <a:xfrm>
            <a:off x="3291840" y="2615184"/>
            <a:ext cx="1417320" cy="576072"/>
          </a:xfrm>
          <a:prstGeom prst="rect">
            <a:avLst/>
          </a:prstGeom>
          <a:noFill/>
          <a:ln/>
        </p:spPr>
        <p:txBody>
          <a:bodyPr wrap="square" lIns="0" tIns="0" rIns="0" bIns="0" rtlCol="0" anchor="ctr"/>
          <a:lstStyle/>
          <a:p>
            <a:pPr marL="0" indent="0" algn="ctr">
              <a:buNone/>
            </a:pPr>
            <a:r>
              <a:rPr lang="en-US" sz="1200" b="1" dirty="0">
                <a:solidFill>
                  <a:srgbClr val="2B2B2B"/>
                </a:solidFill>
              </a:rPr>
              <a:t>adapters</a:t>
            </a:r>
            <a:endParaRPr lang="en-US" sz="1400" dirty="0"/>
          </a:p>
          <a:p>
            <a:pPr marL="0" indent="0" algn="ctr">
              <a:buNone/>
            </a:pPr>
            <a:r>
              <a:rPr lang="en-US" sz="1000" dirty="0">
                <a:solidFill>
                  <a:srgbClr val="4D4D4D"/>
                </a:solidFill>
              </a:rPr>
              <a:t>read-only legacy access</a:t>
            </a:r>
            <a:endParaRPr lang="en-US" sz="1400" dirty="0"/>
          </a:p>
        </p:txBody>
      </p:sp>
      <p:sp>
        <p:nvSpPr>
          <p:cNvPr id="19" name="diagram-box"/>
          <p:cNvSpPr/>
          <p:nvPr/>
        </p:nvSpPr>
        <p:spPr>
          <a:xfrm>
            <a:off x="4937760" y="2560320"/>
            <a:ext cx="1600200" cy="685800"/>
          </a:xfrm>
          <a:prstGeom prst="roundRect">
            <a:avLst>
              <a:gd name="adj" fmla="val 8000"/>
            </a:avLst>
          </a:prstGeom>
          <a:solidFill>
            <a:srgbClr val="F6F6F6"/>
          </a:solidFill>
          <a:ln w="12700">
            <a:solidFill>
              <a:srgbClr val="E6E6E6"/>
            </a:solidFill>
            <a:prstDash val="solid"/>
          </a:ln>
        </p:spPr>
      </p:sp>
      <p:sp>
        <p:nvSpPr>
          <p:cNvPr id="20" name="Text 17"/>
          <p:cNvSpPr txBox="1"/>
          <p:nvPr/>
        </p:nvSpPr>
        <p:spPr>
          <a:xfrm>
            <a:off x="5029200" y="2615184"/>
            <a:ext cx="1417320" cy="576072"/>
          </a:xfrm>
          <a:prstGeom prst="rect">
            <a:avLst/>
          </a:prstGeom>
          <a:noFill/>
          <a:ln/>
        </p:spPr>
        <p:txBody>
          <a:bodyPr wrap="square" lIns="0" tIns="0" rIns="0" bIns="0" rtlCol="0" anchor="ctr"/>
          <a:lstStyle/>
          <a:p>
            <a:pPr marL="0" indent="0" algn="ctr">
              <a:buNone/>
            </a:pPr>
            <a:r>
              <a:rPr lang="en-US" sz="1200" b="1" dirty="0">
                <a:solidFill>
                  <a:srgbClr val="2B2B2B"/>
                </a:solidFill>
              </a:rPr>
              <a:t>intake</a:t>
            </a:r>
            <a:endParaRPr lang="en-US" sz="1400" dirty="0"/>
          </a:p>
          <a:p>
            <a:pPr marL="0" indent="0" algn="ctr">
              <a:buNone/>
            </a:pPr>
            <a:r>
              <a:rPr lang="en-US" sz="1000" dirty="0">
                <a:solidFill>
                  <a:srgbClr val="4D4D4D"/>
                </a:solidFill>
              </a:rPr>
              <a:t>15 reasons · 5 queues</a:t>
            </a:r>
            <a:endParaRPr lang="en-US" sz="1400" dirty="0"/>
          </a:p>
        </p:txBody>
      </p:sp>
      <p:sp>
        <p:nvSpPr>
          <p:cNvPr id="21" name="diagram-box"/>
          <p:cNvSpPr/>
          <p:nvPr/>
        </p:nvSpPr>
        <p:spPr>
          <a:xfrm>
            <a:off x="6675120" y="2560320"/>
            <a:ext cx="1645920" cy="685800"/>
          </a:xfrm>
          <a:prstGeom prst="roundRect">
            <a:avLst>
              <a:gd name="adj" fmla="val 8000"/>
            </a:avLst>
          </a:prstGeom>
          <a:solidFill>
            <a:srgbClr val="F6F6F6"/>
          </a:solidFill>
          <a:ln w="12700">
            <a:solidFill>
              <a:srgbClr val="E6E6E6"/>
            </a:solidFill>
            <a:prstDash val="solid"/>
          </a:ln>
        </p:spPr>
      </p:sp>
      <p:sp>
        <p:nvSpPr>
          <p:cNvPr id="22" name="Text 19"/>
          <p:cNvSpPr txBox="1"/>
          <p:nvPr/>
        </p:nvSpPr>
        <p:spPr>
          <a:xfrm>
            <a:off x="6766560" y="2615184"/>
            <a:ext cx="1463040" cy="576072"/>
          </a:xfrm>
          <a:prstGeom prst="rect">
            <a:avLst/>
          </a:prstGeom>
          <a:noFill/>
          <a:ln/>
        </p:spPr>
        <p:txBody>
          <a:bodyPr wrap="square" lIns="0" tIns="0" rIns="0" bIns="0" rtlCol="0" anchor="ctr"/>
          <a:lstStyle/>
          <a:p>
            <a:pPr marL="0" indent="0" algn="ctr">
              <a:buNone/>
            </a:pPr>
            <a:r>
              <a:rPr lang="en-US" sz="1200" b="1" dirty="0">
                <a:solidFill>
                  <a:srgbClr val="2B2B2B"/>
                </a:solidFill>
              </a:rPr>
              <a:t>crosswalk</a:t>
            </a:r>
            <a:endParaRPr lang="en-US" sz="1400" dirty="0"/>
          </a:p>
          <a:p>
            <a:pPr marL="0" indent="0" algn="ctr">
              <a:buNone/>
            </a:pPr>
            <a:r>
              <a:rPr lang="en-US" sz="1000" dirty="0">
                <a:solidFill>
                  <a:srgbClr val="4D4D4D"/>
                </a:solidFill>
              </a:rPr>
              <a:t>7 id types · exact keys</a:t>
            </a:r>
            <a:endParaRPr lang="en-US" sz="1400" dirty="0"/>
          </a:p>
        </p:txBody>
      </p:sp>
      <p:sp>
        <p:nvSpPr>
          <p:cNvPr id="23" name="diagram-box"/>
          <p:cNvSpPr/>
          <p:nvPr/>
        </p:nvSpPr>
        <p:spPr>
          <a:xfrm>
            <a:off x="3200400" y="3383280"/>
            <a:ext cx="1600200" cy="685800"/>
          </a:xfrm>
          <a:prstGeom prst="roundRect">
            <a:avLst>
              <a:gd name="adj" fmla="val 8000"/>
            </a:avLst>
          </a:prstGeom>
          <a:solidFill>
            <a:srgbClr val="F6F6F6"/>
          </a:solidFill>
          <a:ln w="12700">
            <a:solidFill>
              <a:srgbClr val="E6E6E6"/>
            </a:solidFill>
            <a:prstDash val="solid"/>
          </a:ln>
        </p:spPr>
      </p:sp>
      <p:sp>
        <p:nvSpPr>
          <p:cNvPr id="24" name="Text 21"/>
          <p:cNvSpPr txBox="1"/>
          <p:nvPr/>
        </p:nvSpPr>
        <p:spPr>
          <a:xfrm>
            <a:off x="3291840" y="3438144"/>
            <a:ext cx="1417320" cy="576072"/>
          </a:xfrm>
          <a:prstGeom prst="rect">
            <a:avLst/>
          </a:prstGeom>
          <a:noFill/>
          <a:ln/>
        </p:spPr>
        <p:txBody>
          <a:bodyPr wrap="square" lIns="0" tIns="0" rIns="0" bIns="0" rtlCol="0" anchor="ctr"/>
          <a:lstStyle/>
          <a:p>
            <a:pPr marL="0" indent="0" algn="ctr">
              <a:buNone/>
            </a:pPr>
            <a:r>
              <a:rPr lang="en-US" sz="1200" b="1" dirty="0">
                <a:solidFill>
                  <a:srgbClr val="2B2B2B"/>
                </a:solidFill>
              </a:rPr>
              <a:t>decision</a:t>
            </a:r>
            <a:endParaRPr lang="en-US" sz="1400" dirty="0"/>
          </a:p>
          <a:p>
            <a:pPr marL="0" indent="0" algn="ctr">
              <a:buNone/>
            </a:pPr>
            <a:r>
              <a:rPr lang="en-US" sz="1000" dirty="0">
                <a:solidFill>
                  <a:srgbClr val="4D4D4D"/>
                </a:solidFill>
              </a:rPr>
              <a:t>append-only events</a:t>
            </a:r>
            <a:endParaRPr lang="en-US" sz="1400" dirty="0"/>
          </a:p>
        </p:txBody>
      </p:sp>
      <p:sp>
        <p:nvSpPr>
          <p:cNvPr id="25" name="diagram-box"/>
          <p:cNvSpPr/>
          <p:nvPr/>
        </p:nvSpPr>
        <p:spPr>
          <a:xfrm>
            <a:off x="4937760" y="3383280"/>
            <a:ext cx="1600200" cy="685800"/>
          </a:xfrm>
          <a:prstGeom prst="roundRect">
            <a:avLst>
              <a:gd name="adj" fmla="val 8000"/>
            </a:avLst>
          </a:prstGeom>
          <a:solidFill>
            <a:srgbClr val="F6F6F6"/>
          </a:solidFill>
          <a:ln w="12700">
            <a:solidFill>
              <a:srgbClr val="E6E6E6"/>
            </a:solidFill>
            <a:prstDash val="solid"/>
          </a:ln>
        </p:spPr>
      </p:sp>
      <p:sp>
        <p:nvSpPr>
          <p:cNvPr id="26" name="Text 23"/>
          <p:cNvSpPr txBox="1"/>
          <p:nvPr/>
        </p:nvSpPr>
        <p:spPr>
          <a:xfrm>
            <a:off x="5029200" y="3438144"/>
            <a:ext cx="1417320" cy="576072"/>
          </a:xfrm>
          <a:prstGeom prst="rect">
            <a:avLst/>
          </a:prstGeom>
          <a:noFill/>
          <a:ln/>
        </p:spPr>
        <p:txBody>
          <a:bodyPr wrap="square" lIns="0" tIns="0" rIns="0" bIns="0" rtlCol="0" anchor="ctr"/>
          <a:lstStyle/>
          <a:p>
            <a:pPr marL="0" indent="0" algn="ctr">
              <a:buNone/>
            </a:pPr>
            <a:r>
              <a:rPr lang="en-US" sz="1200" b="1" dirty="0">
                <a:solidFill>
                  <a:srgbClr val="2B2B2B"/>
                </a:solidFill>
              </a:rPr>
              <a:t>policy</a:t>
            </a:r>
            <a:endParaRPr lang="en-US" sz="1400" dirty="0"/>
          </a:p>
          <a:p>
            <a:pPr marL="0" indent="0" algn="ctr">
              <a:buNone/>
            </a:pPr>
            <a:r>
              <a:rPr lang="en-US" sz="1000" dirty="0">
                <a:solidFill>
                  <a:srgbClr val="4D4D4D"/>
                </a:solidFill>
              </a:rPr>
              <a:t>definition tags · rules</a:t>
            </a:r>
            <a:endParaRPr lang="en-US" sz="1400" dirty="0"/>
          </a:p>
        </p:txBody>
      </p:sp>
      <p:sp>
        <p:nvSpPr>
          <p:cNvPr id="27" name="diagram-box"/>
          <p:cNvSpPr/>
          <p:nvPr/>
        </p:nvSpPr>
        <p:spPr>
          <a:xfrm>
            <a:off x="6675120" y="3383280"/>
            <a:ext cx="1645920" cy="685800"/>
          </a:xfrm>
          <a:prstGeom prst="roundRect">
            <a:avLst>
              <a:gd name="adj" fmla="val 8000"/>
            </a:avLst>
          </a:prstGeom>
          <a:solidFill>
            <a:srgbClr val="FDECEA"/>
          </a:solidFill>
          <a:ln w="12700">
            <a:solidFill>
              <a:srgbClr val="F3C9C6"/>
            </a:solidFill>
            <a:prstDash val="solid"/>
          </a:ln>
        </p:spPr>
      </p:sp>
      <p:sp>
        <p:nvSpPr>
          <p:cNvPr id="28" name="Text 25"/>
          <p:cNvSpPr txBox="1"/>
          <p:nvPr/>
        </p:nvSpPr>
        <p:spPr>
          <a:xfrm>
            <a:off x="6766560" y="3438144"/>
            <a:ext cx="1463040" cy="576072"/>
          </a:xfrm>
          <a:prstGeom prst="rect">
            <a:avLst/>
          </a:prstGeom>
          <a:noFill/>
          <a:ln/>
        </p:spPr>
        <p:txBody>
          <a:bodyPr wrap="square" lIns="0" tIns="0" rIns="0" bIns="0" rtlCol="0" anchor="ctr"/>
          <a:lstStyle/>
          <a:p>
            <a:pPr marL="0" indent="0" algn="ctr">
              <a:buNone/>
            </a:pPr>
            <a:r>
              <a:rPr lang="en-US" sz="1200" b="1" dirty="0">
                <a:solidFill>
                  <a:srgbClr val="B81C14"/>
                </a:solidFill>
              </a:rPr>
              <a:t>gate (Zone H)</a:t>
            </a:r>
            <a:endParaRPr lang="en-US" sz="1400" dirty="0"/>
          </a:p>
          <a:p>
            <a:pPr marL="0" indent="0" algn="ctr">
              <a:buNone/>
            </a:pPr>
            <a:r>
              <a:rPr lang="en-US" sz="1000" dirty="0">
                <a:solidFill>
                  <a:srgbClr val="4D4D4D"/>
                </a:solidFill>
              </a:rPr>
              <a:t>ZH-01..10 · holders []</a:t>
            </a:r>
            <a:endParaRPr lang="en-US" sz="1400" dirty="0"/>
          </a:p>
        </p:txBody>
      </p:sp>
      <p:sp>
        <p:nvSpPr>
          <p:cNvPr id="29" name="diagram-box"/>
          <p:cNvSpPr/>
          <p:nvPr/>
        </p:nvSpPr>
        <p:spPr>
          <a:xfrm>
            <a:off x="3200400" y="4206240"/>
            <a:ext cx="1600200" cy="685800"/>
          </a:xfrm>
          <a:prstGeom prst="roundRect">
            <a:avLst>
              <a:gd name="adj" fmla="val 8000"/>
            </a:avLst>
          </a:prstGeom>
          <a:solidFill>
            <a:srgbClr val="F6F6F6"/>
          </a:solidFill>
          <a:ln w="12700">
            <a:solidFill>
              <a:srgbClr val="E6E6E6"/>
            </a:solidFill>
            <a:prstDash val="solid"/>
          </a:ln>
        </p:spPr>
      </p:sp>
      <p:sp>
        <p:nvSpPr>
          <p:cNvPr id="30" name="Text 27"/>
          <p:cNvSpPr txBox="1"/>
          <p:nvPr/>
        </p:nvSpPr>
        <p:spPr>
          <a:xfrm>
            <a:off x="3291840" y="4261104"/>
            <a:ext cx="1417320" cy="576072"/>
          </a:xfrm>
          <a:prstGeom prst="rect">
            <a:avLst/>
          </a:prstGeom>
          <a:noFill/>
          <a:ln/>
        </p:spPr>
        <p:txBody>
          <a:bodyPr wrap="square" lIns="0" tIns="0" rIns="0" bIns="0" rtlCol="0" anchor="ctr"/>
          <a:lstStyle/>
          <a:p>
            <a:pPr marL="0" indent="0" algn="ctr">
              <a:buNone/>
            </a:pPr>
            <a:r>
              <a:rPr lang="en-US" sz="1200" b="1" dirty="0">
                <a:solidFill>
                  <a:srgbClr val="2B2B2B"/>
                </a:solidFill>
              </a:rPr>
              <a:t>metrics</a:t>
            </a:r>
            <a:endParaRPr lang="en-US" sz="1400" dirty="0"/>
          </a:p>
          <a:p>
            <a:pPr marL="0" indent="0" algn="ctr">
              <a:buNone/>
            </a:pPr>
            <a:r>
              <a:rPr lang="en-US" sz="1000" dirty="0">
                <a:solidFill>
                  <a:srgbClr val="4D4D4D"/>
                </a:solidFill>
              </a:rPr>
              <a:t>one query path · Decimal</a:t>
            </a:r>
            <a:endParaRPr lang="en-US" sz="1400" dirty="0"/>
          </a:p>
        </p:txBody>
      </p:sp>
      <p:sp>
        <p:nvSpPr>
          <p:cNvPr id="31" name="diagram-box"/>
          <p:cNvSpPr/>
          <p:nvPr/>
        </p:nvSpPr>
        <p:spPr>
          <a:xfrm>
            <a:off x="4937760" y="4206240"/>
            <a:ext cx="1600200" cy="685800"/>
          </a:xfrm>
          <a:prstGeom prst="roundRect">
            <a:avLst>
              <a:gd name="adj" fmla="val 8000"/>
            </a:avLst>
          </a:prstGeom>
          <a:solidFill>
            <a:srgbClr val="F6F6F6"/>
          </a:solidFill>
          <a:ln w="12700">
            <a:solidFill>
              <a:srgbClr val="E6E6E6"/>
            </a:solidFill>
            <a:prstDash val="solid"/>
          </a:ln>
        </p:spPr>
      </p:sp>
      <p:sp>
        <p:nvSpPr>
          <p:cNvPr id="32" name="Text 29"/>
          <p:cNvSpPr txBox="1"/>
          <p:nvPr/>
        </p:nvSpPr>
        <p:spPr>
          <a:xfrm>
            <a:off x="5029200" y="4261104"/>
            <a:ext cx="1417320" cy="576072"/>
          </a:xfrm>
          <a:prstGeom prst="rect">
            <a:avLst/>
          </a:prstGeom>
          <a:noFill/>
          <a:ln/>
        </p:spPr>
        <p:txBody>
          <a:bodyPr wrap="square" lIns="0" tIns="0" rIns="0" bIns="0" rtlCol="0" anchor="ctr"/>
          <a:lstStyle/>
          <a:p>
            <a:pPr marL="0" indent="0" algn="ctr">
              <a:buNone/>
            </a:pPr>
            <a:r>
              <a:rPr lang="en-US" sz="1200" b="1" dirty="0">
                <a:solidFill>
                  <a:srgbClr val="2B2B2B"/>
                </a:solidFill>
              </a:rPr>
              <a:t>runs · review</a:t>
            </a:r>
            <a:endParaRPr lang="en-US" sz="1400" dirty="0"/>
          </a:p>
          <a:p>
            <a:pPr marL="0" indent="0" algn="ctr">
              <a:buNone/>
            </a:pPr>
            <a:r>
              <a:rPr lang="en-US" sz="1000" dirty="0">
                <a:solidFill>
                  <a:srgbClr val="4D4D4D"/>
                </a:solidFill>
              </a:rPr>
              <a:t>idempotent jobs · queue</a:t>
            </a:r>
            <a:endParaRPr lang="en-US" sz="1400" dirty="0"/>
          </a:p>
        </p:txBody>
      </p:sp>
      <p:sp>
        <p:nvSpPr>
          <p:cNvPr id="33" name="diagram-box"/>
          <p:cNvSpPr/>
          <p:nvPr/>
        </p:nvSpPr>
        <p:spPr>
          <a:xfrm>
            <a:off x="6675120" y="4206240"/>
            <a:ext cx="1645920" cy="685800"/>
          </a:xfrm>
          <a:prstGeom prst="roundRect">
            <a:avLst>
              <a:gd name="adj" fmla="val 8000"/>
            </a:avLst>
          </a:prstGeom>
          <a:solidFill>
            <a:srgbClr val="F6F6F6"/>
          </a:solidFill>
          <a:ln w="12700">
            <a:solidFill>
              <a:srgbClr val="E6E6E6"/>
            </a:solidFill>
            <a:prstDash val="solid"/>
          </a:ln>
        </p:spPr>
      </p:sp>
      <p:sp>
        <p:nvSpPr>
          <p:cNvPr id="34" name="Text 31"/>
          <p:cNvSpPr txBox="1"/>
          <p:nvPr/>
        </p:nvSpPr>
        <p:spPr>
          <a:xfrm>
            <a:off x="6766560" y="4261104"/>
            <a:ext cx="1463040" cy="576072"/>
          </a:xfrm>
          <a:prstGeom prst="rect">
            <a:avLst/>
          </a:prstGeom>
          <a:noFill/>
          <a:ln/>
        </p:spPr>
        <p:txBody>
          <a:bodyPr wrap="square" lIns="0" tIns="0" rIns="0" bIns="0" rtlCol="0" anchor="ctr"/>
          <a:lstStyle/>
          <a:p>
            <a:pPr marL="0" indent="0" algn="ctr">
              <a:buNone/>
            </a:pPr>
            <a:r>
              <a:rPr lang="en-US" sz="1200" b="1" dirty="0">
                <a:solidFill>
                  <a:srgbClr val="2B2B2B"/>
                </a:solidFill>
              </a:rPr>
              <a:t>security · obs</a:t>
            </a:r>
            <a:endParaRPr lang="en-US" sz="1400" dirty="0"/>
          </a:p>
          <a:p>
            <a:pPr marL="0" indent="0" algn="ctr">
              <a:buNone/>
            </a:pPr>
            <a:r>
              <a:rPr lang="en-US" sz="1000" dirty="0">
                <a:solidFill>
                  <a:srgbClr val="4D4D4D"/>
                </a:solidFill>
              </a:rPr>
              <a:t>48 routes · audit · counters</a:t>
            </a:r>
            <a:endParaRPr lang="en-US" sz="1400" dirty="0"/>
          </a:p>
        </p:txBody>
      </p:sp>
      <p:sp>
        <p:nvSpPr>
          <p:cNvPr id="35" name="diagram-box"/>
          <p:cNvSpPr/>
          <p:nvPr/>
        </p:nvSpPr>
        <p:spPr>
          <a:xfrm>
            <a:off x="3200400" y="5074920"/>
            <a:ext cx="5120640" cy="822960"/>
          </a:xfrm>
          <a:prstGeom prst="roundRect">
            <a:avLst>
              <a:gd name="adj" fmla="val 6667"/>
            </a:avLst>
          </a:prstGeom>
          <a:solidFill>
            <a:srgbClr val="4D4D4D"/>
          </a:solidFill>
          <a:ln w="12700">
            <a:solidFill>
              <a:srgbClr val="4D4D4D"/>
            </a:solidFill>
            <a:prstDash val="solid"/>
          </a:ln>
        </p:spPr>
      </p:sp>
      <p:sp>
        <p:nvSpPr>
          <p:cNvPr id="36" name="Text 33"/>
          <p:cNvSpPr txBox="1"/>
          <p:nvPr/>
        </p:nvSpPr>
        <p:spPr>
          <a:xfrm>
            <a:off x="3291840" y="5129784"/>
            <a:ext cx="4937760" cy="713232"/>
          </a:xfrm>
          <a:prstGeom prst="rect">
            <a:avLst/>
          </a:prstGeom>
          <a:noFill/>
          <a:ln/>
        </p:spPr>
        <p:txBody>
          <a:bodyPr wrap="square" lIns="0" tIns="0" rIns="0" bIns="0" rtlCol="0" anchor="ctr"/>
          <a:lstStyle/>
          <a:p>
            <a:pPr marL="0" indent="0" algn="ctr">
              <a:buNone/>
            </a:pPr>
            <a:r>
              <a:rPr lang="en-US" sz="1200" b="1" dirty="0">
                <a:solidFill>
                  <a:srgbClr val="FFFFFF"/>
                </a:solidFill>
              </a:rPr>
              <a:t>hub.sqlite3  ·  migrations M001-M006  ·  hash-chained audit anchor</a:t>
            </a:r>
            <a:endParaRPr lang="en-US" sz="1400" dirty="0"/>
          </a:p>
          <a:p>
            <a:pPr marL="0" indent="0" algn="ctr">
              <a:buNone/>
            </a:pPr>
            <a:r>
              <a:rPr lang="en-US" sz="1000" dirty="0">
                <a:solidFill>
                  <a:srgbClr val="E6E6E6"/>
                </a:solidFill>
              </a:rPr>
              <a:t>checksum gate on data (OD-03a) · backup / restore · release evaluator · golden compare</a:t>
            </a:r>
            <a:endParaRPr lang="en-US" sz="1400" dirty="0"/>
          </a:p>
        </p:txBody>
      </p:sp>
      <p:sp>
        <p:nvSpPr>
          <p:cNvPr id="37" name="Shape 34"/>
          <p:cNvSpPr/>
          <p:nvPr/>
        </p:nvSpPr>
        <p:spPr>
          <a:xfrm flipV="1">
            <a:off x="2606040" y="2907792"/>
            <a:ext cx="594360" cy="109728"/>
          </a:xfrm>
          <a:prstGeom prst="line">
            <a:avLst/>
          </a:prstGeom>
          <a:noFill/>
          <a:ln w="15875">
            <a:solidFill>
              <a:srgbClr val="9E9E9E"/>
            </a:solidFill>
            <a:prstDash val="dash"/>
            <a:tailEnd type="triangle"/>
          </a:ln>
        </p:spPr>
      </p:sp>
      <p:sp>
        <p:nvSpPr>
          <p:cNvPr id="38" name="Text 35"/>
          <p:cNvSpPr txBox="1"/>
          <p:nvPr/>
        </p:nvSpPr>
        <p:spPr>
          <a:xfrm>
            <a:off x="2633472" y="2670048"/>
            <a:ext cx="640080" cy="228600"/>
          </a:xfrm>
          <a:prstGeom prst="rect">
            <a:avLst/>
          </a:prstGeom>
          <a:noFill/>
          <a:ln/>
        </p:spPr>
        <p:txBody>
          <a:bodyPr wrap="square" lIns="0" tIns="0" rIns="0" bIns="0" rtlCol="0" anchor="t"/>
          <a:lstStyle/>
          <a:p>
            <a:pPr marL="0" indent="0">
              <a:buNone/>
            </a:pPr>
            <a:r>
              <a:rPr lang="en-US" sz="800" dirty="0">
                <a:solidFill>
                  <a:schemeClr val="accent3"/>
                </a:solidFill>
              </a:rPr>
              <a:t>read-only</a:t>
            </a:r>
            <a:endParaRPr lang="en-US" sz="800" dirty="0"/>
          </a:p>
        </p:txBody>
      </p:sp>
      <p:sp>
        <p:nvSpPr>
          <p:cNvPr id="39" name="Text 36"/>
          <p:cNvSpPr txBox="1"/>
          <p:nvPr/>
        </p:nvSpPr>
        <p:spPr>
          <a:xfrm>
            <a:off x="8823960" y="2103120"/>
            <a:ext cx="2926080" cy="228600"/>
          </a:xfrm>
          <a:prstGeom prst="rect">
            <a:avLst/>
          </a:prstGeom>
          <a:noFill/>
          <a:ln/>
        </p:spPr>
        <p:txBody>
          <a:bodyPr wrap="square" lIns="0" tIns="0" rIns="0" bIns="0" rtlCol="0" anchor="t"/>
          <a:lstStyle/>
          <a:p>
            <a:pPr marL="0" indent="0">
              <a:buNone/>
            </a:pPr>
            <a:r>
              <a:rPr lang="en-US" sz="1000" b="1" kern="0" spc="100" dirty="0">
                <a:solidFill>
                  <a:schemeClr val="accent3"/>
                </a:solidFill>
              </a:rPr>
              <a:t>EXPERIENCE</a:t>
            </a:r>
            <a:endParaRPr lang="en-US" sz="1000" dirty="0"/>
          </a:p>
        </p:txBody>
      </p:sp>
      <p:sp>
        <p:nvSpPr>
          <p:cNvPr id="40" name="diagram-box"/>
          <p:cNvSpPr/>
          <p:nvPr/>
        </p:nvSpPr>
        <p:spPr>
          <a:xfrm>
            <a:off x="8823960" y="2377440"/>
            <a:ext cx="2907792" cy="868680"/>
          </a:xfrm>
          <a:prstGeom prst="roundRect">
            <a:avLst>
              <a:gd name="adj" fmla="val 6316"/>
            </a:avLst>
          </a:prstGeom>
          <a:solidFill>
            <a:srgbClr val="FFFFFF"/>
          </a:solidFill>
          <a:ln w="12700">
            <a:solidFill>
              <a:srgbClr val="9E9E9E"/>
            </a:solidFill>
            <a:prstDash val="solid"/>
          </a:ln>
        </p:spPr>
      </p:sp>
      <p:sp>
        <p:nvSpPr>
          <p:cNvPr id="41" name="Text 38"/>
          <p:cNvSpPr txBox="1"/>
          <p:nvPr/>
        </p:nvSpPr>
        <p:spPr>
          <a:xfrm>
            <a:off x="8915400" y="2432304"/>
            <a:ext cx="2724912" cy="758952"/>
          </a:xfrm>
          <a:prstGeom prst="rect">
            <a:avLst/>
          </a:prstGeom>
          <a:noFill/>
          <a:ln/>
        </p:spPr>
        <p:txBody>
          <a:bodyPr wrap="square" lIns="0" tIns="0" rIns="0" bIns="0" rtlCol="0" anchor="ctr"/>
          <a:lstStyle/>
          <a:p>
            <a:pPr marL="0" indent="0" algn="ctr">
              <a:buNone/>
            </a:pPr>
            <a:r>
              <a:rPr lang="en-US" sz="1200" b="1" dirty="0">
                <a:solidFill>
                  <a:srgbClr val="2B2B2B"/>
                </a:solidFill>
              </a:rPr>
              <a:t>Hub reviewer UI</a:t>
            </a:r>
            <a:endParaRPr lang="en-US" sz="1400" dirty="0"/>
          </a:p>
          <a:p>
            <a:pPr marL="0" indent="0" algn="ctr">
              <a:buNone/>
            </a:pPr>
            <a:r>
              <a:rPr lang="en-US" sz="1000" dirty="0">
                <a:solidFill>
                  <a:srgbClr val="4D4D4D"/>
                </a:solidFill>
              </a:rPr>
              <a:t>127.0.0.1:8081 · login · queue · trace · disposition</a:t>
            </a:r>
            <a:endParaRPr lang="en-US" sz="1400" dirty="0"/>
          </a:p>
        </p:txBody>
      </p:sp>
      <p:sp>
        <p:nvSpPr>
          <p:cNvPr id="42" name="diagram-box"/>
          <p:cNvSpPr/>
          <p:nvPr/>
        </p:nvSpPr>
        <p:spPr>
          <a:xfrm>
            <a:off x="8823960" y="3383280"/>
            <a:ext cx="2907792" cy="914400"/>
          </a:xfrm>
          <a:prstGeom prst="roundRect">
            <a:avLst>
              <a:gd name="adj" fmla="val 6000"/>
            </a:avLst>
          </a:prstGeom>
          <a:solidFill>
            <a:srgbClr val="FFFFFF"/>
          </a:solidFill>
          <a:ln w="19050">
            <a:solidFill>
              <a:srgbClr val="E1251B"/>
            </a:solidFill>
            <a:prstDash val="solid"/>
          </a:ln>
        </p:spPr>
      </p:sp>
      <p:sp>
        <p:nvSpPr>
          <p:cNvPr id="43" name="Text 40"/>
          <p:cNvSpPr txBox="1"/>
          <p:nvPr/>
        </p:nvSpPr>
        <p:spPr>
          <a:xfrm>
            <a:off x="8915400" y="3438144"/>
            <a:ext cx="2724912" cy="804672"/>
          </a:xfrm>
          <a:prstGeom prst="rect">
            <a:avLst/>
          </a:prstGeom>
          <a:noFill/>
          <a:ln/>
        </p:spPr>
        <p:txBody>
          <a:bodyPr wrap="square" lIns="0" tIns="0" rIns="0" bIns="0" rtlCol="0" anchor="ctr"/>
          <a:lstStyle/>
          <a:p>
            <a:pPr marL="0" indent="0" algn="ctr">
              <a:buNone/>
            </a:pPr>
            <a:r>
              <a:rPr lang="en-US" sz="1200" b="1" dirty="0">
                <a:solidFill>
                  <a:srgbClr val="2B2B2B"/>
                </a:solidFill>
              </a:rPr>
              <a:t>Quality Command Centre</a:t>
            </a:r>
            <a:endParaRPr lang="en-US" sz="1400" dirty="0"/>
          </a:p>
          <a:p>
            <a:pPr marL="0" indent="0" algn="ctr">
              <a:buNone/>
            </a:pPr>
            <a:r>
              <a:rPr lang="en-US" sz="1000" dirty="0">
                <a:solidFill>
                  <a:srgbClr val="4D4D4D"/>
                </a:solidFill>
              </a:rPr>
              <a:t>127.0.0.1:8090 · 9 views · 6 personas · read-only</a:t>
            </a:r>
            <a:endParaRPr lang="en-US" sz="1400" dirty="0"/>
          </a:p>
        </p:txBody>
      </p:sp>
      <p:sp>
        <p:nvSpPr>
          <p:cNvPr id="44" name="diagram-box"/>
          <p:cNvSpPr/>
          <p:nvPr/>
        </p:nvSpPr>
        <p:spPr>
          <a:xfrm>
            <a:off x="8823960" y="4434840"/>
            <a:ext cx="2907792" cy="731520"/>
          </a:xfrm>
          <a:prstGeom prst="roundRect">
            <a:avLst>
              <a:gd name="adj" fmla="val 7500"/>
            </a:avLst>
          </a:prstGeom>
          <a:solidFill>
            <a:srgbClr val="4D4D4D"/>
          </a:solidFill>
          <a:ln w="12700">
            <a:solidFill>
              <a:srgbClr val="4D4D4D"/>
            </a:solidFill>
            <a:prstDash val="solid"/>
          </a:ln>
        </p:spPr>
      </p:sp>
      <p:sp>
        <p:nvSpPr>
          <p:cNvPr id="45" name="Text 42"/>
          <p:cNvSpPr txBox="1"/>
          <p:nvPr/>
        </p:nvSpPr>
        <p:spPr>
          <a:xfrm>
            <a:off x="8915400" y="4489704"/>
            <a:ext cx="2724912" cy="621792"/>
          </a:xfrm>
          <a:prstGeom prst="rect">
            <a:avLst/>
          </a:prstGeom>
          <a:noFill/>
          <a:ln/>
        </p:spPr>
        <p:txBody>
          <a:bodyPr wrap="square" lIns="0" tIns="0" rIns="0" bIns="0" rtlCol="0" anchor="ctr"/>
          <a:lstStyle/>
          <a:p>
            <a:pPr marL="0" indent="0" algn="ctr">
              <a:buNone/>
            </a:pPr>
            <a:r>
              <a:rPr lang="en-US" sz="1200" b="1" dirty="0">
                <a:solidFill>
                  <a:srgbClr val="FFFFFF"/>
                </a:solidFill>
              </a:rPr>
              <a:t>AI assistant (A1)</a:t>
            </a:r>
            <a:endParaRPr lang="en-US" sz="1400" dirty="0"/>
          </a:p>
          <a:p>
            <a:pPr marL="0" indent="0" algn="ctr">
              <a:buNone/>
            </a:pPr>
            <a:r>
              <a:rPr lang="en-US" sz="1000" dirty="0">
                <a:solidFill>
                  <a:srgbClr val="E6E6E6"/>
                </a:solidFill>
              </a:rPr>
              <a:t>guard · retrieve · wrap · generate · log</a:t>
            </a:r>
            <a:endParaRPr lang="en-US" sz="1400" dirty="0"/>
          </a:p>
        </p:txBody>
      </p:sp>
      <p:sp>
        <p:nvSpPr>
          <p:cNvPr id="46" name="diagram-box"/>
          <p:cNvSpPr/>
          <p:nvPr/>
        </p:nvSpPr>
        <p:spPr>
          <a:xfrm>
            <a:off x="8823960" y="5349240"/>
            <a:ext cx="1371600" cy="731520"/>
          </a:xfrm>
          <a:prstGeom prst="roundRect">
            <a:avLst>
              <a:gd name="adj" fmla="val 7500"/>
            </a:avLst>
          </a:prstGeom>
          <a:solidFill>
            <a:srgbClr val="F6F6F6"/>
          </a:solidFill>
          <a:ln w="12700">
            <a:solidFill>
              <a:srgbClr val="E6E6E6"/>
            </a:solidFill>
            <a:prstDash val="solid"/>
          </a:ln>
        </p:spPr>
      </p:sp>
      <p:sp>
        <p:nvSpPr>
          <p:cNvPr id="47" name="Text 44"/>
          <p:cNvSpPr txBox="1"/>
          <p:nvPr/>
        </p:nvSpPr>
        <p:spPr>
          <a:xfrm>
            <a:off x="8915400" y="5404104"/>
            <a:ext cx="1188720" cy="621792"/>
          </a:xfrm>
          <a:prstGeom prst="rect">
            <a:avLst/>
          </a:prstGeom>
          <a:noFill/>
          <a:ln/>
        </p:spPr>
        <p:txBody>
          <a:bodyPr wrap="square" lIns="0" tIns="0" rIns="0" bIns="0" rtlCol="0" anchor="ctr"/>
          <a:lstStyle/>
          <a:p>
            <a:pPr marL="0" indent="0" algn="ctr">
              <a:buNone/>
            </a:pPr>
            <a:r>
              <a:rPr lang="en-US" sz="1100" b="1" dirty="0">
                <a:solidFill>
                  <a:srgbClr val="2B2B2B"/>
                </a:solidFill>
              </a:rPr>
              <a:t>Semantic layer</a:t>
            </a:r>
            <a:endParaRPr lang="en-US" sz="1400" dirty="0"/>
          </a:p>
          <a:p>
            <a:pPr marL="0" indent="0" algn="ctr">
              <a:buNone/>
            </a:pPr>
            <a:r>
              <a:rPr lang="en-US" sz="900" dirty="0">
                <a:solidFill>
                  <a:srgbClr val="4D4D4D"/>
                </a:solidFill>
              </a:rPr>
              <a:t>YAML · schema · tests</a:t>
            </a:r>
            <a:endParaRPr lang="en-US" sz="1400" dirty="0"/>
          </a:p>
        </p:txBody>
      </p:sp>
      <p:sp>
        <p:nvSpPr>
          <p:cNvPr id="48" name="diagram-box"/>
          <p:cNvSpPr/>
          <p:nvPr/>
        </p:nvSpPr>
        <p:spPr>
          <a:xfrm>
            <a:off x="10332720" y="5349240"/>
            <a:ext cx="1399032" cy="731520"/>
          </a:xfrm>
          <a:prstGeom prst="roundRect">
            <a:avLst>
              <a:gd name="adj" fmla="val 7500"/>
            </a:avLst>
          </a:prstGeom>
          <a:solidFill>
            <a:srgbClr val="FFFFFF"/>
          </a:solidFill>
          <a:ln w="12700">
            <a:solidFill>
              <a:srgbClr val="9E9E9E"/>
            </a:solidFill>
            <a:prstDash val="dash"/>
          </a:ln>
        </p:spPr>
      </p:sp>
      <p:sp>
        <p:nvSpPr>
          <p:cNvPr id="49" name="Text 46"/>
          <p:cNvSpPr txBox="1"/>
          <p:nvPr/>
        </p:nvSpPr>
        <p:spPr>
          <a:xfrm>
            <a:off x="10424160" y="5404104"/>
            <a:ext cx="1216152" cy="621792"/>
          </a:xfrm>
          <a:prstGeom prst="rect">
            <a:avLst/>
          </a:prstGeom>
          <a:noFill/>
          <a:ln/>
        </p:spPr>
        <p:txBody>
          <a:bodyPr wrap="square" lIns="0" tIns="0" rIns="0" bIns="0" rtlCol="0" anchor="ctr"/>
          <a:lstStyle/>
          <a:p>
            <a:pPr marL="0" indent="0" algn="ctr">
              <a:buNone/>
            </a:pPr>
            <a:r>
              <a:rPr lang="en-US" sz="1100" b="1" dirty="0">
                <a:solidFill>
                  <a:srgbClr val="2B2B2B"/>
                </a:solidFill>
              </a:rPr>
              <a:t>OpenAI / Azure</a:t>
            </a:r>
            <a:endParaRPr lang="en-US" sz="1400" dirty="0"/>
          </a:p>
          <a:p>
            <a:pPr marL="0" indent="0" algn="ctr">
              <a:buNone/>
            </a:pPr>
            <a:r>
              <a:rPr lang="en-US" sz="900" dirty="0">
                <a:solidFill>
                  <a:srgbClr val="4D4D4D"/>
                </a:solidFill>
              </a:rPr>
              <a:t>only with a key</a:t>
            </a:r>
            <a:endParaRPr lang="en-US" sz="1400" dirty="0"/>
          </a:p>
        </p:txBody>
      </p:sp>
      <p:sp>
        <p:nvSpPr>
          <p:cNvPr id="50" name="Shape 47"/>
          <p:cNvSpPr/>
          <p:nvPr/>
        </p:nvSpPr>
        <p:spPr>
          <a:xfrm>
            <a:off x="8458200" y="2807208"/>
            <a:ext cx="365760" cy="914"/>
          </a:xfrm>
          <a:prstGeom prst="line">
            <a:avLst/>
          </a:prstGeom>
          <a:noFill/>
          <a:ln w="15875">
            <a:solidFill>
              <a:srgbClr val="7A7A7A"/>
            </a:solidFill>
            <a:prstDash val="solid"/>
            <a:tailEnd type="triangle"/>
          </a:ln>
        </p:spPr>
      </p:sp>
      <p:sp>
        <p:nvSpPr>
          <p:cNvPr id="51" name="Shape 48"/>
          <p:cNvSpPr/>
          <p:nvPr/>
        </p:nvSpPr>
        <p:spPr>
          <a:xfrm>
            <a:off x="8458200" y="3840480"/>
            <a:ext cx="365760" cy="914"/>
          </a:xfrm>
          <a:prstGeom prst="line">
            <a:avLst/>
          </a:prstGeom>
          <a:noFill/>
          <a:ln w="15875">
            <a:solidFill>
              <a:srgbClr val="7A7A7A"/>
            </a:solidFill>
            <a:prstDash val="solid"/>
            <a:tailEnd type="triangle"/>
          </a:ln>
        </p:spPr>
      </p:sp>
      <p:sp>
        <p:nvSpPr>
          <p:cNvPr id="52" name="Shape 49"/>
          <p:cNvSpPr/>
          <p:nvPr/>
        </p:nvSpPr>
        <p:spPr>
          <a:xfrm>
            <a:off x="10277856" y="4297680"/>
            <a:ext cx="914" cy="137160"/>
          </a:xfrm>
          <a:prstGeom prst="line">
            <a:avLst/>
          </a:prstGeom>
          <a:noFill/>
          <a:ln w="15875">
            <a:solidFill>
              <a:srgbClr val="7A7A7A"/>
            </a:solidFill>
            <a:prstDash val="solid"/>
            <a:tailEnd type="triangle"/>
          </a:ln>
        </p:spPr>
      </p:sp>
      <p:sp>
        <p:nvSpPr>
          <p:cNvPr id="53" name="Shape 50"/>
          <p:cNvSpPr/>
          <p:nvPr/>
        </p:nvSpPr>
        <p:spPr>
          <a:xfrm flipV="1">
            <a:off x="9509760" y="5166360"/>
            <a:ext cx="914" cy="182880"/>
          </a:xfrm>
          <a:prstGeom prst="line">
            <a:avLst/>
          </a:prstGeom>
          <a:noFill/>
          <a:ln w="15875">
            <a:solidFill>
              <a:srgbClr val="7A7A7A"/>
            </a:solidFill>
            <a:prstDash val="solid"/>
            <a:tailEnd type="triangle"/>
          </a:ln>
        </p:spPr>
      </p:sp>
      <p:sp>
        <p:nvSpPr>
          <p:cNvPr id="54" name="Shape 51"/>
          <p:cNvSpPr/>
          <p:nvPr/>
        </p:nvSpPr>
        <p:spPr>
          <a:xfrm>
            <a:off x="11027664" y="5166360"/>
            <a:ext cx="914" cy="182880"/>
          </a:xfrm>
          <a:prstGeom prst="line">
            <a:avLst/>
          </a:prstGeom>
          <a:noFill/>
          <a:ln w="15875">
            <a:solidFill>
              <a:srgbClr val="9E9E9E"/>
            </a:solidFill>
            <a:prstDash val="dash"/>
            <a:tailEnd type="triangle"/>
          </a:ln>
        </p:spPr>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Technical implementation</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A MODULAR MONOLITH</a:t>
            </a:r>
            <a:endParaRPr lang="en-US" sz="3000" dirty="0"/>
          </a:p>
          <a:p>
            <a:pPr marL="0" indent="0" algn="l">
              <a:lnSpc>
                <a:spcPct val="95000"/>
              </a:lnSpc>
              <a:buNone/>
            </a:pPr>
            <a:r>
              <a:rPr lang="en-US" sz="3000" b="1" dirty="0">
                <a:solidFill>
                  <a:schemeClr val="accent1"/>
                </a:solidFill>
              </a:rPr>
              <a:t>BESIDE THE LEGACY ESTATE</a:t>
            </a:r>
            <a:endParaRPr lang="en-US" sz="3000" dirty="0"/>
          </a:p>
        </p:txBody>
      </p:sp>
      <p:sp>
        <p:nvSpPr>
          <p:cNvPr id="5" name="Shape 2"/>
          <p:cNvSpPr/>
          <p:nvPr/>
        </p:nvSpPr>
        <p:spPr>
          <a:xfrm>
            <a:off x="457200" y="2194560"/>
            <a:ext cx="2011680" cy="841248"/>
          </a:xfrm>
          <a:prstGeom prst="roundRect">
            <a:avLst>
              <a:gd name="adj" fmla="val 8696"/>
            </a:avLst>
          </a:prstGeom>
          <a:solidFill>
            <a:srgbClr val="E1251B"/>
          </a:solidFill>
          <a:ln w="12700">
            <a:solidFill>
              <a:srgbClr val="E1251B"/>
            </a:solidFill>
            <a:prstDash val="solid"/>
          </a:ln>
        </p:spPr>
      </p:sp>
      <p:sp>
        <p:nvSpPr>
          <p:cNvPr id="6" name="Text 3"/>
          <p:cNvSpPr txBox="1"/>
          <p:nvPr/>
        </p:nvSpPr>
        <p:spPr>
          <a:xfrm>
            <a:off x="594360" y="2441448"/>
            <a:ext cx="1737360" cy="365760"/>
          </a:xfrm>
          <a:prstGeom prst="rect">
            <a:avLst/>
          </a:prstGeom>
          <a:noFill/>
          <a:ln/>
        </p:spPr>
        <p:txBody>
          <a:bodyPr wrap="square" lIns="0" tIns="0" rIns="0" bIns="0" rtlCol="0" anchor="t"/>
          <a:lstStyle/>
          <a:p>
            <a:pPr marL="0" indent="0">
              <a:buNone/>
            </a:pPr>
            <a:r>
              <a:rPr lang="en-US" sz="1500" b="1" dirty="0">
                <a:solidFill>
                  <a:schemeClr val="bg1"/>
                </a:solidFill>
              </a:rPr>
              <a:t>Experience</a:t>
            </a:r>
            <a:endParaRPr lang="en-US" sz="1500" dirty="0"/>
          </a:p>
        </p:txBody>
      </p:sp>
      <p:sp>
        <p:nvSpPr>
          <p:cNvPr id="7" name="card"/>
          <p:cNvSpPr/>
          <p:nvPr/>
        </p:nvSpPr>
        <p:spPr>
          <a:xfrm>
            <a:off x="2606040" y="2194560"/>
            <a:ext cx="5760720" cy="841248"/>
          </a:xfrm>
          <a:prstGeom prst="roundRect">
            <a:avLst>
              <a:gd name="adj" fmla="val 8696"/>
            </a:avLst>
          </a:prstGeom>
          <a:solidFill>
            <a:schemeClr val="bg1"/>
          </a:solidFill>
          <a:ln w="9525">
            <a:solidFill>
              <a:srgbClr val="E6E6E6"/>
            </a:solidFill>
            <a:prstDash val="solid"/>
          </a:ln>
        </p:spPr>
      </p:sp>
      <p:sp>
        <p:nvSpPr>
          <p:cNvPr id="8" name="Text 5"/>
          <p:cNvSpPr txBox="1"/>
          <p:nvPr/>
        </p:nvSpPr>
        <p:spPr>
          <a:xfrm>
            <a:off x="2788920" y="2267712"/>
            <a:ext cx="5486400" cy="731520"/>
          </a:xfrm>
          <a:prstGeom prst="rect">
            <a:avLst/>
          </a:prstGeom>
          <a:noFill/>
          <a:ln/>
        </p:spPr>
        <p:txBody>
          <a:bodyPr wrap="square" lIns="0" tIns="0" rIns="0" bIns="0" rtlCol="0" anchor="ctr"/>
          <a:lstStyle/>
          <a:p>
            <a:pPr marL="342900" indent="-342900">
              <a:buSzPct val="100000"/>
              <a:buChar char="•"/>
            </a:pPr>
            <a:r>
              <a:rPr lang="en-US" sz="1100" dirty="0">
                <a:solidFill>
                  <a:schemeClr val="tx1"/>
                </a:solidFill>
              </a:rPr>
              <a:t>GxP Quality Command Centre (9 views, 6 personas)</a:t>
            </a:r>
            <a:endParaRPr lang="en-US" sz="1100" dirty="0"/>
          </a:p>
          <a:p>
            <a:pPr marL="342900" indent="-342900">
              <a:buSzPct val="100000"/>
              <a:buChar char="•"/>
            </a:pPr>
            <a:r>
              <a:rPr lang="en-US" sz="1100" dirty="0">
                <a:solidFill>
                  <a:schemeClr val="tx1"/>
                </a:solidFill>
              </a:rPr>
              <a:t>Advisory AI assistant: OpenAI / Azure OpenAI, one config file</a:t>
            </a:r>
            <a:endParaRPr lang="en-US" sz="1100" dirty="0"/>
          </a:p>
          <a:p>
            <a:pPr marL="342900" indent="-342900">
              <a:buSzPct val="100000"/>
              <a:buChar char="•"/>
            </a:pPr>
            <a:r>
              <a:rPr lang="en-US" sz="1100" dirty="0">
                <a:solidFill>
                  <a:schemeClr val="tx1"/>
                </a:solidFill>
              </a:rPr>
              <a:t>Hub reviewer UI (login, queue, trace, evidence pack)</a:t>
            </a:r>
            <a:endParaRPr lang="en-US" sz="1100" dirty="0"/>
          </a:p>
        </p:txBody>
      </p:sp>
      <p:sp>
        <p:nvSpPr>
          <p:cNvPr id="9" name="Shape 6"/>
          <p:cNvSpPr/>
          <p:nvPr/>
        </p:nvSpPr>
        <p:spPr>
          <a:xfrm>
            <a:off x="457200" y="3182112"/>
            <a:ext cx="2011680" cy="841248"/>
          </a:xfrm>
          <a:prstGeom prst="roundRect">
            <a:avLst>
              <a:gd name="adj" fmla="val 8696"/>
            </a:avLst>
          </a:prstGeom>
          <a:solidFill>
            <a:srgbClr val="4D4D4D"/>
          </a:solidFill>
          <a:ln w="12700">
            <a:solidFill>
              <a:srgbClr val="4D4D4D"/>
            </a:solidFill>
            <a:prstDash val="solid"/>
          </a:ln>
        </p:spPr>
      </p:sp>
      <p:sp>
        <p:nvSpPr>
          <p:cNvPr id="10" name="Text 7"/>
          <p:cNvSpPr txBox="1"/>
          <p:nvPr/>
        </p:nvSpPr>
        <p:spPr>
          <a:xfrm>
            <a:off x="594360" y="3429000"/>
            <a:ext cx="1737360" cy="365760"/>
          </a:xfrm>
          <a:prstGeom prst="rect">
            <a:avLst/>
          </a:prstGeom>
          <a:noFill/>
          <a:ln/>
        </p:spPr>
        <p:txBody>
          <a:bodyPr wrap="square" lIns="0" tIns="0" rIns="0" bIns="0" rtlCol="0" anchor="t"/>
          <a:lstStyle/>
          <a:p>
            <a:pPr marL="0" indent="0">
              <a:buNone/>
            </a:pPr>
            <a:r>
              <a:rPr lang="en-US" sz="1500" b="1" dirty="0">
                <a:solidFill>
                  <a:schemeClr val="bg1"/>
                </a:solidFill>
              </a:rPr>
              <a:t>Knowledge</a:t>
            </a:r>
            <a:endParaRPr lang="en-US" sz="1500" dirty="0"/>
          </a:p>
        </p:txBody>
      </p:sp>
      <p:sp>
        <p:nvSpPr>
          <p:cNvPr id="11" name="card"/>
          <p:cNvSpPr/>
          <p:nvPr/>
        </p:nvSpPr>
        <p:spPr>
          <a:xfrm>
            <a:off x="2606040" y="3182112"/>
            <a:ext cx="5760720" cy="841248"/>
          </a:xfrm>
          <a:prstGeom prst="roundRect">
            <a:avLst>
              <a:gd name="adj" fmla="val 8696"/>
            </a:avLst>
          </a:prstGeom>
          <a:solidFill>
            <a:schemeClr val="bg1"/>
          </a:solidFill>
          <a:ln w="9525">
            <a:solidFill>
              <a:srgbClr val="E6E6E6"/>
            </a:solidFill>
            <a:prstDash val="solid"/>
          </a:ln>
        </p:spPr>
      </p:sp>
      <p:sp>
        <p:nvSpPr>
          <p:cNvPr id="12" name="Text 9"/>
          <p:cNvSpPr txBox="1"/>
          <p:nvPr/>
        </p:nvSpPr>
        <p:spPr>
          <a:xfrm>
            <a:off x="2788920" y="3255264"/>
            <a:ext cx="5486400" cy="731520"/>
          </a:xfrm>
          <a:prstGeom prst="rect">
            <a:avLst/>
          </a:prstGeom>
          <a:noFill/>
          <a:ln/>
        </p:spPr>
        <p:txBody>
          <a:bodyPr wrap="square" lIns="0" tIns="0" rIns="0" bIns="0" rtlCol="0" anchor="ctr"/>
          <a:lstStyle/>
          <a:p>
            <a:pPr marL="342900" indent="-342900">
              <a:buSzPct val="100000"/>
              <a:buChar char="•"/>
            </a:pPr>
            <a:r>
              <a:rPr lang="en-US" sz="1100" dirty="0">
                <a:solidFill>
                  <a:schemeClr val="tx1"/>
                </a:solidFill>
              </a:rPr>
              <a:t>Semantic layer: 34 entities, 56 vocabularies, 48 spec rules</a:t>
            </a:r>
            <a:endParaRPr lang="en-US" sz="1100" dirty="0"/>
          </a:p>
          <a:p>
            <a:pPr marL="342900" indent="-342900">
              <a:buSzPct val="100000"/>
              <a:buChar char="•"/>
            </a:pPr>
            <a:r>
              <a:rPr lang="en-US" sz="1100" dirty="0">
                <a:solidFill>
                  <a:schemeClr val="tx1"/>
                </a:solidFill>
              </a:rPr>
              <a:t>JSON Schema + 17 tests + generated JSON for any model</a:t>
            </a:r>
            <a:endParaRPr lang="en-US" sz="1100" dirty="0"/>
          </a:p>
          <a:p>
            <a:pPr marL="342900" indent="-342900">
              <a:buSzPct val="100000"/>
              <a:buChar char="•"/>
            </a:pPr>
            <a:r>
              <a:rPr lang="en-US" sz="1100" dirty="0">
                <a:solidFill>
                  <a:schemeClr val="tx1"/>
                </a:solidFill>
              </a:rPr>
              <a:t>Open-decision register: OPD-01..16, OD-S12, RQ-1..4</a:t>
            </a:r>
            <a:endParaRPr lang="en-US" sz="1100" dirty="0"/>
          </a:p>
        </p:txBody>
      </p:sp>
      <p:sp>
        <p:nvSpPr>
          <p:cNvPr id="13" name="Shape 10"/>
          <p:cNvSpPr/>
          <p:nvPr/>
        </p:nvSpPr>
        <p:spPr>
          <a:xfrm>
            <a:off x="457200" y="4169664"/>
            <a:ext cx="2011680" cy="841248"/>
          </a:xfrm>
          <a:prstGeom prst="roundRect">
            <a:avLst>
              <a:gd name="adj" fmla="val 8696"/>
            </a:avLst>
          </a:prstGeom>
          <a:solidFill>
            <a:srgbClr val="4D4D4D"/>
          </a:solidFill>
          <a:ln w="12700">
            <a:solidFill>
              <a:srgbClr val="4D4D4D"/>
            </a:solidFill>
            <a:prstDash val="solid"/>
          </a:ln>
        </p:spPr>
      </p:sp>
      <p:sp>
        <p:nvSpPr>
          <p:cNvPr id="14" name="Text 11"/>
          <p:cNvSpPr txBox="1"/>
          <p:nvPr/>
        </p:nvSpPr>
        <p:spPr>
          <a:xfrm>
            <a:off x="594360" y="4416552"/>
            <a:ext cx="1737360" cy="365760"/>
          </a:xfrm>
          <a:prstGeom prst="rect">
            <a:avLst/>
          </a:prstGeom>
          <a:noFill/>
          <a:ln/>
        </p:spPr>
        <p:txBody>
          <a:bodyPr wrap="square" lIns="0" tIns="0" rIns="0" bIns="0" rtlCol="0" anchor="t"/>
          <a:lstStyle/>
          <a:p>
            <a:pPr marL="0" indent="0">
              <a:buNone/>
            </a:pPr>
            <a:r>
              <a:rPr lang="en-US" sz="1500" b="1" dirty="0">
                <a:solidFill>
                  <a:schemeClr val="bg1"/>
                </a:solidFill>
              </a:rPr>
              <a:t>Hub core</a:t>
            </a:r>
            <a:endParaRPr lang="en-US" sz="1500" dirty="0"/>
          </a:p>
        </p:txBody>
      </p:sp>
      <p:sp>
        <p:nvSpPr>
          <p:cNvPr id="15" name="card"/>
          <p:cNvSpPr/>
          <p:nvPr/>
        </p:nvSpPr>
        <p:spPr>
          <a:xfrm>
            <a:off x="2606040" y="4169664"/>
            <a:ext cx="5760720" cy="841248"/>
          </a:xfrm>
          <a:prstGeom prst="roundRect">
            <a:avLst>
              <a:gd name="adj" fmla="val 8696"/>
            </a:avLst>
          </a:prstGeom>
          <a:solidFill>
            <a:schemeClr val="bg1"/>
          </a:solidFill>
          <a:ln w="9525">
            <a:solidFill>
              <a:srgbClr val="E6E6E6"/>
            </a:solidFill>
            <a:prstDash val="solid"/>
          </a:ln>
        </p:spPr>
      </p:sp>
      <p:sp>
        <p:nvSpPr>
          <p:cNvPr id="16" name="Text 13"/>
          <p:cNvSpPr txBox="1"/>
          <p:nvPr/>
        </p:nvSpPr>
        <p:spPr>
          <a:xfrm>
            <a:off x="2788920" y="4242816"/>
            <a:ext cx="5486400" cy="731520"/>
          </a:xfrm>
          <a:prstGeom prst="rect">
            <a:avLst/>
          </a:prstGeom>
          <a:noFill/>
          <a:ln/>
        </p:spPr>
        <p:txBody>
          <a:bodyPr wrap="square" lIns="0" tIns="0" rIns="0" bIns="0" rtlCol="0" anchor="ctr"/>
          <a:lstStyle/>
          <a:p>
            <a:pPr marL="342900" indent="-342900">
              <a:buSzPct val="100000"/>
              <a:buChar char="•"/>
            </a:pPr>
            <a:r>
              <a:rPr lang="en-US" sz="1100" dirty="0">
                <a:solidFill>
                  <a:schemeClr val="tx1"/>
                </a:solidFill>
              </a:rPr>
              <a:t>intake · crosswalk · decision · gate · policy · metrics · runs · audit</a:t>
            </a:r>
            <a:endParaRPr lang="en-US" sz="1100" dirty="0"/>
          </a:p>
          <a:p>
            <a:pPr marL="342900" indent="-342900">
              <a:buSzPct val="100000"/>
              <a:buChar char="•"/>
            </a:pPr>
            <a:r>
              <a:rPr lang="en-US" sz="1100" dirty="0">
                <a:solidFill>
                  <a:schemeClr val="tx1"/>
                </a:solidFill>
              </a:rPr>
              <a:t>Python standard library only; 204 files, 17,247 lines</a:t>
            </a:r>
            <a:endParaRPr lang="en-US" sz="1100" dirty="0"/>
          </a:p>
          <a:p>
            <a:pPr marL="342900" indent="-342900">
              <a:buSzPct val="100000"/>
              <a:buChar char="•"/>
            </a:pPr>
            <a:r>
              <a:rPr lang="en-US" sz="1100" dirty="0">
                <a:solidFill>
                  <a:schemeClr val="tx1"/>
                </a:solidFill>
              </a:rPr>
              <a:t>48 API operations, deny-by-default, hash-chained audit</a:t>
            </a:r>
            <a:endParaRPr lang="en-US" sz="1100" dirty="0"/>
          </a:p>
        </p:txBody>
      </p:sp>
      <p:sp>
        <p:nvSpPr>
          <p:cNvPr id="17" name="Shape 14"/>
          <p:cNvSpPr/>
          <p:nvPr/>
        </p:nvSpPr>
        <p:spPr>
          <a:xfrm>
            <a:off x="457200" y="5157216"/>
            <a:ext cx="2011680" cy="841248"/>
          </a:xfrm>
          <a:prstGeom prst="roundRect">
            <a:avLst>
              <a:gd name="adj" fmla="val 8696"/>
            </a:avLst>
          </a:prstGeom>
          <a:solidFill>
            <a:srgbClr val="9E9E9E"/>
          </a:solidFill>
          <a:ln w="12700">
            <a:solidFill>
              <a:srgbClr val="9E9E9E"/>
            </a:solidFill>
            <a:prstDash val="solid"/>
          </a:ln>
        </p:spPr>
      </p:sp>
      <p:sp>
        <p:nvSpPr>
          <p:cNvPr id="18" name="Text 15"/>
          <p:cNvSpPr txBox="1"/>
          <p:nvPr/>
        </p:nvSpPr>
        <p:spPr>
          <a:xfrm>
            <a:off x="594360" y="5404104"/>
            <a:ext cx="1737360" cy="365760"/>
          </a:xfrm>
          <a:prstGeom prst="rect">
            <a:avLst/>
          </a:prstGeom>
          <a:noFill/>
          <a:ln/>
        </p:spPr>
        <p:txBody>
          <a:bodyPr wrap="square" lIns="0" tIns="0" rIns="0" bIns="0" rtlCol="0" anchor="t"/>
          <a:lstStyle/>
          <a:p>
            <a:pPr marL="0" indent="0">
              <a:buNone/>
            </a:pPr>
            <a:r>
              <a:rPr lang="en-US" sz="1500" b="1" dirty="0">
                <a:solidFill>
                  <a:schemeClr val="bg1"/>
                </a:solidFill>
              </a:rPr>
              <a:t>Legacy estate</a:t>
            </a:r>
            <a:endParaRPr lang="en-US" sz="1500" dirty="0"/>
          </a:p>
        </p:txBody>
      </p:sp>
      <p:sp>
        <p:nvSpPr>
          <p:cNvPr id="19" name="card"/>
          <p:cNvSpPr/>
          <p:nvPr/>
        </p:nvSpPr>
        <p:spPr>
          <a:xfrm>
            <a:off x="2606040" y="5157216"/>
            <a:ext cx="5760720" cy="841248"/>
          </a:xfrm>
          <a:prstGeom prst="roundRect">
            <a:avLst>
              <a:gd name="adj" fmla="val 8696"/>
            </a:avLst>
          </a:prstGeom>
          <a:solidFill>
            <a:schemeClr val="bg1"/>
          </a:solidFill>
          <a:ln w="9525">
            <a:solidFill>
              <a:srgbClr val="E6E6E6"/>
            </a:solidFill>
            <a:prstDash val="solid"/>
          </a:ln>
        </p:spPr>
      </p:sp>
      <p:sp>
        <p:nvSpPr>
          <p:cNvPr id="20" name="Text 17"/>
          <p:cNvSpPr txBox="1"/>
          <p:nvPr/>
        </p:nvSpPr>
        <p:spPr>
          <a:xfrm>
            <a:off x="2788920" y="5230368"/>
            <a:ext cx="5486400" cy="731520"/>
          </a:xfrm>
          <a:prstGeom prst="rect">
            <a:avLst/>
          </a:prstGeom>
          <a:noFill/>
          <a:ln/>
        </p:spPr>
        <p:txBody>
          <a:bodyPr wrap="square" lIns="0" tIns="0" rIns="0" bIns="0" rtlCol="0" anchor="ctr"/>
          <a:lstStyle/>
          <a:p>
            <a:pPr marL="342900" indent="-342900">
              <a:buSzPct val="100000"/>
              <a:buChar char="•"/>
            </a:pPr>
            <a:r>
              <a:rPr lang="en-US" sz="1100" dirty="0">
                <a:solidFill>
                  <a:schemeClr val="tx1"/>
                </a:solidFill>
              </a:rPr>
              <a:t>SQLite case store, partner feeds, gateway, vendor files</a:t>
            </a:r>
            <a:endParaRPr lang="en-US" sz="1100" dirty="0"/>
          </a:p>
          <a:p>
            <a:pPr marL="342900" indent="-342900">
              <a:buSzPct val="100000"/>
              <a:buChar char="•"/>
            </a:pPr>
            <a:r>
              <a:rPr lang="en-US" sz="1100" dirty="0">
                <a:solidFill>
                  <a:schemeClr val="tx1"/>
                </a:solidFill>
              </a:rPr>
              <a:t>Untouched; read through a checksum-verified snapshot</a:t>
            </a:r>
            <a:endParaRPr lang="en-US" sz="1100" dirty="0"/>
          </a:p>
          <a:p>
            <a:pPr marL="342900" indent="-342900">
              <a:buSzPct val="100000"/>
              <a:buChar char="•"/>
            </a:pPr>
            <a:r>
              <a:rPr lang="en-US" sz="1100" dirty="0">
                <a:solidFill>
                  <a:schemeClr val="tx1"/>
                </a:solidFill>
              </a:rPr>
              <a:t>Legacy rules kept for side-by-side comparison</a:t>
            </a:r>
            <a:endParaRPr lang="en-US" sz="1100" dirty="0"/>
          </a:p>
        </p:txBody>
      </p:sp>
      <p:sp>
        <p:nvSpPr>
          <p:cNvPr id="21" name="card"/>
          <p:cNvSpPr/>
          <p:nvPr/>
        </p:nvSpPr>
        <p:spPr>
          <a:xfrm>
            <a:off x="8549640" y="2194560"/>
            <a:ext cx="3182112" cy="3803904"/>
          </a:xfrm>
          <a:prstGeom prst="roundRect">
            <a:avLst>
              <a:gd name="adj" fmla="val 2299"/>
            </a:avLst>
          </a:prstGeom>
          <a:solidFill>
            <a:srgbClr val="F6F6F6"/>
          </a:solidFill>
          <a:ln w="9525">
            <a:solidFill>
              <a:srgbClr val="F6F6F6"/>
            </a:solidFill>
            <a:prstDash val="solid"/>
          </a:ln>
        </p:spPr>
      </p:sp>
      <p:sp>
        <p:nvSpPr>
          <p:cNvPr id="22" name="Text 19"/>
          <p:cNvSpPr txBox="1"/>
          <p:nvPr/>
        </p:nvSpPr>
        <p:spPr>
          <a:xfrm>
            <a:off x="8778240" y="2377440"/>
            <a:ext cx="2743200"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CONTROLS ACROSS LAYERS</a:t>
            </a:r>
            <a:endParaRPr lang="en-US" sz="1100" dirty="0"/>
          </a:p>
        </p:txBody>
      </p:sp>
      <p:sp>
        <p:nvSpPr>
          <p:cNvPr id="23" name="Text 20"/>
          <p:cNvSpPr txBox="1"/>
          <p:nvPr/>
        </p:nvSpPr>
        <p:spPr>
          <a:xfrm>
            <a:off x="8778240" y="2743200"/>
            <a:ext cx="278892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Loopback only (127.0.0.1)</a:t>
            </a:r>
            <a:endParaRPr lang="en-US" sz="1200" dirty="0"/>
          </a:p>
          <a:p>
            <a:pPr marL="342900" indent="-342900">
              <a:spcAft>
                <a:spcPts val="600"/>
              </a:spcAft>
              <a:buSzPct val="100000"/>
              <a:buChar char="•"/>
            </a:pPr>
            <a:r>
              <a:rPr lang="en-US" sz="1200" dirty="0">
                <a:solidFill>
                  <a:schemeClr val="tx1"/>
                </a:solidFill>
              </a:rPr>
              <a:t>Checksum gate on data (OD-03a)</a:t>
            </a:r>
            <a:endParaRPr lang="en-US" sz="1200" dirty="0"/>
          </a:p>
          <a:p>
            <a:pPr marL="342900" indent="-342900">
              <a:spcAft>
                <a:spcPts val="600"/>
              </a:spcAft>
              <a:buSzPct val="100000"/>
              <a:buChar char="•"/>
            </a:pPr>
            <a:r>
              <a:rPr lang="en-US" sz="1200" dirty="0">
                <a:solidFill>
                  <a:schemeClr val="tx1"/>
                </a:solidFill>
              </a:rPr>
              <a:t>Deny-by-default routes and roles</a:t>
            </a:r>
            <a:endParaRPr lang="en-US" sz="1200" dirty="0"/>
          </a:p>
          <a:p>
            <a:pPr marL="342900" indent="-342900">
              <a:spcAft>
                <a:spcPts val="600"/>
              </a:spcAft>
              <a:buSzPct val="100000"/>
              <a:buChar char="•"/>
            </a:pPr>
            <a:r>
              <a:rPr lang="en-US" sz="1200" dirty="0">
                <a:solidFill>
                  <a:schemeClr val="tx1"/>
                </a:solidFill>
              </a:rPr>
              <a:t>Zone H human gate, empty holders</a:t>
            </a:r>
            <a:endParaRPr lang="en-US" sz="1200" dirty="0"/>
          </a:p>
          <a:p>
            <a:pPr marL="342900" indent="-342900">
              <a:spcAft>
                <a:spcPts val="600"/>
              </a:spcAft>
              <a:buSzPct val="100000"/>
              <a:buChar char="•"/>
            </a:pPr>
            <a:r>
              <a:rPr lang="en-US" sz="1200" dirty="0">
                <a:solidFill>
                  <a:schemeClr val="tx1"/>
                </a:solidFill>
              </a:rPr>
              <a:t>Untrusted text wrapped, never obeyed</a:t>
            </a:r>
            <a:endParaRPr lang="en-US" sz="1200" dirty="0"/>
          </a:p>
          <a:p>
            <a:pPr marL="342900" indent="-342900">
              <a:spcAft>
                <a:spcPts val="600"/>
              </a:spcAft>
              <a:buSzPct val="100000"/>
              <a:buChar char="•"/>
            </a:pPr>
            <a:r>
              <a:rPr lang="en-US" sz="1200" dirty="0">
                <a:solidFill>
                  <a:schemeClr val="tx1"/>
                </a:solidFill>
              </a:rPr>
              <a:t>API key: env or local file, never logged</a:t>
            </a:r>
            <a:endParaRPr lang="en-US" sz="1200" dirty="0"/>
          </a:p>
          <a:p>
            <a:pPr marL="342900" indent="-342900">
              <a:spcAft>
                <a:spcPts val="600"/>
              </a:spcAft>
              <a:buSzPct val="100000"/>
              <a:buChar char="•"/>
            </a:pPr>
            <a:r>
              <a:rPr lang="en-US" sz="1200" dirty="0">
                <a:solidFill>
                  <a:schemeClr val="tx1"/>
                </a:solidFill>
              </a:rPr>
              <a:t>No writes to the repository</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Code structure</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INSIDE THE HUB:</a:t>
            </a:r>
            <a:endParaRPr lang="en-US" sz="3000" dirty="0"/>
          </a:p>
          <a:p>
            <a:pPr marL="0" indent="0" algn="l">
              <a:lnSpc>
                <a:spcPct val="95000"/>
              </a:lnSpc>
              <a:buNone/>
            </a:pPr>
            <a:r>
              <a:rPr lang="en-US" sz="3000" b="1" dirty="0">
                <a:solidFill>
                  <a:schemeClr val="accent1"/>
                </a:solidFill>
              </a:rPr>
              <a:t>24 PACKAGES, ONE RESPONSIBILITY EACH</a:t>
            </a:r>
            <a:endParaRPr lang="en-US" sz="3000" dirty="0"/>
          </a:p>
        </p:txBody>
      </p:sp>
      <p:sp>
        <p:nvSpPr>
          <p:cNvPr id="5" name="card"/>
          <p:cNvSpPr/>
          <p:nvPr/>
        </p:nvSpPr>
        <p:spPr>
          <a:xfrm>
            <a:off x="457200" y="2148840"/>
            <a:ext cx="361188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Text 3"/>
          <p:cNvSpPr txBox="1"/>
          <p:nvPr/>
        </p:nvSpPr>
        <p:spPr>
          <a:xfrm>
            <a:off x="685800" y="2313432"/>
            <a:ext cx="310896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INGEST</a:t>
            </a:r>
            <a:endParaRPr lang="en-US" sz="1200" dirty="0"/>
          </a:p>
        </p:txBody>
      </p:sp>
      <p:sp>
        <p:nvSpPr>
          <p:cNvPr id="7" name="Text 4"/>
          <p:cNvSpPr txBox="1"/>
          <p:nvPr/>
        </p:nvSpPr>
        <p:spPr>
          <a:xfrm>
            <a:off x="685800" y="2651760"/>
            <a:ext cx="1097280" cy="228600"/>
          </a:xfrm>
          <a:prstGeom prst="rect">
            <a:avLst/>
          </a:prstGeom>
          <a:noFill/>
          <a:ln/>
        </p:spPr>
        <p:txBody>
          <a:bodyPr wrap="square" lIns="0" tIns="0" rIns="0" bIns="0" rtlCol="0" anchor="t"/>
          <a:lstStyle/>
          <a:p>
            <a:pPr marL="0" indent="0">
              <a:buNone/>
            </a:pPr>
            <a:r>
              <a:rPr lang="en-US" sz="1100" dirty="0">
                <a:solidFill>
                  <a:schemeClr val="tx1"/>
                </a:solidFill>
              </a:rPr>
              <a:t>intake</a:t>
            </a:r>
            <a:endParaRPr lang="en-US" sz="1100" dirty="0"/>
          </a:p>
        </p:txBody>
      </p:sp>
      <p:sp>
        <p:nvSpPr>
          <p:cNvPr id="8" name="Shape 5"/>
          <p:cNvSpPr/>
          <p:nvPr/>
        </p:nvSpPr>
        <p:spPr>
          <a:xfrm>
            <a:off x="1783080" y="2706624"/>
            <a:ext cx="950097" cy="128016"/>
          </a:xfrm>
          <a:prstGeom prst="rect">
            <a:avLst/>
          </a:prstGeom>
          <a:solidFill>
            <a:srgbClr val="9E9E9E"/>
          </a:solidFill>
          <a:ln w="12700">
            <a:solidFill>
              <a:srgbClr val="FFFFFF"/>
            </a:solidFill>
            <a:prstDash val="solid"/>
          </a:ln>
        </p:spPr>
      </p:sp>
      <p:sp>
        <p:nvSpPr>
          <p:cNvPr id="9" name="Text 6"/>
          <p:cNvSpPr txBox="1"/>
          <p:nvPr/>
        </p:nvSpPr>
        <p:spPr>
          <a:xfrm>
            <a:off x="3383280" y="2651760"/>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1,157</a:t>
            </a:r>
            <a:endParaRPr lang="en-US" sz="1000" dirty="0"/>
          </a:p>
        </p:txBody>
      </p:sp>
      <p:sp>
        <p:nvSpPr>
          <p:cNvPr id="10" name="Text 7"/>
          <p:cNvSpPr txBox="1"/>
          <p:nvPr/>
        </p:nvSpPr>
        <p:spPr>
          <a:xfrm>
            <a:off x="685800" y="2907792"/>
            <a:ext cx="1097280" cy="228600"/>
          </a:xfrm>
          <a:prstGeom prst="rect">
            <a:avLst/>
          </a:prstGeom>
          <a:noFill/>
          <a:ln/>
        </p:spPr>
        <p:txBody>
          <a:bodyPr wrap="square" lIns="0" tIns="0" rIns="0" bIns="0" rtlCol="0" anchor="t"/>
          <a:lstStyle/>
          <a:p>
            <a:pPr marL="0" indent="0">
              <a:buNone/>
            </a:pPr>
            <a:r>
              <a:rPr lang="en-US" sz="1100" dirty="0">
                <a:solidFill>
                  <a:schemeClr val="tx1"/>
                </a:solidFill>
              </a:rPr>
              <a:t>search</a:t>
            </a:r>
            <a:endParaRPr lang="en-US" sz="1100" dirty="0"/>
          </a:p>
        </p:txBody>
      </p:sp>
      <p:sp>
        <p:nvSpPr>
          <p:cNvPr id="11" name="Shape 8"/>
          <p:cNvSpPr/>
          <p:nvPr/>
        </p:nvSpPr>
        <p:spPr>
          <a:xfrm>
            <a:off x="1783080" y="2962656"/>
            <a:ext cx="638872" cy="128016"/>
          </a:xfrm>
          <a:prstGeom prst="rect">
            <a:avLst/>
          </a:prstGeom>
          <a:solidFill>
            <a:srgbClr val="9E9E9E"/>
          </a:solidFill>
          <a:ln w="12700">
            <a:solidFill>
              <a:srgbClr val="FFFFFF"/>
            </a:solidFill>
            <a:prstDash val="solid"/>
          </a:ln>
        </p:spPr>
      </p:sp>
      <p:sp>
        <p:nvSpPr>
          <p:cNvPr id="12" name="Text 9"/>
          <p:cNvSpPr txBox="1"/>
          <p:nvPr/>
        </p:nvSpPr>
        <p:spPr>
          <a:xfrm>
            <a:off x="3383280" y="2907792"/>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778</a:t>
            </a:r>
            <a:endParaRPr lang="en-US" sz="1000" dirty="0"/>
          </a:p>
        </p:txBody>
      </p:sp>
      <p:sp>
        <p:nvSpPr>
          <p:cNvPr id="13" name="Text 10"/>
          <p:cNvSpPr txBox="1"/>
          <p:nvPr/>
        </p:nvSpPr>
        <p:spPr>
          <a:xfrm>
            <a:off x="685800" y="3163824"/>
            <a:ext cx="1097280" cy="228600"/>
          </a:xfrm>
          <a:prstGeom prst="rect">
            <a:avLst/>
          </a:prstGeom>
          <a:noFill/>
          <a:ln/>
        </p:spPr>
        <p:txBody>
          <a:bodyPr wrap="square" lIns="0" tIns="0" rIns="0" bIns="0" rtlCol="0" anchor="t"/>
          <a:lstStyle/>
          <a:p>
            <a:pPr marL="0" indent="0">
              <a:buNone/>
            </a:pPr>
            <a:r>
              <a:rPr lang="en-US" sz="1100" dirty="0">
                <a:solidFill>
                  <a:schemeClr val="tx1"/>
                </a:solidFill>
              </a:rPr>
              <a:t>adapters</a:t>
            </a:r>
            <a:endParaRPr lang="en-US" sz="1100" dirty="0"/>
          </a:p>
        </p:txBody>
      </p:sp>
      <p:sp>
        <p:nvSpPr>
          <p:cNvPr id="14" name="Shape 11"/>
          <p:cNvSpPr/>
          <p:nvPr/>
        </p:nvSpPr>
        <p:spPr>
          <a:xfrm>
            <a:off x="1783080" y="3218688"/>
            <a:ext cx="298907" cy="128016"/>
          </a:xfrm>
          <a:prstGeom prst="rect">
            <a:avLst/>
          </a:prstGeom>
          <a:solidFill>
            <a:srgbClr val="9E9E9E"/>
          </a:solidFill>
          <a:ln w="12700">
            <a:solidFill>
              <a:srgbClr val="FFFFFF"/>
            </a:solidFill>
            <a:prstDash val="solid"/>
          </a:ln>
        </p:spPr>
      </p:sp>
      <p:sp>
        <p:nvSpPr>
          <p:cNvPr id="15" name="Text 12"/>
          <p:cNvSpPr txBox="1"/>
          <p:nvPr/>
        </p:nvSpPr>
        <p:spPr>
          <a:xfrm>
            <a:off x="3383280" y="3163824"/>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364</a:t>
            </a:r>
            <a:endParaRPr lang="en-US" sz="1000" dirty="0"/>
          </a:p>
        </p:txBody>
      </p:sp>
      <p:sp>
        <p:nvSpPr>
          <p:cNvPr id="16" name="Text 13"/>
          <p:cNvSpPr txBox="1"/>
          <p:nvPr/>
        </p:nvSpPr>
        <p:spPr>
          <a:xfrm>
            <a:off x="685800" y="3419856"/>
            <a:ext cx="1097280" cy="228600"/>
          </a:xfrm>
          <a:prstGeom prst="rect">
            <a:avLst/>
          </a:prstGeom>
          <a:noFill/>
          <a:ln/>
        </p:spPr>
        <p:txBody>
          <a:bodyPr wrap="square" lIns="0" tIns="0" rIns="0" bIns="0" rtlCol="0" anchor="t"/>
          <a:lstStyle/>
          <a:p>
            <a:pPr marL="0" indent="0">
              <a:buNone/>
            </a:pPr>
            <a:r>
              <a:rPr lang="en-US" sz="1100" dirty="0">
                <a:solidFill>
                  <a:schemeClr val="tx1"/>
                </a:solidFill>
              </a:rPr>
              <a:t>crosswalk</a:t>
            </a:r>
            <a:endParaRPr lang="en-US" sz="1100" dirty="0"/>
          </a:p>
        </p:txBody>
      </p:sp>
      <p:sp>
        <p:nvSpPr>
          <p:cNvPr id="17" name="Shape 14"/>
          <p:cNvSpPr/>
          <p:nvPr/>
        </p:nvSpPr>
        <p:spPr>
          <a:xfrm>
            <a:off x="1783080" y="3474720"/>
            <a:ext cx="296443" cy="128016"/>
          </a:xfrm>
          <a:prstGeom prst="rect">
            <a:avLst/>
          </a:prstGeom>
          <a:solidFill>
            <a:srgbClr val="9E9E9E"/>
          </a:solidFill>
          <a:ln w="12700">
            <a:solidFill>
              <a:srgbClr val="FFFFFF"/>
            </a:solidFill>
            <a:prstDash val="solid"/>
          </a:ln>
        </p:spPr>
      </p:sp>
      <p:sp>
        <p:nvSpPr>
          <p:cNvPr id="18" name="Text 15"/>
          <p:cNvSpPr txBox="1"/>
          <p:nvPr/>
        </p:nvSpPr>
        <p:spPr>
          <a:xfrm>
            <a:off x="3383280" y="3419856"/>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361</a:t>
            </a:r>
            <a:endParaRPr lang="en-US" sz="1000" dirty="0"/>
          </a:p>
        </p:txBody>
      </p:sp>
      <p:sp>
        <p:nvSpPr>
          <p:cNvPr id="19" name="card"/>
          <p:cNvSpPr/>
          <p:nvPr/>
        </p:nvSpPr>
        <p:spPr>
          <a:xfrm>
            <a:off x="4251960" y="2148840"/>
            <a:ext cx="361188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0" name="Text 17"/>
          <p:cNvSpPr txBox="1"/>
          <p:nvPr/>
        </p:nvSpPr>
        <p:spPr>
          <a:xfrm>
            <a:off x="4480560" y="2313432"/>
            <a:ext cx="310896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DECIDE</a:t>
            </a:r>
            <a:endParaRPr lang="en-US" sz="1200" dirty="0"/>
          </a:p>
        </p:txBody>
      </p:sp>
      <p:sp>
        <p:nvSpPr>
          <p:cNvPr id="21" name="Text 18"/>
          <p:cNvSpPr txBox="1"/>
          <p:nvPr/>
        </p:nvSpPr>
        <p:spPr>
          <a:xfrm>
            <a:off x="4480560" y="2651760"/>
            <a:ext cx="1097280" cy="228600"/>
          </a:xfrm>
          <a:prstGeom prst="rect">
            <a:avLst/>
          </a:prstGeom>
          <a:noFill/>
          <a:ln/>
        </p:spPr>
        <p:txBody>
          <a:bodyPr wrap="square" lIns="0" tIns="0" rIns="0" bIns="0" rtlCol="0" anchor="t"/>
          <a:lstStyle/>
          <a:p>
            <a:pPr marL="0" indent="0">
              <a:buNone/>
            </a:pPr>
            <a:r>
              <a:rPr lang="en-US" sz="1100" dirty="0">
                <a:solidFill>
                  <a:schemeClr val="tx1"/>
                </a:solidFill>
              </a:rPr>
              <a:t>policy</a:t>
            </a:r>
            <a:endParaRPr lang="en-US" sz="1100" dirty="0"/>
          </a:p>
        </p:txBody>
      </p:sp>
      <p:sp>
        <p:nvSpPr>
          <p:cNvPr id="22" name="Shape 19"/>
          <p:cNvSpPr/>
          <p:nvPr/>
        </p:nvSpPr>
        <p:spPr>
          <a:xfrm>
            <a:off x="5577840" y="2706624"/>
            <a:ext cx="1161959" cy="128016"/>
          </a:xfrm>
          <a:prstGeom prst="rect">
            <a:avLst/>
          </a:prstGeom>
          <a:solidFill>
            <a:srgbClr val="E1251B"/>
          </a:solidFill>
          <a:ln w="12700">
            <a:solidFill>
              <a:srgbClr val="FFFFFF"/>
            </a:solidFill>
            <a:prstDash val="solid"/>
          </a:ln>
        </p:spPr>
      </p:sp>
      <p:sp>
        <p:nvSpPr>
          <p:cNvPr id="23" name="Text 20"/>
          <p:cNvSpPr txBox="1"/>
          <p:nvPr/>
        </p:nvSpPr>
        <p:spPr>
          <a:xfrm>
            <a:off x="7178040" y="2651760"/>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1,415</a:t>
            </a:r>
            <a:endParaRPr lang="en-US" sz="1000" dirty="0"/>
          </a:p>
        </p:txBody>
      </p:sp>
      <p:sp>
        <p:nvSpPr>
          <p:cNvPr id="24" name="Text 21"/>
          <p:cNvSpPr txBox="1"/>
          <p:nvPr/>
        </p:nvSpPr>
        <p:spPr>
          <a:xfrm>
            <a:off x="4480560" y="2907792"/>
            <a:ext cx="1097280" cy="228600"/>
          </a:xfrm>
          <a:prstGeom prst="rect">
            <a:avLst/>
          </a:prstGeom>
          <a:noFill/>
          <a:ln/>
        </p:spPr>
        <p:txBody>
          <a:bodyPr wrap="square" lIns="0" tIns="0" rIns="0" bIns="0" rtlCol="0" anchor="t"/>
          <a:lstStyle/>
          <a:p>
            <a:pPr marL="0" indent="0">
              <a:buNone/>
            </a:pPr>
            <a:r>
              <a:rPr lang="en-US" sz="1100" dirty="0">
                <a:solidFill>
                  <a:schemeClr val="tx1"/>
                </a:solidFill>
              </a:rPr>
              <a:t>decision</a:t>
            </a:r>
            <a:endParaRPr lang="en-US" sz="1100" dirty="0"/>
          </a:p>
        </p:txBody>
      </p:sp>
      <p:sp>
        <p:nvSpPr>
          <p:cNvPr id="25" name="Shape 22"/>
          <p:cNvSpPr/>
          <p:nvPr/>
        </p:nvSpPr>
        <p:spPr>
          <a:xfrm>
            <a:off x="5577840" y="2962656"/>
            <a:ext cx="982123" cy="128016"/>
          </a:xfrm>
          <a:prstGeom prst="rect">
            <a:avLst/>
          </a:prstGeom>
          <a:solidFill>
            <a:srgbClr val="E1251B"/>
          </a:solidFill>
          <a:ln w="12700">
            <a:solidFill>
              <a:srgbClr val="FFFFFF"/>
            </a:solidFill>
            <a:prstDash val="solid"/>
          </a:ln>
        </p:spPr>
      </p:sp>
      <p:sp>
        <p:nvSpPr>
          <p:cNvPr id="26" name="Text 23"/>
          <p:cNvSpPr txBox="1"/>
          <p:nvPr/>
        </p:nvSpPr>
        <p:spPr>
          <a:xfrm>
            <a:off x="7178040" y="2907792"/>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1,196</a:t>
            </a:r>
            <a:endParaRPr lang="en-US" sz="1000" dirty="0"/>
          </a:p>
        </p:txBody>
      </p:sp>
      <p:sp>
        <p:nvSpPr>
          <p:cNvPr id="27" name="Text 24"/>
          <p:cNvSpPr txBox="1"/>
          <p:nvPr/>
        </p:nvSpPr>
        <p:spPr>
          <a:xfrm>
            <a:off x="4480560" y="3163824"/>
            <a:ext cx="1097280" cy="228600"/>
          </a:xfrm>
          <a:prstGeom prst="rect">
            <a:avLst/>
          </a:prstGeom>
          <a:noFill/>
          <a:ln/>
        </p:spPr>
        <p:txBody>
          <a:bodyPr wrap="square" lIns="0" tIns="0" rIns="0" bIns="0" rtlCol="0" anchor="t"/>
          <a:lstStyle/>
          <a:p>
            <a:pPr marL="0" indent="0">
              <a:buNone/>
            </a:pPr>
            <a:r>
              <a:rPr lang="en-US" sz="1100" dirty="0">
                <a:solidFill>
                  <a:schemeClr val="tx1"/>
                </a:solidFill>
              </a:rPr>
              <a:t>gate</a:t>
            </a:r>
            <a:endParaRPr lang="en-US" sz="1100" dirty="0"/>
          </a:p>
        </p:txBody>
      </p:sp>
      <p:sp>
        <p:nvSpPr>
          <p:cNvPr id="28" name="Shape 25"/>
          <p:cNvSpPr/>
          <p:nvPr/>
        </p:nvSpPr>
        <p:spPr>
          <a:xfrm>
            <a:off x="5577840" y="3218688"/>
            <a:ext cx="667613" cy="128016"/>
          </a:xfrm>
          <a:prstGeom prst="rect">
            <a:avLst/>
          </a:prstGeom>
          <a:solidFill>
            <a:srgbClr val="E1251B"/>
          </a:solidFill>
          <a:ln w="12700">
            <a:solidFill>
              <a:srgbClr val="FFFFFF"/>
            </a:solidFill>
            <a:prstDash val="solid"/>
          </a:ln>
        </p:spPr>
      </p:sp>
      <p:sp>
        <p:nvSpPr>
          <p:cNvPr id="29" name="Text 26"/>
          <p:cNvSpPr txBox="1"/>
          <p:nvPr/>
        </p:nvSpPr>
        <p:spPr>
          <a:xfrm>
            <a:off x="7178040" y="3163824"/>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813</a:t>
            </a:r>
            <a:endParaRPr lang="en-US" sz="1000" dirty="0"/>
          </a:p>
        </p:txBody>
      </p:sp>
      <p:sp>
        <p:nvSpPr>
          <p:cNvPr id="30" name="Text 27"/>
          <p:cNvSpPr txBox="1"/>
          <p:nvPr/>
        </p:nvSpPr>
        <p:spPr>
          <a:xfrm>
            <a:off x="4480560" y="3419856"/>
            <a:ext cx="1097280" cy="228600"/>
          </a:xfrm>
          <a:prstGeom prst="rect">
            <a:avLst/>
          </a:prstGeom>
          <a:noFill/>
          <a:ln/>
        </p:spPr>
        <p:txBody>
          <a:bodyPr wrap="square" lIns="0" tIns="0" rIns="0" bIns="0" rtlCol="0" anchor="t"/>
          <a:lstStyle/>
          <a:p>
            <a:pPr marL="0" indent="0">
              <a:buNone/>
            </a:pPr>
            <a:r>
              <a:rPr lang="en-US" sz="1100" dirty="0">
                <a:solidFill>
                  <a:schemeClr val="tx1"/>
                </a:solidFill>
              </a:rPr>
              <a:t>review</a:t>
            </a:r>
            <a:endParaRPr lang="en-US" sz="1100" dirty="0"/>
          </a:p>
        </p:txBody>
      </p:sp>
      <p:sp>
        <p:nvSpPr>
          <p:cNvPr id="31" name="Shape 28"/>
          <p:cNvSpPr/>
          <p:nvPr/>
        </p:nvSpPr>
        <p:spPr>
          <a:xfrm>
            <a:off x="5577840" y="3474720"/>
            <a:ext cx="411408" cy="128016"/>
          </a:xfrm>
          <a:prstGeom prst="rect">
            <a:avLst/>
          </a:prstGeom>
          <a:solidFill>
            <a:srgbClr val="E1251B"/>
          </a:solidFill>
          <a:ln w="12700">
            <a:solidFill>
              <a:srgbClr val="FFFFFF"/>
            </a:solidFill>
            <a:prstDash val="solid"/>
          </a:ln>
        </p:spPr>
      </p:sp>
      <p:sp>
        <p:nvSpPr>
          <p:cNvPr id="32" name="Text 29"/>
          <p:cNvSpPr txBox="1"/>
          <p:nvPr/>
        </p:nvSpPr>
        <p:spPr>
          <a:xfrm>
            <a:off x="7178040" y="3419856"/>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501</a:t>
            </a:r>
            <a:endParaRPr lang="en-US" sz="1000" dirty="0"/>
          </a:p>
        </p:txBody>
      </p:sp>
      <p:sp>
        <p:nvSpPr>
          <p:cNvPr id="33" name="card"/>
          <p:cNvSpPr/>
          <p:nvPr/>
        </p:nvSpPr>
        <p:spPr>
          <a:xfrm>
            <a:off x="8046720" y="2148840"/>
            <a:ext cx="361188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34" name="Text 31"/>
          <p:cNvSpPr txBox="1"/>
          <p:nvPr/>
        </p:nvSpPr>
        <p:spPr>
          <a:xfrm>
            <a:off x="8275320" y="2313432"/>
            <a:ext cx="310896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MEASURE</a:t>
            </a:r>
            <a:endParaRPr lang="en-US" sz="1200" dirty="0"/>
          </a:p>
        </p:txBody>
      </p:sp>
      <p:sp>
        <p:nvSpPr>
          <p:cNvPr id="35" name="Text 32"/>
          <p:cNvSpPr txBox="1"/>
          <p:nvPr/>
        </p:nvSpPr>
        <p:spPr>
          <a:xfrm>
            <a:off x="8275320" y="2651760"/>
            <a:ext cx="1097280" cy="228600"/>
          </a:xfrm>
          <a:prstGeom prst="rect">
            <a:avLst/>
          </a:prstGeom>
          <a:noFill/>
          <a:ln/>
        </p:spPr>
        <p:txBody>
          <a:bodyPr wrap="square" lIns="0" tIns="0" rIns="0" bIns="0" rtlCol="0" anchor="t"/>
          <a:lstStyle/>
          <a:p>
            <a:pPr marL="0" indent="0">
              <a:buNone/>
            </a:pPr>
            <a:r>
              <a:rPr lang="en-US" sz="1100" dirty="0">
                <a:solidFill>
                  <a:schemeClr val="tx1"/>
                </a:solidFill>
              </a:rPr>
              <a:t>r2 reports</a:t>
            </a:r>
            <a:endParaRPr lang="en-US" sz="1100" dirty="0"/>
          </a:p>
        </p:txBody>
      </p:sp>
      <p:sp>
        <p:nvSpPr>
          <p:cNvPr id="36" name="Shape 33"/>
          <p:cNvSpPr/>
          <p:nvPr/>
        </p:nvSpPr>
        <p:spPr>
          <a:xfrm>
            <a:off x="9372600" y="2706624"/>
            <a:ext cx="799822" cy="128016"/>
          </a:xfrm>
          <a:prstGeom prst="rect">
            <a:avLst/>
          </a:prstGeom>
          <a:solidFill>
            <a:srgbClr val="9E9E9E"/>
          </a:solidFill>
          <a:ln w="12700">
            <a:solidFill>
              <a:srgbClr val="FFFFFF"/>
            </a:solidFill>
            <a:prstDash val="solid"/>
          </a:ln>
        </p:spPr>
      </p:sp>
      <p:sp>
        <p:nvSpPr>
          <p:cNvPr id="37" name="Text 34"/>
          <p:cNvSpPr txBox="1"/>
          <p:nvPr/>
        </p:nvSpPr>
        <p:spPr>
          <a:xfrm>
            <a:off x="10972800" y="2651760"/>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974</a:t>
            </a:r>
            <a:endParaRPr lang="en-US" sz="1000" dirty="0"/>
          </a:p>
        </p:txBody>
      </p:sp>
      <p:sp>
        <p:nvSpPr>
          <p:cNvPr id="38" name="Text 35"/>
          <p:cNvSpPr txBox="1"/>
          <p:nvPr/>
        </p:nvSpPr>
        <p:spPr>
          <a:xfrm>
            <a:off x="8275320" y="2907792"/>
            <a:ext cx="1097280" cy="228600"/>
          </a:xfrm>
          <a:prstGeom prst="rect">
            <a:avLst/>
          </a:prstGeom>
          <a:noFill/>
          <a:ln/>
        </p:spPr>
        <p:txBody>
          <a:bodyPr wrap="square" lIns="0" tIns="0" rIns="0" bIns="0" rtlCol="0" anchor="t"/>
          <a:lstStyle/>
          <a:p>
            <a:pPr marL="0" indent="0">
              <a:buNone/>
            </a:pPr>
            <a:r>
              <a:rPr lang="en-US" sz="1100" dirty="0">
                <a:solidFill>
                  <a:schemeClr val="tx1"/>
                </a:solidFill>
              </a:rPr>
              <a:t>metrics</a:t>
            </a:r>
            <a:endParaRPr lang="en-US" sz="1100" dirty="0"/>
          </a:p>
        </p:txBody>
      </p:sp>
      <p:sp>
        <p:nvSpPr>
          <p:cNvPr id="39" name="Shape 36"/>
          <p:cNvSpPr/>
          <p:nvPr/>
        </p:nvSpPr>
        <p:spPr>
          <a:xfrm>
            <a:off x="9372600" y="2962656"/>
            <a:ext cx="749731" cy="128016"/>
          </a:xfrm>
          <a:prstGeom prst="rect">
            <a:avLst/>
          </a:prstGeom>
          <a:solidFill>
            <a:srgbClr val="9E9E9E"/>
          </a:solidFill>
          <a:ln w="12700">
            <a:solidFill>
              <a:srgbClr val="FFFFFF"/>
            </a:solidFill>
            <a:prstDash val="solid"/>
          </a:ln>
        </p:spPr>
      </p:sp>
      <p:sp>
        <p:nvSpPr>
          <p:cNvPr id="40" name="Text 37"/>
          <p:cNvSpPr txBox="1"/>
          <p:nvPr/>
        </p:nvSpPr>
        <p:spPr>
          <a:xfrm>
            <a:off x="10972800" y="2907792"/>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913</a:t>
            </a:r>
            <a:endParaRPr lang="en-US" sz="1000" dirty="0"/>
          </a:p>
        </p:txBody>
      </p:sp>
      <p:sp>
        <p:nvSpPr>
          <p:cNvPr id="41" name="Text 38"/>
          <p:cNvSpPr txBox="1"/>
          <p:nvPr/>
        </p:nvSpPr>
        <p:spPr>
          <a:xfrm>
            <a:off x="8275320" y="3163824"/>
            <a:ext cx="1097280" cy="228600"/>
          </a:xfrm>
          <a:prstGeom prst="rect">
            <a:avLst/>
          </a:prstGeom>
          <a:noFill/>
          <a:ln/>
        </p:spPr>
        <p:txBody>
          <a:bodyPr wrap="square" lIns="0" tIns="0" rIns="0" bIns="0" rtlCol="0" anchor="t"/>
          <a:lstStyle/>
          <a:p>
            <a:pPr marL="0" indent="0">
              <a:buNone/>
            </a:pPr>
            <a:r>
              <a:rPr lang="en-US" sz="1100" dirty="0">
                <a:solidFill>
                  <a:schemeClr val="tx1"/>
                </a:solidFill>
              </a:rPr>
              <a:t>obs</a:t>
            </a:r>
            <a:endParaRPr lang="en-US" sz="1100" dirty="0"/>
          </a:p>
        </p:txBody>
      </p:sp>
      <p:sp>
        <p:nvSpPr>
          <p:cNvPr id="42" name="Shape 39"/>
          <p:cNvSpPr/>
          <p:nvPr/>
        </p:nvSpPr>
        <p:spPr>
          <a:xfrm>
            <a:off x="9372600" y="3218688"/>
            <a:ext cx="719347" cy="128016"/>
          </a:xfrm>
          <a:prstGeom prst="rect">
            <a:avLst/>
          </a:prstGeom>
          <a:solidFill>
            <a:srgbClr val="9E9E9E"/>
          </a:solidFill>
          <a:ln w="12700">
            <a:solidFill>
              <a:srgbClr val="FFFFFF"/>
            </a:solidFill>
            <a:prstDash val="solid"/>
          </a:ln>
        </p:spPr>
      </p:sp>
      <p:sp>
        <p:nvSpPr>
          <p:cNvPr id="43" name="Text 40"/>
          <p:cNvSpPr txBox="1"/>
          <p:nvPr/>
        </p:nvSpPr>
        <p:spPr>
          <a:xfrm>
            <a:off x="10972800" y="3163824"/>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876</a:t>
            </a:r>
            <a:endParaRPr lang="en-US" sz="1000" dirty="0"/>
          </a:p>
        </p:txBody>
      </p:sp>
      <p:sp>
        <p:nvSpPr>
          <p:cNvPr id="44" name="Text 41"/>
          <p:cNvSpPr txBox="1"/>
          <p:nvPr/>
        </p:nvSpPr>
        <p:spPr>
          <a:xfrm>
            <a:off x="8275320" y="3419856"/>
            <a:ext cx="1097280" cy="228600"/>
          </a:xfrm>
          <a:prstGeom prst="rect">
            <a:avLst/>
          </a:prstGeom>
          <a:noFill/>
          <a:ln/>
        </p:spPr>
        <p:txBody>
          <a:bodyPr wrap="square" lIns="0" tIns="0" rIns="0" bIns="0" rtlCol="0" anchor="t"/>
          <a:lstStyle/>
          <a:p>
            <a:pPr marL="0" indent="0">
              <a:buNone/>
            </a:pPr>
            <a:r>
              <a:rPr lang="en-US" sz="1100" dirty="0">
                <a:solidFill>
                  <a:schemeClr val="tx1"/>
                </a:solidFill>
              </a:rPr>
              <a:t>golden</a:t>
            </a:r>
            <a:endParaRPr lang="en-US" sz="1100" dirty="0"/>
          </a:p>
        </p:txBody>
      </p:sp>
      <p:sp>
        <p:nvSpPr>
          <p:cNvPr id="45" name="Shape 42"/>
          <p:cNvSpPr/>
          <p:nvPr/>
        </p:nvSpPr>
        <p:spPr>
          <a:xfrm>
            <a:off x="9372600" y="3474720"/>
            <a:ext cx="381024" cy="128016"/>
          </a:xfrm>
          <a:prstGeom prst="rect">
            <a:avLst/>
          </a:prstGeom>
          <a:solidFill>
            <a:srgbClr val="9E9E9E"/>
          </a:solidFill>
          <a:ln w="12700">
            <a:solidFill>
              <a:srgbClr val="FFFFFF"/>
            </a:solidFill>
            <a:prstDash val="solid"/>
          </a:ln>
        </p:spPr>
      </p:sp>
      <p:sp>
        <p:nvSpPr>
          <p:cNvPr id="46" name="Text 43"/>
          <p:cNvSpPr txBox="1"/>
          <p:nvPr/>
        </p:nvSpPr>
        <p:spPr>
          <a:xfrm>
            <a:off x="10972800" y="3419856"/>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464</a:t>
            </a:r>
            <a:endParaRPr lang="en-US" sz="1000" dirty="0"/>
          </a:p>
        </p:txBody>
      </p:sp>
      <p:sp>
        <p:nvSpPr>
          <p:cNvPr id="47" name="card"/>
          <p:cNvSpPr/>
          <p:nvPr/>
        </p:nvSpPr>
        <p:spPr>
          <a:xfrm>
            <a:off x="457200" y="4160520"/>
            <a:ext cx="361188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48" name="Text 45"/>
          <p:cNvSpPr txBox="1"/>
          <p:nvPr/>
        </p:nvSpPr>
        <p:spPr>
          <a:xfrm>
            <a:off x="685800" y="4325112"/>
            <a:ext cx="310896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OPERATE</a:t>
            </a:r>
            <a:endParaRPr lang="en-US" sz="1200" dirty="0"/>
          </a:p>
        </p:txBody>
      </p:sp>
      <p:sp>
        <p:nvSpPr>
          <p:cNvPr id="49" name="Text 46"/>
          <p:cNvSpPr txBox="1"/>
          <p:nvPr/>
        </p:nvSpPr>
        <p:spPr>
          <a:xfrm>
            <a:off x="685800" y="4663440"/>
            <a:ext cx="1097280" cy="228600"/>
          </a:xfrm>
          <a:prstGeom prst="rect">
            <a:avLst/>
          </a:prstGeom>
          <a:noFill/>
          <a:ln/>
        </p:spPr>
        <p:txBody>
          <a:bodyPr wrap="square" lIns="0" tIns="0" rIns="0" bIns="0" rtlCol="0" anchor="t"/>
          <a:lstStyle/>
          <a:p>
            <a:pPr marL="0" indent="0">
              <a:buNone/>
            </a:pPr>
            <a:r>
              <a:rPr lang="en-US" sz="1100" dirty="0">
                <a:solidFill>
                  <a:schemeClr val="tx1"/>
                </a:solidFill>
              </a:rPr>
              <a:t>runs</a:t>
            </a:r>
            <a:endParaRPr lang="en-US" sz="1100" dirty="0"/>
          </a:p>
        </p:txBody>
      </p:sp>
      <p:sp>
        <p:nvSpPr>
          <p:cNvPr id="50" name="Shape 47"/>
          <p:cNvSpPr/>
          <p:nvPr/>
        </p:nvSpPr>
        <p:spPr>
          <a:xfrm>
            <a:off x="1783080" y="4718304"/>
            <a:ext cx="918892" cy="128016"/>
          </a:xfrm>
          <a:prstGeom prst="rect">
            <a:avLst/>
          </a:prstGeom>
          <a:solidFill>
            <a:srgbClr val="9E9E9E"/>
          </a:solidFill>
          <a:ln w="12700">
            <a:solidFill>
              <a:srgbClr val="FFFFFF"/>
            </a:solidFill>
            <a:prstDash val="solid"/>
          </a:ln>
        </p:spPr>
      </p:sp>
      <p:sp>
        <p:nvSpPr>
          <p:cNvPr id="51" name="Text 48"/>
          <p:cNvSpPr txBox="1"/>
          <p:nvPr/>
        </p:nvSpPr>
        <p:spPr>
          <a:xfrm>
            <a:off x="3383280" y="4663440"/>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1,119</a:t>
            </a:r>
            <a:endParaRPr lang="en-US" sz="1000" dirty="0"/>
          </a:p>
        </p:txBody>
      </p:sp>
      <p:sp>
        <p:nvSpPr>
          <p:cNvPr id="52" name="Text 49"/>
          <p:cNvSpPr txBox="1"/>
          <p:nvPr/>
        </p:nvSpPr>
        <p:spPr>
          <a:xfrm>
            <a:off x="685800" y="4919472"/>
            <a:ext cx="1097280" cy="228600"/>
          </a:xfrm>
          <a:prstGeom prst="rect">
            <a:avLst/>
          </a:prstGeom>
          <a:noFill/>
          <a:ln/>
        </p:spPr>
        <p:txBody>
          <a:bodyPr wrap="square" lIns="0" tIns="0" rIns="0" bIns="0" rtlCol="0" anchor="t"/>
          <a:lstStyle/>
          <a:p>
            <a:pPr marL="0" indent="0">
              <a:buNone/>
            </a:pPr>
            <a:r>
              <a:rPr lang="en-US" sz="1100" dirty="0">
                <a:solidFill>
                  <a:schemeClr val="tx1"/>
                </a:solidFill>
              </a:rPr>
              <a:t>control</a:t>
            </a:r>
            <a:endParaRPr lang="en-US" sz="1100" dirty="0"/>
          </a:p>
        </p:txBody>
      </p:sp>
      <p:sp>
        <p:nvSpPr>
          <p:cNvPr id="53" name="Shape 50"/>
          <p:cNvSpPr/>
          <p:nvPr/>
        </p:nvSpPr>
        <p:spPr>
          <a:xfrm>
            <a:off x="1783080" y="4974336"/>
            <a:ext cx="450824" cy="128016"/>
          </a:xfrm>
          <a:prstGeom prst="rect">
            <a:avLst/>
          </a:prstGeom>
          <a:solidFill>
            <a:srgbClr val="9E9E9E"/>
          </a:solidFill>
          <a:ln w="12700">
            <a:solidFill>
              <a:srgbClr val="FFFFFF"/>
            </a:solidFill>
            <a:prstDash val="solid"/>
          </a:ln>
        </p:spPr>
      </p:sp>
      <p:sp>
        <p:nvSpPr>
          <p:cNvPr id="54" name="Text 51"/>
          <p:cNvSpPr txBox="1"/>
          <p:nvPr/>
        </p:nvSpPr>
        <p:spPr>
          <a:xfrm>
            <a:off x="3383280" y="4919472"/>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549</a:t>
            </a:r>
            <a:endParaRPr lang="en-US" sz="1000" dirty="0"/>
          </a:p>
        </p:txBody>
      </p:sp>
      <p:sp>
        <p:nvSpPr>
          <p:cNvPr id="55" name="Text 52"/>
          <p:cNvSpPr txBox="1"/>
          <p:nvPr/>
        </p:nvSpPr>
        <p:spPr>
          <a:xfrm>
            <a:off x="685800" y="5175504"/>
            <a:ext cx="1097280" cy="228600"/>
          </a:xfrm>
          <a:prstGeom prst="rect">
            <a:avLst/>
          </a:prstGeom>
          <a:noFill/>
          <a:ln/>
        </p:spPr>
        <p:txBody>
          <a:bodyPr wrap="square" lIns="0" tIns="0" rIns="0" bIns="0" rtlCol="0" anchor="t"/>
          <a:lstStyle/>
          <a:p>
            <a:pPr marL="0" indent="0">
              <a:buNone/>
            </a:pPr>
            <a:r>
              <a:rPr lang="en-US" sz="1100" dirty="0">
                <a:solidFill>
                  <a:schemeClr val="tx1"/>
                </a:solidFill>
              </a:rPr>
              <a:t>resilience</a:t>
            </a:r>
            <a:endParaRPr lang="en-US" sz="1100" dirty="0"/>
          </a:p>
        </p:txBody>
      </p:sp>
      <p:sp>
        <p:nvSpPr>
          <p:cNvPr id="56" name="Shape 53"/>
          <p:cNvSpPr/>
          <p:nvPr/>
        </p:nvSpPr>
        <p:spPr>
          <a:xfrm>
            <a:off x="1783080" y="5230368"/>
            <a:ext cx="238961" cy="128016"/>
          </a:xfrm>
          <a:prstGeom prst="rect">
            <a:avLst/>
          </a:prstGeom>
          <a:solidFill>
            <a:srgbClr val="9E9E9E"/>
          </a:solidFill>
          <a:ln w="12700">
            <a:solidFill>
              <a:srgbClr val="FFFFFF"/>
            </a:solidFill>
            <a:prstDash val="solid"/>
          </a:ln>
        </p:spPr>
      </p:sp>
      <p:sp>
        <p:nvSpPr>
          <p:cNvPr id="57" name="Text 54"/>
          <p:cNvSpPr txBox="1"/>
          <p:nvPr/>
        </p:nvSpPr>
        <p:spPr>
          <a:xfrm>
            <a:off x="3383280" y="5175504"/>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291</a:t>
            </a:r>
            <a:endParaRPr lang="en-US" sz="1000" dirty="0"/>
          </a:p>
        </p:txBody>
      </p:sp>
      <p:sp>
        <p:nvSpPr>
          <p:cNvPr id="58" name="Text 55"/>
          <p:cNvSpPr txBox="1"/>
          <p:nvPr/>
        </p:nvSpPr>
        <p:spPr>
          <a:xfrm>
            <a:off x="685800" y="5431536"/>
            <a:ext cx="1097280" cy="228600"/>
          </a:xfrm>
          <a:prstGeom prst="rect">
            <a:avLst/>
          </a:prstGeom>
          <a:noFill/>
          <a:ln/>
        </p:spPr>
        <p:txBody>
          <a:bodyPr wrap="square" lIns="0" tIns="0" rIns="0" bIns="0" rtlCol="0" anchor="t"/>
          <a:lstStyle/>
          <a:p>
            <a:pPr marL="0" indent="0">
              <a:buNone/>
            </a:pPr>
            <a:r>
              <a:rPr lang="en-US" sz="1100" dirty="0">
                <a:solidFill>
                  <a:schemeClr val="tx1"/>
                </a:solidFill>
              </a:rPr>
              <a:t>release</a:t>
            </a:r>
            <a:endParaRPr lang="en-US" sz="1100" dirty="0"/>
          </a:p>
        </p:txBody>
      </p:sp>
      <p:sp>
        <p:nvSpPr>
          <p:cNvPr id="59" name="Shape 56"/>
          <p:cNvSpPr/>
          <p:nvPr/>
        </p:nvSpPr>
        <p:spPr>
          <a:xfrm>
            <a:off x="1783080" y="5486400"/>
            <a:ext cx="227465" cy="128016"/>
          </a:xfrm>
          <a:prstGeom prst="rect">
            <a:avLst/>
          </a:prstGeom>
          <a:solidFill>
            <a:srgbClr val="9E9E9E"/>
          </a:solidFill>
          <a:ln w="12700">
            <a:solidFill>
              <a:srgbClr val="FFFFFF"/>
            </a:solidFill>
            <a:prstDash val="solid"/>
          </a:ln>
        </p:spPr>
      </p:sp>
      <p:sp>
        <p:nvSpPr>
          <p:cNvPr id="60" name="Text 57"/>
          <p:cNvSpPr txBox="1"/>
          <p:nvPr/>
        </p:nvSpPr>
        <p:spPr>
          <a:xfrm>
            <a:off x="3383280" y="5431536"/>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277</a:t>
            </a:r>
            <a:endParaRPr lang="en-US" sz="1000" dirty="0"/>
          </a:p>
        </p:txBody>
      </p:sp>
      <p:sp>
        <p:nvSpPr>
          <p:cNvPr id="61" name="Text 58"/>
          <p:cNvSpPr txBox="1"/>
          <p:nvPr/>
        </p:nvSpPr>
        <p:spPr>
          <a:xfrm>
            <a:off x="685800" y="5687568"/>
            <a:ext cx="1097280" cy="228600"/>
          </a:xfrm>
          <a:prstGeom prst="rect">
            <a:avLst/>
          </a:prstGeom>
          <a:noFill/>
          <a:ln/>
        </p:spPr>
        <p:txBody>
          <a:bodyPr wrap="square" lIns="0" tIns="0" rIns="0" bIns="0" rtlCol="0" anchor="t"/>
          <a:lstStyle/>
          <a:p>
            <a:pPr marL="0" indent="0">
              <a:buNone/>
            </a:pPr>
            <a:r>
              <a:rPr lang="en-US" sz="1100" dirty="0">
                <a:solidFill>
                  <a:schemeClr val="tx1"/>
                </a:solidFill>
              </a:rPr>
              <a:t>ops</a:t>
            </a:r>
            <a:endParaRPr lang="en-US" sz="1100" dirty="0"/>
          </a:p>
        </p:txBody>
      </p:sp>
      <p:sp>
        <p:nvSpPr>
          <p:cNvPr id="62" name="Shape 59"/>
          <p:cNvSpPr/>
          <p:nvPr/>
        </p:nvSpPr>
        <p:spPr>
          <a:xfrm>
            <a:off x="1783080" y="5742432"/>
            <a:ext cx="193797" cy="128016"/>
          </a:xfrm>
          <a:prstGeom prst="rect">
            <a:avLst/>
          </a:prstGeom>
          <a:solidFill>
            <a:srgbClr val="9E9E9E"/>
          </a:solidFill>
          <a:ln w="12700">
            <a:solidFill>
              <a:srgbClr val="FFFFFF"/>
            </a:solidFill>
            <a:prstDash val="solid"/>
          </a:ln>
        </p:spPr>
      </p:sp>
      <p:sp>
        <p:nvSpPr>
          <p:cNvPr id="63" name="Text 60"/>
          <p:cNvSpPr txBox="1"/>
          <p:nvPr/>
        </p:nvSpPr>
        <p:spPr>
          <a:xfrm>
            <a:off x="3383280" y="5687568"/>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236</a:t>
            </a:r>
            <a:endParaRPr lang="en-US" sz="1000" dirty="0"/>
          </a:p>
        </p:txBody>
      </p:sp>
      <p:sp>
        <p:nvSpPr>
          <p:cNvPr id="64" name="card"/>
          <p:cNvSpPr/>
          <p:nvPr/>
        </p:nvSpPr>
        <p:spPr>
          <a:xfrm>
            <a:off x="4251960" y="4160520"/>
            <a:ext cx="361188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5" name="Text 62"/>
          <p:cNvSpPr txBox="1"/>
          <p:nvPr/>
        </p:nvSpPr>
        <p:spPr>
          <a:xfrm>
            <a:off x="4480560" y="4325112"/>
            <a:ext cx="310896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PROTECT</a:t>
            </a:r>
            <a:endParaRPr lang="en-US" sz="1200" dirty="0"/>
          </a:p>
        </p:txBody>
      </p:sp>
      <p:sp>
        <p:nvSpPr>
          <p:cNvPr id="66" name="Text 63"/>
          <p:cNvSpPr txBox="1"/>
          <p:nvPr/>
        </p:nvSpPr>
        <p:spPr>
          <a:xfrm>
            <a:off x="4480560" y="4663440"/>
            <a:ext cx="1097280" cy="228600"/>
          </a:xfrm>
          <a:prstGeom prst="rect">
            <a:avLst/>
          </a:prstGeom>
          <a:noFill/>
          <a:ln/>
        </p:spPr>
        <p:txBody>
          <a:bodyPr wrap="square" lIns="0" tIns="0" rIns="0" bIns="0" rtlCol="0" anchor="t"/>
          <a:lstStyle/>
          <a:p>
            <a:pPr marL="0" indent="0">
              <a:buNone/>
            </a:pPr>
            <a:r>
              <a:rPr lang="en-US" sz="1100" dirty="0">
                <a:solidFill>
                  <a:schemeClr val="tx1"/>
                </a:solidFill>
              </a:rPr>
              <a:t>security</a:t>
            </a:r>
            <a:endParaRPr lang="en-US" sz="1100" dirty="0"/>
          </a:p>
        </p:txBody>
      </p:sp>
      <p:sp>
        <p:nvSpPr>
          <p:cNvPr id="67" name="Shape 64"/>
          <p:cNvSpPr/>
          <p:nvPr/>
        </p:nvSpPr>
        <p:spPr>
          <a:xfrm>
            <a:off x="5577840" y="4718304"/>
            <a:ext cx="1232580" cy="128016"/>
          </a:xfrm>
          <a:prstGeom prst="rect">
            <a:avLst/>
          </a:prstGeom>
          <a:solidFill>
            <a:srgbClr val="E1251B"/>
          </a:solidFill>
          <a:ln w="12700">
            <a:solidFill>
              <a:srgbClr val="FFFFFF"/>
            </a:solidFill>
            <a:prstDash val="solid"/>
          </a:ln>
        </p:spPr>
      </p:sp>
      <p:sp>
        <p:nvSpPr>
          <p:cNvPr id="68" name="Text 65"/>
          <p:cNvSpPr txBox="1"/>
          <p:nvPr/>
        </p:nvSpPr>
        <p:spPr>
          <a:xfrm>
            <a:off x="7178040" y="4663440"/>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1,501</a:t>
            </a:r>
            <a:endParaRPr lang="en-US" sz="1000" dirty="0"/>
          </a:p>
        </p:txBody>
      </p:sp>
      <p:sp>
        <p:nvSpPr>
          <p:cNvPr id="69" name="Text 66"/>
          <p:cNvSpPr txBox="1"/>
          <p:nvPr/>
        </p:nvSpPr>
        <p:spPr>
          <a:xfrm>
            <a:off x="4480560" y="4919472"/>
            <a:ext cx="1097280" cy="228600"/>
          </a:xfrm>
          <a:prstGeom prst="rect">
            <a:avLst/>
          </a:prstGeom>
          <a:noFill/>
          <a:ln/>
        </p:spPr>
        <p:txBody>
          <a:bodyPr wrap="square" lIns="0" tIns="0" rIns="0" bIns="0" rtlCol="0" anchor="t"/>
          <a:lstStyle/>
          <a:p>
            <a:pPr marL="0" indent="0">
              <a:buNone/>
            </a:pPr>
            <a:r>
              <a:rPr lang="en-US" sz="1100" dirty="0">
                <a:solidFill>
                  <a:schemeClr val="tx1"/>
                </a:solidFill>
              </a:rPr>
              <a:t>guards</a:t>
            </a:r>
            <a:endParaRPr lang="en-US" sz="1100" dirty="0"/>
          </a:p>
        </p:txBody>
      </p:sp>
      <p:sp>
        <p:nvSpPr>
          <p:cNvPr id="70" name="Shape 67"/>
          <p:cNvSpPr/>
          <p:nvPr/>
        </p:nvSpPr>
        <p:spPr>
          <a:xfrm>
            <a:off x="5577840" y="4974336"/>
            <a:ext cx="344893" cy="128016"/>
          </a:xfrm>
          <a:prstGeom prst="rect">
            <a:avLst/>
          </a:prstGeom>
          <a:solidFill>
            <a:srgbClr val="E1251B"/>
          </a:solidFill>
          <a:ln w="12700">
            <a:solidFill>
              <a:srgbClr val="FFFFFF"/>
            </a:solidFill>
            <a:prstDash val="solid"/>
          </a:ln>
        </p:spPr>
      </p:sp>
      <p:sp>
        <p:nvSpPr>
          <p:cNvPr id="71" name="Text 68"/>
          <p:cNvSpPr txBox="1"/>
          <p:nvPr/>
        </p:nvSpPr>
        <p:spPr>
          <a:xfrm>
            <a:off x="7178040" y="4919472"/>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420</a:t>
            </a:r>
            <a:endParaRPr lang="en-US" sz="1000" dirty="0"/>
          </a:p>
        </p:txBody>
      </p:sp>
      <p:sp>
        <p:nvSpPr>
          <p:cNvPr id="72" name="Text 69"/>
          <p:cNvSpPr txBox="1"/>
          <p:nvPr/>
        </p:nvSpPr>
        <p:spPr>
          <a:xfrm>
            <a:off x="4480560" y="5175504"/>
            <a:ext cx="1097280" cy="228600"/>
          </a:xfrm>
          <a:prstGeom prst="rect">
            <a:avLst/>
          </a:prstGeom>
          <a:noFill/>
          <a:ln/>
        </p:spPr>
        <p:txBody>
          <a:bodyPr wrap="square" lIns="0" tIns="0" rIns="0" bIns="0" rtlCol="0" anchor="t"/>
          <a:lstStyle/>
          <a:p>
            <a:pPr marL="0" indent="0">
              <a:buNone/>
            </a:pPr>
            <a:r>
              <a:rPr lang="en-US" sz="1100" dirty="0">
                <a:solidFill>
                  <a:schemeClr val="tx1"/>
                </a:solidFill>
              </a:rPr>
              <a:t>admin</a:t>
            </a:r>
            <a:endParaRPr lang="en-US" sz="1100" dirty="0"/>
          </a:p>
        </p:txBody>
      </p:sp>
      <p:sp>
        <p:nvSpPr>
          <p:cNvPr id="73" name="Shape 70"/>
          <p:cNvSpPr/>
          <p:nvPr/>
        </p:nvSpPr>
        <p:spPr>
          <a:xfrm>
            <a:off x="5577840" y="5230368"/>
            <a:ext cx="253742" cy="128016"/>
          </a:xfrm>
          <a:prstGeom prst="rect">
            <a:avLst/>
          </a:prstGeom>
          <a:solidFill>
            <a:srgbClr val="E1251B"/>
          </a:solidFill>
          <a:ln w="12700">
            <a:solidFill>
              <a:srgbClr val="FFFFFF"/>
            </a:solidFill>
            <a:prstDash val="solid"/>
          </a:ln>
        </p:spPr>
      </p:sp>
      <p:sp>
        <p:nvSpPr>
          <p:cNvPr id="74" name="Text 71"/>
          <p:cNvSpPr txBox="1"/>
          <p:nvPr/>
        </p:nvSpPr>
        <p:spPr>
          <a:xfrm>
            <a:off x="7178040" y="5175504"/>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309</a:t>
            </a:r>
            <a:endParaRPr lang="en-US" sz="1000" dirty="0"/>
          </a:p>
        </p:txBody>
      </p:sp>
      <p:sp>
        <p:nvSpPr>
          <p:cNvPr id="75" name="card"/>
          <p:cNvSpPr/>
          <p:nvPr/>
        </p:nvSpPr>
        <p:spPr>
          <a:xfrm>
            <a:off x="8046720" y="4160520"/>
            <a:ext cx="361188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76" name="Text 73"/>
          <p:cNvSpPr txBox="1"/>
          <p:nvPr/>
        </p:nvSpPr>
        <p:spPr>
          <a:xfrm>
            <a:off x="8275320" y="4325112"/>
            <a:ext cx="310896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SERVE</a:t>
            </a:r>
            <a:endParaRPr lang="en-US" sz="1200" dirty="0"/>
          </a:p>
        </p:txBody>
      </p:sp>
      <p:sp>
        <p:nvSpPr>
          <p:cNvPr id="77" name="Text 74"/>
          <p:cNvSpPr txBox="1"/>
          <p:nvPr/>
        </p:nvSpPr>
        <p:spPr>
          <a:xfrm>
            <a:off x="8275320" y="4663440"/>
            <a:ext cx="1097280" cy="228600"/>
          </a:xfrm>
          <a:prstGeom prst="rect">
            <a:avLst/>
          </a:prstGeom>
          <a:noFill/>
          <a:ln/>
        </p:spPr>
        <p:txBody>
          <a:bodyPr wrap="square" lIns="0" tIns="0" rIns="0" bIns="0" rtlCol="0" anchor="t"/>
          <a:lstStyle/>
          <a:p>
            <a:pPr marL="0" indent="0">
              <a:buNone/>
            </a:pPr>
            <a:r>
              <a:rPr lang="en-US" sz="1100" dirty="0">
                <a:solidFill>
                  <a:schemeClr val="tx1"/>
                </a:solidFill>
              </a:rPr>
              <a:t>web</a:t>
            </a:r>
            <a:endParaRPr lang="en-US" sz="1100" dirty="0"/>
          </a:p>
        </p:txBody>
      </p:sp>
      <p:sp>
        <p:nvSpPr>
          <p:cNvPr id="78" name="Shape 75"/>
          <p:cNvSpPr/>
          <p:nvPr/>
        </p:nvSpPr>
        <p:spPr>
          <a:xfrm>
            <a:off x="9372600" y="4718304"/>
            <a:ext cx="1554480" cy="128016"/>
          </a:xfrm>
          <a:prstGeom prst="rect">
            <a:avLst/>
          </a:prstGeom>
          <a:solidFill>
            <a:srgbClr val="9E9E9E"/>
          </a:solidFill>
          <a:ln w="12700">
            <a:solidFill>
              <a:srgbClr val="FFFFFF"/>
            </a:solidFill>
            <a:prstDash val="solid"/>
          </a:ln>
        </p:spPr>
      </p:sp>
      <p:sp>
        <p:nvSpPr>
          <p:cNvPr id="79" name="Text 76"/>
          <p:cNvSpPr txBox="1"/>
          <p:nvPr/>
        </p:nvSpPr>
        <p:spPr>
          <a:xfrm>
            <a:off x="10972800" y="4663440"/>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1,893</a:t>
            </a:r>
            <a:endParaRPr lang="en-US" sz="1000" dirty="0"/>
          </a:p>
        </p:txBody>
      </p:sp>
      <p:sp>
        <p:nvSpPr>
          <p:cNvPr id="80" name="Text 77"/>
          <p:cNvSpPr txBox="1"/>
          <p:nvPr/>
        </p:nvSpPr>
        <p:spPr>
          <a:xfrm>
            <a:off x="8275320" y="4919472"/>
            <a:ext cx="1097280" cy="228600"/>
          </a:xfrm>
          <a:prstGeom prst="rect">
            <a:avLst/>
          </a:prstGeom>
          <a:noFill/>
          <a:ln/>
        </p:spPr>
        <p:txBody>
          <a:bodyPr wrap="square" lIns="0" tIns="0" rIns="0" bIns="0" rtlCol="0" anchor="t"/>
          <a:lstStyle/>
          <a:p>
            <a:pPr marL="0" indent="0">
              <a:buNone/>
            </a:pPr>
            <a:r>
              <a:rPr lang="en-US" sz="1100" dirty="0">
                <a:solidFill>
                  <a:schemeClr val="tx1"/>
                </a:solidFill>
              </a:rPr>
              <a:t>store</a:t>
            </a:r>
            <a:endParaRPr lang="en-US" sz="1100" dirty="0"/>
          </a:p>
        </p:txBody>
      </p:sp>
      <p:sp>
        <p:nvSpPr>
          <p:cNvPr id="81" name="Shape 78"/>
          <p:cNvSpPr/>
          <p:nvPr/>
        </p:nvSpPr>
        <p:spPr>
          <a:xfrm>
            <a:off x="9372600" y="4974336"/>
            <a:ext cx="218432" cy="128016"/>
          </a:xfrm>
          <a:prstGeom prst="rect">
            <a:avLst/>
          </a:prstGeom>
          <a:solidFill>
            <a:srgbClr val="9E9E9E"/>
          </a:solidFill>
          <a:ln w="12700">
            <a:solidFill>
              <a:srgbClr val="FFFFFF"/>
            </a:solidFill>
            <a:prstDash val="solid"/>
          </a:ln>
        </p:spPr>
      </p:sp>
      <p:sp>
        <p:nvSpPr>
          <p:cNvPr id="82" name="Text 79"/>
          <p:cNvSpPr txBox="1"/>
          <p:nvPr/>
        </p:nvSpPr>
        <p:spPr>
          <a:xfrm>
            <a:off x="10972800" y="4919472"/>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266</a:t>
            </a:r>
            <a:endParaRPr lang="en-US" sz="1000" dirty="0"/>
          </a:p>
        </p:txBody>
      </p:sp>
      <p:sp>
        <p:nvSpPr>
          <p:cNvPr id="83" name="Text 80"/>
          <p:cNvSpPr txBox="1"/>
          <p:nvPr/>
        </p:nvSpPr>
        <p:spPr>
          <a:xfrm>
            <a:off x="8275320" y="5175504"/>
            <a:ext cx="1097280" cy="228600"/>
          </a:xfrm>
          <a:prstGeom prst="rect">
            <a:avLst/>
          </a:prstGeom>
          <a:noFill/>
          <a:ln/>
        </p:spPr>
        <p:txBody>
          <a:bodyPr wrap="square" lIns="0" tIns="0" rIns="0" bIns="0" rtlCol="0" anchor="t"/>
          <a:lstStyle/>
          <a:p>
            <a:pPr marL="0" indent="0">
              <a:buNone/>
            </a:pPr>
            <a:r>
              <a:rPr lang="en-US" sz="1100" dirty="0">
                <a:solidFill>
                  <a:schemeClr val="tx1"/>
                </a:solidFill>
              </a:rPr>
              <a:t>core</a:t>
            </a:r>
            <a:endParaRPr lang="en-US" sz="1100" dirty="0"/>
          </a:p>
        </p:txBody>
      </p:sp>
      <p:sp>
        <p:nvSpPr>
          <p:cNvPr id="84" name="Shape 81"/>
          <p:cNvSpPr/>
          <p:nvPr/>
        </p:nvSpPr>
        <p:spPr>
          <a:xfrm>
            <a:off x="9372600" y="5230368"/>
            <a:ext cx="156023" cy="128016"/>
          </a:xfrm>
          <a:prstGeom prst="rect">
            <a:avLst/>
          </a:prstGeom>
          <a:solidFill>
            <a:srgbClr val="9E9E9E"/>
          </a:solidFill>
          <a:ln w="12700">
            <a:solidFill>
              <a:srgbClr val="FFFFFF"/>
            </a:solidFill>
            <a:prstDash val="solid"/>
          </a:ln>
        </p:spPr>
      </p:sp>
      <p:sp>
        <p:nvSpPr>
          <p:cNvPr id="85" name="Text 82"/>
          <p:cNvSpPr txBox="1"/>
          <p:nvPr/>
        </p:nvSpPr>
        <p:spPr>
          <a:xfrm>
            <a:off x="10972800" y="5175504"/>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190</a:t>
            </a:r>
            <a:endParaRPr lang="en-US" sz="1000" dirty="0"/>
          </a:p>
        </p:txBody>
      </p:sp>
      <p:sp>
        <p:nvSpPr>
          <p:cNvPr id="86" name="Text 83"/>
          <p:cNvSpPr txBox="1"/>
          <p:nvPr/>
        </p:nvSpPr>
        <p:spPr>
          <a:xfrm>
            <a:off x="8275320" y="5431536"/>
            <a:ext cx="1097280" cy="228600"/>
          </a:xfrm>
          <a:prstGeom prst="rect">
            <a:avLst/>
          </a:prstGeom>
          <a:noFill/>
          <a:ln/>
        </p:spPr>
        <p:txBody>
          <a:bodyPr wrap="square" lIns="0" tIns="0" rIns="0" bIns="0" rtlCol="0" anchor="t"/>
          <a:lstStyle/>
          <a:p>
            <a:pPr marL="0" indent="0">
              <a:buNone/>
            </a:pPr>
            <a:r>
              <a:rPr lang="en-US" sz="1100" dirty="0">
                <a:solidFill>
                  <a:schemeClr val="tx1"/>
                </a:solidFill>
              </a:rPr>
              <a:t>coexistence</a:t>
            </a:r>
            <a:endParaRPr lang="en-US" sz="1100" dirty="0"/>
          </a:p>
        </p:txBody>
      </p:sp>
      <p:sp>
        <p:nvSpPr>
          <p:cNvPr id="87" name="Shape 84"/>
          <p:cNvSpPr/>
          <p:nvPr/>
        </p:nvSpPr>
        <p:spPr>
          <a:xfrm>
            <a:off x="9372600" y="5486400"/>
            <a:ext cx="52555" cy="128016"/>
          </a:xfrm>
          <a:prstGeom prst="rect">
            <a:avLst/>
          </a:prstGeom>
          <a:solidFill>
            <a:srgbClr val="9E9E9E"/>
          </a:solidFill>
          <a:ln w="12700">
            <a:solidFill>
              <a:srgbClr val="FFFFFF"/>
            </a:solidFill>
            <a:prstDash val="solid"/>
          </a:ln>
        </p:spPr>
      </p:sp>
      <p:sp>
        <p:nvSpPr>
          <p:cNvPr id="88" name="Text 85"/>
          <p:cNvSpPr txBox="1"/>
          <p:nvPr/>
        </p:nvSpPr>
        <p:spPr>
          <a:xfrm>
            <a:off x="10972800" y="5431536"/>
            <a:ext cx="548640" cy="228600"/>
          </a:xfrm>
          <a:prstGeom prst="rect">
            <a:avLst/>
          </a:prstGeom>
          <a:noFill/>
          <a:ln/>
        </p:spPr>
        <p:txBody>
          <a:bodyPr wrap="square" lIns="0" tIns="0" rIns="0" bIns="0" rtlCol="0" anchor="t"/>
          <a:lstStyle/>
          <a:p>
            <a:pPr marL="0" indent="0" algn="r">
              <a:buNone/>
            </a:pPr>
            <a:r>
              <a:rPr lang="en-US" sz="1000" dirty="0">
                <a:solidFill>
                  <a:schemeClr val="tx2"/>
                </a:solidFill>
              </a:rPr>
              <a:t>64</a:t>
            </a:r>
            <a:endParaRPr lang="en-US" sz="1000" dirty="0"/>
          </a:p>
        </p:txBody>
      </p:sp>
      <p:sp>
        <p:nvSpPr>
          <p:cNvPr id="89" name="Text 86"/>
          <p:cNvSpPr txBox="1"/>
          <p:nvPr/>
        </p:nvSpPr>
        <p:spPr>
          <a:xfrm>
            <a:off x="457200" y="6080760"/>
            <a:ext cx="11247120" cy="274320"/>
          </a:xfrm>
          <a:prstGeom prst="rect">
            <a:avLst/>
          </a:prstGeom>
          <a:noFill/>
          <a:ln/>
        </p:spPr>
        <p:txBody>
          <a:bodyPr wrap="square" lIns="0" tIns="0" rIns="0" bIns="0" rtlCol="0" anchor="t"/>
          <a:lstStyle/>
          <a:p>
            <a:pPr marL="0" indent="0">
              <a:buNone/>
            </a:pPr>
            <a:r>
              <a:rPr lang="en-US" sz="1000" i="1" dirty="0">
                <a:solidFill>
                  <a:schemeClr val="accent3"/>
                </a:solidFill>
              </a:rPr>
              <a:t>Python lines per package (git ls-files, current main). Total hub: 204 Python files; plus 11 JSON contracts and 9 SQL migrations.</a:t>
            </a:r>
            <a:endParaRPr lang="en-US" sz="10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Before vs now</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WHAT CHANGED</a:t>
            </a:r>
            <a:endParaRPr lang="en-US" sz="3000" dirty="0"/>
          </a:p>
          <a:p>
            <a:pPr marL="0" indent="0" algn="l">
              <a:lnSpc>
                <a:spcPct val="95000"/>
              </a:lnSpc>
              <a:buNone/>
            </a:pPr>
            <a:r>
              <a:rPr lang="en-US" sz="3000" b="1" dirty="0">
                <a:solidFill>
                  <a:schemeClr val="accent1"/>
                </a:solidFill>
              </a:rPr>
              <a:t>IN THE ENGINEERING</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74552" cy="914400"/>
        </p:xfrm>
        <a:graphic>
          <a:graphicData uri="http://schemas.openxmlformats.org/drawingml/2006/table">
            <a:tbl>
              <a:tblPr/>
              <a:tblGrid>
                <a:gridCol w="18288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965192">
                  <a:extLst>
                    <a:ext uri="{9D8B030D-6E8A-4147-A177-3AD203B41FA5}">
                      <a16:colId xmlns:a16="http://schemas.microsoft.com/office/drawing/2014/main" val="20002"/>
                    </a:ext>
                  </a:extLst>
                </a:gridCol>
              </a:tblGrid>
              <a:tr h="393192">
                <a:tc>
                  <a:txBody>
                    <a:bodyPr/>
                    <a:lstStyle/>
                    <a:p>
                      <a:pPr marL="0" indent="0">
                        <a:buNone/>
                      </a:pPr>
                      <a:r>
                        <a:rPr lang="en-US" sz="1100" b="1" dirty="0">
                          <a:solidFill>
                            <a:srgbClr val="FFFFFF"/>
                          </a:solidFill>
                          <a:latin typeface="Arial" pitchFamily="34" charset="0"/>
                          <a:ea typeface="Arial" pitchFamily="34" charset="-122"/>
                          <a:cs typeface="Arial" pitchFamily="34" charset="-120"/>
                        </a:rPr>
                        <a:t>Dimension</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Before (baseline a6eb4e8)</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Now (main b4b7393 + Delevarables)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extLst>
                  <a:ext uri="{0D108BD9-81ED-4DB2-BD59-A6C34878D82A}">
                    <a16:rowId xmlns:a16="http://schemas.microsoft.com/office/drawing/2014/main" val="10000"/>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Code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app/ 18 Python files, 552 lines; Java, JS and batch copies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hub: 204 Python files in 24 packages; Command Centre UI</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Business rules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3 approval rules (Python, Java, JS) that disagree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One rule service; as-found rules loaded inactive; 48 spec rules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2"/>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Arithmetic</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Floating point; month-end SQL join fans out (+19.3 %)</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Exact Decimal, one table, ROUND_HALF_EVEN, cut-off required</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Intake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Destructive; replays inflate the queue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Raw store, natural key, 15 reason codes, 5 queues, replay Δ 0</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4"/>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Decisions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Mutable status column, no actor, no reason</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Append-only, hash-chained events; Zone H human gate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Access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No login; Docker binds 0.0.0.0</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Login, 6 roles, 48 routes deny-by-default, loopback only</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6"/>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Testing</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7 test files (121 lines); kills 1 of 15 mutants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140 Python test modules (31,102 lines in tests/); 134/134 characterisation; 15/15 mutants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7"/>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Operations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1 CI workflow, Docker compose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Runbook, backup/restore, rollback L1-L3, SLO candidates, release evaluator</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8"/>
                  </a:ext>
                </a:extLst>
              </a:tr>
              <a:tr h="393192">
                <a:tc>
                  <a:txBody>
                    <a:bodyPr/>
                    <a:lstStyle/>
                    <a:p>
                      <a:pPr marL="0" indent="0">
                        <a:buNone/>
                      </a:pPr>
                      <a:r>
                        <a:rPr lang="en-US" sz="1100" dirty="0">
                          <a:solidFill>
                            <a:srgbClr val="2B2B2B"/>
                          </a:solidFill>
                          <a:latin typeface="Arial" pitchFamily="34" charset="0"/>
                          <a:ea typeface="Arial" pitchFamily="34" charset="-122"/>
                          <a:cs typeface="Arial" pitchFamily="34" charset="-120"/>
                        </a:rPr>
                        <a:t>Knowledge and AI</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Tribal knowledge; docs drift; no AI</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100" dirty="0">
                          <a:solidFill>
                            <a:srgbClr val="2B2B2B"/>
                          </a:solidFill>
                          <a:latin typeface="Arial" pitchFamily="34" charset="0"/>
                          <a:ea typeface="Arial" pitchFamily="34" charset="-122"/>
                          <a:cs typeface="Arial" pitchFamily="34" charset="-120"/>
                        </a:rPr>
                        <a:t>Semantic layer (YAML, schema, tests); advisory OpenAI assistant, A1</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AI assistant design</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OPENAI, BEHIND</a:t>
            </a:r>
            <a:endParaRPr lang="en-US" sz="3000" dirty="0"/>
          </a:p>
          <a:p>
            <a:pPr marL="0" indent="0" algn="l">
              <a:lnSpc>
                <a:spcPct val="95000"/>
              </a:lnSpc>
              <a:buNone/>
            </a:pPr>
            <a:r>
              <a:rPr lang="en-US" sz="3000" b="1" dirty="0">
                <a:solidFill>
                  <a:schemeClr val="accent1"/>
                </a:solidFill>
              </a:rPr>
              <a:t>FIVE GUARDRAILS</a:t>
            </a:r>
            <a:endParaRPr lang="en-US" sz="3000" dirty="0"/>
          </a:p>
        </p:txBody>
      </p:sp>
      <p:sp>
        <p:nvSpPr>
          <p:cNvPr id="5" name="icon-circle"/>
          <p:cNvSpPr/>
          <p:nvPr/>
        </p:nvSpPr>
        <p:spPr>
          <a:xfrm>
            <a:off x="457200" y="2203704"/>
            <a:ext cx="530352" cy="530352"/>
          </a:xfrm>
          <a:prstGeom prst="ellipse">
            <a:avLst/>
          </a:prstGeom>
          <a:solidFill>
            <a:srgbClr val="E1251B"/>
          </a:solidFill>
          <a:ln w="12700">
            <a:solidFill>
              <a:srgbClr val="E1251B"/>
            </a:solidFill>
            <a:prstDash val="solid"/>
          </a:ln>
        </p:spPr>
      </p:sp>
      <p:pic>
        <p:nvPicPr>
          <p:cNvPr id="6" name="Image 0" descr="FaUserShield"/>
          <p:cNvPicPr>
            <a:picLocks noChangeAspect="1"/>
          </p:cNvPicPr>
          <p:nvPr/>
        </p:nvPicPr>
        <p:blipFill>
          <a:blip r:embed="rId3"/>
          <a:stretch>
            <a:fillRect/>
          </a:stretch>
        </p:blipFill>
        <p:spPr>
          <a:xfrm>
            <a:off x="595092" y="2341596"/>
            <a:ext cx="254569" cy="254569"/>
          </a:xfrm>
          <a:prstGeom prst="rect">
            <a:avLst/>
          </a:prstGeom>
        </p:spPr>
      </p:pic>
      <p:sp>
        <p:nvSpPr>
          <p:cNvPr id="7" name="Text 3"/>
          <p:cNvSpPr txBox="1"/>
          <p:nvPr/>
        </p:nvSpPr>
        <p:spPr>
          <a:xfrm>
            <a:off x="1143000" y="2258568"/>
            <a:ext cx="5120640" cy="548640"/>
          </a:xfrm>
          <a:prstGeom prst="rect">
            <a:avLst/>
          </a:prstGeom>
          <a:noFill/>
          <a:ln/>
        </p:spPr>
        <p:txBody>
          <a:bodyPr wrap="square" lIns="0" tIns="0" rIns="0" bIns="0" rtlCol="0" anchor="ctr"/>
          <a:lstStyle/>
          <a:p>
            <a:pPr marL="0" indent="0">
              <a:buNone/>
            </a:pPr>
            <a:r>
              <a:rPr lang="en-US" sz="1300" b="1" dirty="0">
                <a:solidFill>
                  <a:schemeClr val="tx1"/>
                </a:solidFill>
              </a:rPr>
              <a:t>Guard   </a:t>
            </a:r>
            <a:r>
              <a:rPr lang="en-US" sz="1300" dirty="0">
                <a:solidFill>
                  <a:schemeClr val="tx2"/>
                </a:solidFill>
              </a:rPr>
              <a:t>Action request? Refuse before any call; log as Zone H attempt</a:t>
            </a:r>
            <a:endParaRPr lang="en-US" sz="1300" dirty="0"/>
          </a:p>
        </p:txBody>
      </p:sp>
      <p:sp>
        <p:nvSpPr>
          <p:cNvPr id="8" name="icon-circle"/>
          <p:cNvSpPr/>
          <p:nvPr/>
        </p:nvSpPr>
        <p:spPr>
          <a:xfrm>
            <a:off x="457200" y="2990088"/>
            <a:ext cx="530352" cy="530352"/>
          </a:xfrm>
          <a:prstGeom prst="ellipse">
            <a:avLst/>
          </a:prstGeom>
          <a:solidFill>
            <a:srgbClr val="E1251B"/>
          </a:solidFill>
          <a:ln w="12700">
            <a:solidFill>
              <a:srgbClr val="E1251B"/>
            </a:solidFill>
            <a:prstDash val="solid"/>
          </a:ln>
        </p:spPr>
      </p:sp>
      <p:pic>
        <p:nvPicPr>
          <p:cNvPr id="9" name="Image 1" descr="FaSearch"/>
          <p:cNvPicPr>
            <a:picLocks noChangeAspect="1"/>
          </p:cNvPicPr>
          <p:nvPr/>
        </p:nvPicPr>
        <p:blipFill>
          <a:blip r:embed="rId4"/>
          <a:stretch>
            <a:fillRect/>
          </a:stretch>
        </p:blipFill>
        <p:spPr>
          <a:xfrm>
            <a:off x="595092" y="3127980"/>
            <a:ext cx="254569" cy="254569"/>
          </a:xfrm>
          <a:prstGeom prst="rect">
            <a:avLst/>
          </a:prstGeom>
        </p:spPr>
      </p:pic>
      <p:sp>
        <p:nvSpPr>
          <p:cNvPr id="10" name="Text 5"/>
          <p:cNvSpPr txBox="1"/>
          <p:nvPr/>
        </p:nvSpPr>
        <p:spPr>
          <a:xfrm>
            <a:off x="1143000" y="3044952"/>
            <a:ext cx="5120640" cy="548640"/>
          </a:xfrm>
          <a:prstGeom prst="rect">
            <a:avLst/>
          </a:prstGeom>
          <a:noFill/>
          <a:ln/>
        </p:spPr>
        <p:txBody>
          <a:bodyPr wrap="square" lIns="0" tIns="0" rIns="0" bIns="0" rtlCol="0" anchor="ctr"/>
          <a:lstStyle/>
          <a:p>
            <a:pPr marL="0" indent="0">
              <a:buNone/>
            </a:pPr>
            <a:r>
              <a:rPr lang="en-US" sz="1300" b="1" dirty="0">
                <a:solidFill>
                  <a:schemeClr val="tx1"/>
                </a:solidFill>
              </a:rPr>
              <a:t>Retrieve   </a:t>
            </a:r>
            <a:r>
              <a:rPr lang="en-US" sz="1300" dirty="0">
                <a:solidFill>
                  <a:schemeClr val="tx2"/>
                </a:solidFill>
              </a:rPr>
              <a:t>Semantic layer + selected case or feed item, top-k with ids</a:t>
            </a:r>
            <a:endParaRPr lang="en-US" sz="1300" dirty="0"/>
          </a:p>
        </p:txBody>
      </p:sp>
      <p:sp>
        <p:nvSpPr>
          <p:cNvPr id="11" name="icon-circle"/>
          <p:cNvSpPr/>
          <p:nvPr/>
        </p:nvSpPr>
        <p:spPr>
          <a:xfrm>
            <a:off x="457200" y="3776472"/>
            <a:ext cx="530352" cy="530352"/>
          </a:xfrm>
          <a:prstGeom prst="ellipse">
            <a:avLst/>
          </a:prstGeom>
          <a:solidFill>
            <a:srgbClr val="E1251B"/>
          </a:solidFill>
          <a:ln w="12700">
            <a:solidFill>
              <a:srgbClr val="E1251B"/>
            </a:solidFill>
            <a:prstDash val="solid"/>
          </a:ln>
        </p:spPr>
      </p:sp>
      <p:pic>
        <p:nvPicPr>
          <p:cNvPr id="12" name="Image 2" descr="FaLock"/>
          <p:cNvPicPr>
            <a:picLocks noChangeAspect="1"/>
          </p:cNvPicPr>
          <p:nvPr/>
        </p:nvPicPr>
        <p:blipFill>
          <a:blip r:embed="rId5"/>
          <a:stretch>
            <a:fillRect/>
          </a:stretch>
        </p:blipFill>
        <p:spPr>
          <a:xfrm>
            <a:off x="595092" y="3914364"/>
            <a:ext cx="254569" cy="254569"/>
          </a:xfrm>
          <a:prstGeom prst="rect">
            <a:avLst/>
          </a:prstGeom>
        </p:spPr>
      </p:pic>
      <p:sp>
        <p:nvSpPr>
          <p:cNvPr id="13" name="Text 7"/>
          <p:cNvSpPr txBox="1"/>
          <p:nvPr/>
        </p:nvSpPr>
        <p:spPr>
          <a:xfrm>
            <a:off x="1143000" y="3831336"/>
            <a:ext cx="5120640" cy="548640"/>
          </a:xfrm>
          <a:prstGeom prst="rect">
            <a:avLst/>
          </a:prstGeom>
          <a:noFill/>
          <a:ln/>
        </p:spPr>
        <p:txBody>
          <a:bodyPr wrap="square" lIns="0" tIns="0" rIns="0" bIns="0" rtlCol="0" anchor="ctr"/>
          <a:lstStyle/>
          <a:p>
            <a:pPr marL="0" indent="0">
              <a:buNone/>
            </a:pPr>
            <a:r>
              <a:rPr lang="en-US" sz="1300" b="1" dirty="0">
                <a:solidFill>
                  <a:schemeClr val="tx1"/>
                </a:solidFill>
              </a:rPr>
              <a:t>Wrap   </a:t>
            </a:r>
            <a:r>
              <a:rPr lang="en-US" sz="1300" dirty="0">
                <a:solidFill>
                  <a:schemeClr val="tx2"/>
                </a:solidFill>
              </a:rPr>
              <a:t>Untrusted text tagged; instruction-like text flagged; e-mails redacted</a:t>
            </a:r>
            <a:endParaRPr lang="en-US" sz="1300" dirty="0"/>
          </a:p>
        </p:txBody>
      </p:sp>
      <p:sp>
        <p:nvSpPr>
          <p:cNvPr id="14" name="icon-circle"/>
          <p:cNvSpPr/>
          <p:nvPr/>
        </p:nvSpPr>
        <p:spPr>
          <a:xfrm>
            <a:off x="457200" y="4562856"/>
            <a:ext cx="530352" cy="530352"/>
          </a:xfrm>
          <a:prstGeom prst="ellipse">
            <a:avLst/>
          </a:prstGeom>
          <a:solidFill>
            <a:srgbClr val="4D4D4D"/>
          </a:solidFill>
          <a:ln w="12700">
            <a:solidFill>
              <a:srgbClr val="4D4D4D"/>
            </a:solidFill>
            <a:prstDash val="solid"/>
          </a:ln>
        </p:spPr>
      </p:sp>
      <p:pic>
        <p:nvPicPr>
          <p:cNvPr id="15" name="Image 3" descr="FaBrain"/>
          <p:cNvPicPr>
            <a:picLocks noChangeAspect="1"/>
          </p:cNvPicPr>
          <p:nvPr/>
        </p:nvPicPr>
        <p:blipFill>
          <a:blip r:embed="rId6"/>
          <a:stretch>
            <a:fillRect/>
          </a:stretch>
        </p:blipFill>
        <p:spPr>
          <a:xfrm>
            <a:off x="595092" y="4700748"/>
            <a:ext cx="254569" cy="254569"/>
          </a:xfrm>
          <a:prstGeom prst="rect">
            <a:avLst/>
          </a:prstGeom>
        </p:spPr>
      </p:pic>
      <p:sp>
        <p:nvSpPr>
          <p:cNvPr id="16" name="Text 9"/>
          <p:cNvSpPr txBox="1"/>
          <p:nvPr/>
        </p:nvSpPr>
        <p:spPr>
          <a:xfrm>
            <a:off x="1143000" y="4617720"/>
            <a:ext cx="5120640" cy="548640"/>
          </a:xfrm>
          <a:prstGeom prst="rect">
            <a:avLst/>
          </a:prstGeom>
          <a:noFill/>
          <a:ln/>
        </p:spPr>
        <p:txBody>
          <a:bodyPr wrap="square" lIns="0" tIns="0" rIns="0" bIns="0" rtlCol="0" anchor="ctr"/>
          <a:lstStyle/>
          <a:p>
            <a:pPr marL="0" indent="0">
              <a:buNone/>
            </a:pPr>
            <a:r>
              <a:rPr lang="en-US" sz="1300" b="1" dirty="0">
                <a:solidFill>
                  <a:schemeClr val="tx1"/>
                </a:solidFill>
              </a:rPr>
              <a:t>Generate   </a:t>
            </a:r>
            <a:r>
              <a:rPr lang="en-US" sz="1300" dirty="0">
                <a:solidFill>
                  <a:schemeClr val="tx2"/>
                </a:solidFill>
              </a:rPr>
              <a:t>OpenAI / Azure OpenAI chat completion, low temperature</a:t>
            </a:r>
            <a:endParaRPr lang="en-US" sz="1300" dirty="0"/>
          </a:p>
        </p:txBody>
      </p:sp>
      <p:sp>
        <p:nvSpPr>
          <p:cNvPr id="17" name="icon-circle"/>
          <p:cNvSpPr/>
          <p:nvPr/>
        </p:nvSpPr>
        <p:spPr>
          <a:xfrm>
            <a:off x="457200" y="5349240"/>
            <a:ext cx="530352" cy="530352"/>
          </a:xfrm>
          <a:prstGeom prst="ellipse">
            <a:avLst/>
          </a:prstGeom>
          <a:solidFill>
            <a:srgbClr val="E1251B"/>
          </a:solidFill>
          <a:ln w="12700">
            <a:solidFill>
              <a:srgbClr val="E1251B"/>
            </a:solidFill>
            <a:prstDash val="solid"/>
          </a:ln>
        </p:spPr>
      </p:sp>
      <p:pic>
        <p:nvPicPr>
          <p:cNvPr id="18" name="Image 4" descr="FaClipboardCheck"/>
          <p:cNvPicPr>
            <a:picLocks noChangeAspect="1"/>
          </p:cNvPicPr>
          <p:nvPr/>
        </p:nvPicPr>
        <p:blipFill>
          <a:blip r:embed="rId7"/>
          <a:stretch>
            <a:fillRect/>
          </a:stretch>
        </p:blipFill>
        <p:spPr>
          <a:xfrm>
            <a:off x="595092" y="5487132"/>
            <a:ext cx="254569" cy="254569"/>
          </a:xfrm>
          <a:prstGeom prst="rect">
            <a:avLst/>
          </a:prstGeom>
        </p:spPr>
      </p:pic>
      <p:sp>
        <p:nvSpPr>
          <p:cNvPr id="19" name="Text 11"/>
          <p:cNvSpPr txBox="1"/>
          <p:nvPr/>
        </p:nvSpPr>
        <p:spPr>
          <a:xfrm>
            <a:off x="1143000" y="5404104"/>
            <a:ext cx="5120640" cy="548640"/>
          </a:xfrm>
          <a:prstGeom prst="rect">
            <a:avLst/>
          </a:prstGeom>
          <a:noFill/>
          <a:ln/>
        </p:spPr>
        <p:txBody>
          <a:bodyPr wrap="square" lIns="0" tIns="0" rIns="0" bIns="0" rtlCol="0" anchor="ctr"/>
          <a:lstStyle/>
          <a:p>
            <a:pPr marL="0" indent="0">
              <a:buNone/>
            </a:pPr>
            <a:r>
              <a:rPr lang="en-US" sz="1300" b="1" dirty="0">
                <a:solidFill>
                  <a:schemeClr val="tx1"/>
                </a:solidFill>
              </a:rPr>
              <a:t>Label and log   </a:t>
            </a:r>
            <a:r>
              <a:rPr lang="en-US" sz="1300" dirty="0">
                <a:solidFill>
                  <a:schemeClr val="tx2"/>
                </a:solidFill>
              </a:rPr>
              <a:t>Advisory label, citations, acted-claim check, JSONL log without key</a:t>
            </a:r>
            <a:endParaRPr lang="en-US" sz="1300" dirty="0"/>
          </a:p>
        </p:txBody>
      </p:sp>
      <p:sp>
        <p:nvSpPr>
          <p:cNvPr id="20" name="card"/>
          <p:cNvSpPr/>
          <p:nvPr/>
        </p:nvSpPr>
        <p:spPr>
          <a:xfrm>
            <a:off x="6583680" y="2148840"/>
            <a:ext cx="5148072" cy="3931920"/>
          </a:xfrm>
          <a:prstGeom prst="roundRect">
            <a:avLst>
              <a:gd name="adj" fmla="val 1860"/>
            </a:avLst>
          </a:prstGeom>
          <a:solidFill>
            <a:srgbClr val="1F1F1F"/>
          </a:solidFill>
          <a:ln w="9525">
            <a:solidFill>
              <a:srgbClr val="1F1F1F"/>
            </a:solidFill>
            <a:prstDash val="solid"/>
          </a:ln>
        </p:spPr>
      </p:sp>
      <p:sp>
        <p:nvSpPr>
          <p:cNvPr id="21" name="Text 13"/>
          <p:cNvSpPr txBox="1"/>
          <p:nvPr/>
        </p:nvSpPr>
        <p:spPr>
          <a:xfrm>
            <a:off x="6812280" y="2286000"/>
            <a:ext cx="4754880" cy="274320"/>
          </a:xfrm>
          <a:prstGeom prst="rect">
            <a:avLst/>
          </a:prstGeom>
          <a:noFill/>
          <a:ln/>
        </p:spPr>
        <p:txBody>
          <a:bodyPr wrap="square" lIns="0" tIns="0" rIns="0" bIns="0" rtlCol="0" anchor="t"/>
          <a:lstStyle/>
          <a:p>
            <a:pPr marL="0" indent="0">
              <a:buNone/>
            </a:pPr>
            <a:r>
              <a:rPr lang="en-US" sz="1100" b="1" dirty="0">
                <a:solidFill>
                  <a:srgbClr val="F08A84"/>
                </a:solidFill>
              </a:rPr>
              <a:t>config/settings.json  (one place for every AI parameter)</a:t>
            </a:r>
            <a:endParaRPr lang="en-US" sz="1100" dirty="0"/>
          </a:p>
        </p:txBody>
      </p:sp>
      <p:sp>
        <p:nvSpPr>
          <p:cNvPr id="22" name="Text 14"/>
          <p:cNvSpPr txBox="1"/>
          <p:nvPr/>
        </p:nvSpPr>
        <p:spPr>
          <a:xfrm>
            <a:off x="6812280" y="2651760"/>
            <a:ext cx="4754880" cy="2743200"/>
          </a:xfrm>
          <a:prstGeom prst="rect">
            <a:avLst/>
          </a:prstGeom>
          <a:noFill/>
          <a:ln/>
        </p:spPr>
        <p:txBody>
          <a:bodyPr wrap="square" lIns="0" tIns="0" rIns="0" bIns="0" rtlCol="0" anchor="t"/>
          <a:lstStyle/>
          <a:p>
            <a:pPr marL="0" indent="0">
              <a:buNone/>
            </a:pPr>
            <a:r>
              <a:rPr lang="en-US" sz="1100" dirty="0">
                <a:solidFill>
                  <a:srgbClr val="F2F2F2"/>
                </a:solidFill>
                <a:latin typeface="Courier New" pitchFamily="34" charset="0"/>
                <a:ea typeface="Courier New" pitchFamily="34" charset="-122"/>
                <a:cs typeface="Courier New" pitchFamily="34" charset="-120"/>
              </a:rPr>
              <a:t>"ai": {</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"enabled": true,</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"provider": "openai",        // or "azure_openai"</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"openai": {</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"api_key_env": "OPENAI_API_KEY",</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"base_url": "https://api.openai.com/v1",</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"model": "gpt-4.1-mini" },</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"generation": { "temperature": 0.1,</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"max_output_tokens": 700, "timeout_seconds": 30 },</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"guardrails": { "autonomy_level": "A1",</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    "block_action_requests": true }</a:t>
            </a:r>
            <a:endParaRPr lang="en-US" sz="1100" dirty="0"/>
          </a:p>
          <a:p>
            <a:pPr marL="0" indent="0">
              <a:buNone/>
            </a:pPr>
            <a:r>
              <a:rPr lang="en-US" sz="1100" dirty="0">
                <a:solidFill>
                  <a:srgbClr val="F2F2F2"/>
                </a:solidFill>
                <a:latin typeface="Courier New" pitchFamily="34" charset="0"/>
                <a:ea typeface="Courier New" pitchFamily="34" charset="-122"/>
                <a:cs typeface="Courier New" pitchFamily="34" charset="-120"/>
              </a:rPr>
              <a:t>}</a:t>
            </a:r>
            <a:endParaRPr lang="en-US" sz="1100" dirty="0"/>
          </a:p>
        </p:txBody>
      </p:sp>
      <p:sp>
        <p:nvSpPr>
          <p:cNvPr id="23" name="Text 15"/>
          <p:cNvSpPr txBox="1"/>
          <p:nvPr/>
        </p:nvSpPr>
        <p:spPr>
          <a:xfrm>
            <a:off x="6812280" y="5440680"/>
            <a:ext cx="4754880" cy="548640"/>
          </a:xfrm>
          <a:prstGeom prst="rect">
            <a:avLst/>
          </a:prstGeom>
          <a:noFill/>
          <a:ln/>
        </p:spPr>
        <p:txBody>
          <a:bodyPr wrap="square" lIns="0" tIns="0" rIns="0" bIns="0" rtlCol="0" anchor="t"/>
          <a:lstStyle/>
          <a:p>
            <a:pPr marL="0" indent="0">
              <a:buNone/>
            </a:pPr>
            <a:r>
              <a:rPr lang="en-US" sz="1100" dirty="0">
                <a:solidFill>
                  <a:srgbClr val="C9C9C9"/>
                </a:solidFill>
              </a:rPr>
              <a:t>Key resolution: UI session key → environment variable → settings.local.json. No key = retrieval-only, zero model calls.</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Engineering decisions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SIX DECISIONS</a:t>
            </a:r>
            <a:endParaRPr lang="en-US" sz="3000" dirty="0"/>
          </a:p>
          <a:p>
            <a:pPr marL="0" indent="0" algn="l">
              <a:lnSpc>
                <a:spcPct val="95000"/>
              </a:lnSpc>
              <a:buNone/>
            </a:pPr>
            <a:r>
              <a:rPr lang="en-US" sz="3000" b="1" dirty="0">
                <a:solidFill>
                  <a:schemeClr val="accent1"/>
                </a:solidFill>
              </a:rPr>
              <a:t>AND WHAT EACH ONE COST</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194560"/>
          <a:ext cx="11274552" cy="914400"/>
        </p:xfrm>
        <a:graphic>
          <a:graphicData uri="http://schemas.openxmlformats.org/drawingml/2006/table">
            <a:tbl>
              <a:tblPr/>
              <a:tblGrid>
                <a:gridCol w="32918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685032">
                  <a:extLst>
                    <a:ext uri="{9D8B030D-6E8A-4147-A177-3AD203B41FA5}">
                      <a16:colId xmlns:a16="http://schemas.microsoft.com/office/drawing/2014/main" val="20002"/>
                    </a:ext>
                  </a:extLst>
                </a:gridCol>
              </a:tblGrid>
              <a:tr h="512064">
                <a:tc>
                  <a:txBody>
                    <a:bodyPr/>
                    <a:lstStyle/>
                    <a:p>
                      <a:pPr marL="0" indent="0">
                        <a:buNone/>
                      </a:pPr>
                      <a:r>
                        <a:rPr lang="en-US" sz="1100" b="1" dirty="0">
                          <a:solidFill>
                            <a:srgbClr val="FFFFFF"/>
                          </a:solidFill>
                          <a:latin typeface="Arial" pitchFamily="34" charset="0"/>
                          <a:ea typeface="Arial" pitchFamily="34" charset="-122"/>
                          <a:cs typeface="Arial" pitchFamily="34" charset="-120"/>
                        </a:rPr>
                        <a:t>Decision</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Why</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Trade-off accepted</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extLst>
                  <a:ext uri="{0D108BD9-81ED-4DB2-BD59-A6C34878D82A}">
                    <a16:rowId xmlns:a16="http://schemas.microsoft.com/office/drawing/2014/main" val="10000"/>
                  </a:ext>
                </a:extLst>
              </a:tr>
              <a:tr h="512064">
                <a:tc>
                  <a:txBody>
                    <a:bodyPr/>
                    <a:lstStyle/>
                    <a:p>
                      <a:pPr marL="0" indent="0">
                        <a:buNone/>
                      </a:pPr>
                      <a:r>
                        <a:rPr lang="en-US" sz="1200" dirty="0">
                          <a:solidFill>
                            <a:srgbClr val="2B2B2B"/>
                          </a:solidFill>
                          <a:latin typeface="Arial" pitchFamily="34" charset="0"/>
                          <a:ea typeface="Arial" pitchFamily="34" charset="-122"/>
                          <a:cs typeface="Arial" pitchFamily="34" charset="-120"/>
                        </a:rPr>
                        <a:t>Standard library only (ADR-018)</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No supply-chain risk in a GxP core; runs anywhere Python runs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No frameworks: more hand-written code, thin UI</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1200" dirty="0">
                          <a:solidFill>
                            <a:srgbClr val="2B2B2B"/>
                          </a:solidFill>
                          <a:latin typeface="Arial" pitchFamily="34" charset="0"/>
                          <a:ea typeface="Arial" pitchFamily="34" charset="-122"/>
                          <a:cs typeface="Arial" pitchFamily="34" charset="-120"/>
                        </a:rPr>
                        <a:t>Shadow mode, no cutover</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Prove parity before anyone depends on it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No production value until a pilot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marL="0" indent="0">
                        <a:buNone/>
                      </a:pPr>
                      <a:r>
                        <a:rPr lang="en-US" sz="1200" dirty="0">
                          <a:solidFill>
                            <a:srgbClr val="2B2B2B"/>
                          </a:solidFill>
                          <a:latin typeface="Arial" pitchFamily="34" charset="0"/>
                          <a:ea typeface="Arial" pitchFamily="34" charset="-122"/>
                          <a:cs typeface="Arial" pitchFamily="34" charset="-120"/>
                        </a:rPr>
                        <a:t>Append-only, hash-chained events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Every decision has an actor, a basis and a history</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Corrections are new events; storage grows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1200" dirty="0">
                          <a:solidFill>
                            <a:srgbClr val="2B2B2B"/>
                          </a:solidFill>
                          <a:latin typeface="Arial" pitchFamily="34" charset="0"/>
                          <a:ea typeface="Arial" pitchFamily="34" charset="-122"/>
                          <a:cs typeface="Arial" pitchFamily="34" charset="-120"/>
                        </a:rPr>
                        <a:t>Definition tags, never a winner</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The business has not decided what 'closed' means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Some KPIs report 'unavailable' instead of a number</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4"/>
                  </a:ext>
                </a:extLst>
              </a:tr>
              <a:tr h="512064">
                <a:tc>
                  <a:txBody>
                    <a:bodyPr/>
                    <a:lstStyle/>
                    <a:p>
                      <a:pPr marL="0" indent="0">
                        <a:buNone/>
                      </a:pPr>
                      <a:r>
                        <a:rPr lang="en-US" sz="1200" dirty="0">
                          <a:solidFill>
                            <a:srgbClr val="2B2B2B"/>
                          </a:solidFill>
                          <a:latin typeface="Arial" pitchFamily="34" charset="0"/>
                          <a:ea typeface="Arial" pitchFamily="34" charset="-122"/>
                          <a:cs typeface="Arial" pitchFamily="34" charset="-120"/>
                        </a:rPr>
                        <a:t>Zone H ships with no holders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Nothing consequential can happen by accident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The human gate cannot be exercised until named</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5"/>
                  </a:ext>
                </a:extLst>
              </a:tr>
              <a:tr h="512064">
                <a:tc>
                  <a:txBody>
                    <a:bodyPr/>
                    <a:lstStyle/>
                    <a:p>
                      <a:pPr marL="0" indent="0">
                        <a:buNone/>
                      </a:pPr>
                      <a:r>
                        <a:rPr lang="en-US" sz="1200" dirty="0">
                          <a:solidFill>
                            <a:srgbClr val="2B2B2B"/>
                          </a:solidFill>
                          <a:latin typeface="Arial" pitchFamily="34" charset="0"/>
                          <a:ea typeface="Arial" pitchFamily="34" charset="-122"/>
                          <a:cs typeface="Arial" pitchFamily="34" charset="-120"/>
                        </a:rPr>
                        <a:t>AI advisory only, A1</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Root causes are absences; AI cannot supply an owner</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AI explains and suggests; it does not automate decisions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How  ·  Delivery method</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THE 42-STAGE FDE SPINE,</a:t>
            </a:r>
            <a:endParaRPr lang="en-US" sz="3000" dirty="0"/>
          </a:p>
          <a:p>
            <a:pPr marL="0" indent="0" algn="l">
              <a:lnSpc>
                <a:spcPct val="95000"/>
              </a:lnSpc>
              <a:buNone/>
            </a:pPr>
            <a:r>
              <a:rPr lang="en-US" sz="3000" b="1" dirty="0">
                <a:solidFill>
                  <a:schemeClr val="accent1"/>
                </a:solidFill>
              </a:rPr>
              <a:t>ADAPTED, NOT FOLLOWED BLINDLY</a:t>
            </a:r>
            <a:endParaRPr lang="en-US" sz="3000" dirty="0"/>
          </a:p>
        </p:txBody>
      </p:sp>
      <p:sp>
        <p:nvSpPr>
          <p:cNvPr id="5" name="Shape 2"/>
          <p:cNvSpPr/>
          <p:nvPr/>
        </p:nvSpPr>
        <p:spPr>
          <a:xfrm>
            <a:off x="640080" y="3337560"/>
            <a:ext cx="10881360" cy="0"/>
          </a:xfrm>
          <a:prstGeom prst="line">
            <a:avLst/>
          </a:prstGeom>
          <a:noFill/>
          <a:ln w="25400">
            <a:solidFill>
              <a:srgbClr val="C9C9C9"/>
            </a:solidFill>
            <a:prstDash val="solid"/>
          </a:ln>
        </p:spPr>
      </p:sp>
      <p:sp>
        <p:nvSpPr>
          <p:cNvPr id="6" name="Shape 3"/>
          <p:cNvSpPr/>
          <p:nvPr/>
        </p:nvSpPr>
        <p:spPr>
          <a:xfrm>
            <a:off x="960120" y="3108960"/>
            <a:ext cx="457200" cy="457200"/>
          </a:xfrm>
          <a:prstGeom prst="ellipse">
            <a:avLst/>
          </a:prstGeom>
          <a:solidFill>
            <a:srgbClr val="E1251B"/>
          </a:solidFill>
          <a:ln w="25400">
            <a:solidFill>
              <a:srgbClr val="FFFFFF"/>
            </a:solidFill>
            <a:prstDash val="solid"/>
          </a:ln>
        </p:spPr>
      </p:sp>
      <p:sp>
        <p:nvSpPr>
          <p:cNvPr id="7" name="Text 4"/>
          <p:cNvSpPr txBox="1"/>
          <p:nvPr/>
        </p:nvSpPr>
        <p:spPr>
          <a:xfrm>
            <a:off x="960120" y="31089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ext 5"/>
          <p:cNvSpPr txBox="1"/>
          <p:nvPr/>
        </p:nvSpPr>
        <p:spPr>
          <a:xfrm>
            <a:off x="457200" y="2514600"/>
            <a:ext cx="1463040" cy="274320"/>
          </a:xfrm>
          <a:prstGeom prst="rect">
            <a:avLst/>
          </a:prstGeom>
          <a:noFill/>
          <a:ln/>
        </p:spPr>
        <p:txBody>
          <a:bodyPr wrap="square" lIns="0" tIns="0" rIns="0" bIns="0" rtlCol="0" anchor="t"/>
          <a:lstStyle/>
          <a:p>
            <a:pPr marL="0" indent="0" algn="ctr">
              <a:buNone/>
            </a:pPr>
            <a:r>
              <a:rPr lang="en-US" sz="1100" dirty="0">
                <a:solidFill>
                  <a:schemeClr val="accent3"/>
                </a:solidFill>
              </a:rPr>
              <a:t>Stages 0-4</a:t>
            </a:r>
            <a:endParaRPr lang="en-US" sz="1100" dirty="0"/>
          </a:p>
        </p:txBody>
      </p:sp>
      <p:sp>
        <p:nvSpPr>
          <p:cNvPr id="9" name="Text 6"/>
          <p:cNvSpPr txBox="1"/>
          <p:nvPr/>
        </p:nvSpPr>
        <p:spPr>
          <a:xfrm>
            <a:off x="457200" y="3703320"/>
            <a:ext cx="1463040" cy="320040"/>
          </a:xfrm>
          <a:prstGeom prst="rect">
            <a:avLst/>
          </a:prstGeom>
          <a:noFill/>
          <a:ln/>
        </p:spPr>
        <p:txBody>
          <a:bodyPr wrap="square" lIns="0" tIns="0" rIns="0" bIns="0" rtlCol="0" anchor="t"/>
          <a:lstStyle/>
          <a:p>
            <a:pPr marL="0" indent="0" algn="ctr">
              <a:buNone/>
            </a:pPr>
            <a:r>
              <a:rPr lang="en-US" sz="1500" b="1" dirty="0">
                <a:solidFill>
                  <a:schemeClr val="tx1"/>
                </a:solidFill>
              </a:rPr>
              <a:t>Discover</a:t>
            </a:r>
            <a:endParaRPr lang="en-US" sz="1500" dirty="0"/>
          </a:p>
        </p:txBody>
      </p:sp>
      <p:sp>
        <p:nvSpPr>
          <p:cNvPr id="10" name="Text 7"/>
          <p:cNvSpPr txBox="1"/>
          <p:nvPr/>
        </p:nvSpPr>
        <p:spPr>
          <a:xfrm>
            <a:off x="502920" y="4041648"/>
            <a:ext cx="1371600" cy="822960"/>
          </a:xfrm>
          <a:prstGeom prst="rect">
            <a:avLst/>
          </a:prstGeom>
          <a:noFill/>
          <a:ln/>
        </p:spPr>
        <p:txBody>
          <a:bodyPr wrap="square" lIns="0" tIns="0" rIns="0" bIns="0" rtlCol="0" anchor="t"/>
          <a:lstStyle/>
          <a:p>
            <a:pPr marL="0" indent="0" algn="ctr">
              <a:buNone/>
            </a:pPr>
            <a:r>
              <a:rPr lang="en-US" sz="1100" dirty="0">
                <a:solidFill>
                  <a:schemeClr val="tx2"/>
                </a:solidFill>
              </a:rPr>
              <a:t>context, stakeholders, value, baseline</a:t>
            </a:r>
            <a:endParaRPr lang="en-US" sz="1100" dirty="0"/>
          </a:p>
        </p:txBody>
      </p:sp>
      <p:sp>
        <p:nvSpPr>
          <p:cNvPr id="11" name="Shape 8"/>
          <p:cNvSpPr/>
          <p:nvPr/>
        </p:nvSpPr>
        <p:spPr>
          <a:xfrm>
            <a:off x="2560320" y="3108960"/>
            <a:ext cx="457200" cy="457200"/>
          </a:xfrm>
          <a:prstGeom prst="ellipse">
            <a:avLst/>
          </a:prstGeom>
          <a:solidFill>
            <a:srgbClr val="E1251B"/>
          </a:solidFill>
          <a:ln w="25400">
            <a:solidFill>
              <a:srgbClr val="FFFFFF"/>
            </a:solidFill>
            <a:prstDash val="solid"/>
          </a:ln>
        </p:spPr>
      </p:sp>
      <p:sp>
        <p:nvSpPr>
          <p:cNvPr id="12" name="Text 9"/>
          <p:cNvSpPr txBox="1"/>
          <p:nvPr/>
        </p:nvSpPr>
        <p:spPr>
          <a:xfrm>
            <a:off x="2560320" y="31089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ext 10"/>
          <p:cNvSpPr txBox="1"/>
          <p:nvPr/>
        </p:nvSpPr>
        <p:spPr>
          <a:xfrm>
            <a:off x="2057400" y="2514600"/>
            <a:ext cx="1463040" cy="274320"/>
          </a:xfrm>
          <a:prstGeom prst="rect">
            <a:avLst/>
          </a:prstGeom>
          <a:noFill/>
          <a:ln/>
        </p:spPr>
        <p:txBody>
          <a:bodyPr wrap="square" lIns="0" tIns="0" rIns="0" bIns="0" rtlCol="0" anchor="t"/>
          <a:lstStyle/>
          <a:p>
            <a:pPr marL="0" indent="0" algn="ctr">
              <a:buNone/>
            </a:pPr>
            <a:r>
              <a:rPr lang="en-US" sz="1100" dirty="0">
                <a:solidFill>
                  <a:schemeClr val="accent3"/>
                </a:solidFill>
              </a:rPr>
              <a:t>Stages 5-8</a:t>
            </a:r>
            <a:endParaRPr lang="en-US" sz="1100" dirty="0"/>
          </a:p>
        </p:txBody>
      </p:sp>
      <p:sp>
        <p:nvSpPr>
          <p:cNvPr id="14" name="Text 11"/>
          <p:cNvSpPr txBox="1"/>
          <p:nvPr/>
        </p:nvSpPr>
        <p:spPr>
          <a:xfrm>
            <a:off x="2057400" y="3703320"/>
            <a:ext cx="1463040" cy="320040"/>
          </a:xfrm>
          <a:prstGeom prst="rect">
            <a:avLst/>
          </a:prstGeom>
          <a:noFill/>
          <a:ln/>
        </p:spPr>
        <p:txBody>
          <a:bodyPr wrap="square" lIns="0" tIns="0" rIns="0" bIns="0" rtlCol="0" anchor="t"/>
          <a:lstStyle/>
          <a:p>
            <a:pPr marL="0" indent="0" algn="ctr">
              <a:buNone/>
            </a:pPr>
            <a:r>
              <a:rPr lang="en-US" sz="1500" b="1" dirty="0">
                <a:solidFill>
                  <a:schemeClr val="tx1"/>
                </a:solidFill>
              </a:rPr>
              <a:t>Diagnose</a:t>
            </a:r>
            <a:endParaRPr lang="en-US" sz="1500" dirty="0"/>
          </a:p>
        </p:txBody>
      </p:sp>
      <p:sp>
        <p:nvSpPr>
          <p:cNvPr id="15" name="Text 12"/>
          <p:cNvSpPr txBox="1"/>
          <p:nvPr/>
        </p:nvSpPr>
        <p:spPr>
          <a:xfrm>
            <a:off x="2103120" y="4041648"/>
            <a:ext cx="1371600" cy="822960"/>
          </a:xfrm>
          <a:prstGeom prst="rect">
            <a:avLst/>
          </a:prstGeom>
          <a:noFill/>
          <a:ln/>
        </p:spPr>
        <p:txBody>
          <a:bodyPr wrap="square" lIns="0" tIns="0" rIns="0" bIns="0" rtlCol="0" anchor="t"/>
          <a:lstStyle/>
          <a:p>
            <a:pPr marL="0" indent="0" algn="ctr">
              <a:buNone/>
            </a:pPr>
            <a:r>
              <a:rPr lang="en-US" sz="1100" dirty="0">
                <a:solidFill>
                  <a:schemeClr val="tx2"/>
                </a:solidFill>
              </a:rPr>
              <a:t>current state, root causes, AI qualification</a:t>
            </a:r>
            <a:endParaRPr lang="en-US" sz="1100" dirty="0"/>
          </a:p>
        </p:txBody>
      </p:sp>
      <p:sp>
        <p:nvSpPr>
          <p:cNvPr id="16" name="Shape 13"/>
          <p:cNvSpPr/>
          <p:nvPr/>
        </p:nvSpPr>
        <p:spPr>
          <a:xfrm>
            <a:off x="4160520" y="3108960"/>
            <a:ext cx="457200" cy="457200"/>
          </a:xfrm>
          <a:prstGeom prst="ellipse">
            <a:avLst/>
          </a:prstGeom>
          <a:solidFill>
            <a:srgbClr val="4D4D4D"/>
          </a:solidFill>
          <a:ln w="25400">
            <a:solidFill>
              <a:srgbClr val="FFFFFF"/>
            </a:solidFill>
            <a:prstDash val="solid"/>
          </a:ln>
        </p:spPr>
      </p:sp>
      <p:sp>
        <p:nvSpPr>
          <p:cNvPr id="17" name="Text 14"/>
          <p:cNvSpPr txBox="1"/>
          <p:nvPr/>
        </p:nvSpPr>
        <p:spPr>
          <a:xfrm>
            <a:off x="4160520" y="31089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8" name="Text 15"/>
          <p:cNvSpPr txBox="1"/>
          <p:nvPr/>
        </p:nvSpPr>
        <p:spPr>
          <a:xfrm>
            <a:off x="3657600" y="2514600"/>
            <a:ext cx="1463040" cy="274320"/>
          </a:xfrm>
          <a:prstGeom prst="rect">
            <a:avLst/>
          </a:prstGeom>
          <a:noFill/>
          <a:ln/>
        </p:spPr>
        <p:txBody>
          <a:bodyPr wrap="square" lIns="0" tIns="0" rIns="0" bIns="0" rtlCol="0" anchor="t"/>
          <a:lstStyle/>
          <a:p>
            <a:pPr marL="0" indent="0" algn="ctr">
              <a:buNone/>
            </a:pPr>
            <a:r>
              <a:rPr lang="en-US" sz="1100" dirty="0">
                <a:solidFill>
                  <a:schemeClr val="accent3"/>
                </a:solidFill>
              </a:rPr>
              <a:t>Stages 9-14</a:t>
            </a:r>
            <a:endParaRPr lang="en-US" sz="1100" dirty="0"/>
          </a:p>
        </p:txBody>
      </p:sp>
      <p:sp>
        <p:nvSpPr>
          <p:cNvPr id="19" name="Text 16"/>
          <p:cNvSpPr txBox="1"/>
          <p:nvPr/>
        </p:nvSpPr>
        <p:spPr>
          <a:xfrm>
            <a:off x="3657600" y="3703320"/>
            <a:ext cx="1463040" cy="320040"/>
          </a:xfrm>
          <a:prstGeom prst="rect">
            <a:avLst/>
          </a:prstGeom>
          <a:noFill/>
          <a:ln/>
        </p:spPr>
        <p:txBody>
          <a:bodyPr wrap="square" lIns="0" tIns="0" rIns="0" bIns="0" rtlCol="0" anchor="t"/>
          <a:lstStyle/>
          <a:p>
            <a:pPr marL="0" indent="0" algn="ctr">
              <a:buNone/>
            </a:pPr>
            <a:r>
              <a:rPr lang="en-US" sz="1500" b="1" dirty="0">
                <a:solidFill>
                  <a:schemeClr val="tx1"/>
                </a:solidFill>
              </a:rPr>
              <a:t>Specify</a:t>
            </a:r>
            <a:endParaRPr lang="en-US" sz="1500" dirty="0"/>
          </a:p>
        </p:txBody>
      </p:sp>
      <p:sp>
        <p:nvSpPr>
          <p:cNvPr id="20" name="Text 17"/>
          <p:cNvSpPr txBox="1"/>
          <p:nvPr/>
        </p:nvSpPr>
        <p:spPr>
          <a:xfrm>
            <a:off x="3703320" y="4041648"/>
            <a:ext cx="1371600" cy="822960"/>
          </a:xfrm>
          <a:prstGeom prst="rect">
            <a:avLst/>
          </a:prstGeom>
          <a:noFill/>
          <a:ln/>
        </p:spPr>
        <p:txBody>
          <a:bodyPr wrap="square" lIns="0" tIns="0" rIns="0" bIns="0" rtlCol="0" anchor="t"/>
          <a:lstStyle/>
          <a:p>
            <a:pPr marL="0" indent="0" algn="ctr">
              <a:buNone/>
            </a:pPr>
            <a:r>
              <a:rPr lang="en-US" sz="1100" dirty="0">
                <a:solidFill>
                  <a:schemeClr val="tx2"/>
                </a:solidFill>
              </a:rPr>
              <a:t>PRD, architecture, data, specs, traceability</a:t>
            </a:r>
            <a:endParaRPr lang="en-US" sz="1100" dirty="0"/>
          </a:p>
        </p:txBody>
      </p:sp>
      <p:sp>
        <p:nvSpPr>
          <p:cNvPr id="21" name="Shape 18"/>
          <p:cNvSpPr/>
          <p:nvPr/>
        </p:nvSpPr>
        <p:spPr>
          <a:xfrm>
            <a:off x="5760720" y="3108960"/>
            <a:ext cx="457200" cy="457200"/>
          </a:xfrm>
          <a:prstGeom prst="ellipse">
            <a:avLst/>
          </a:prstGeom>
          <a:solidFill>
            <a:srgbClr val="E1251B"/>
          </a:solidFill>
          <a:ln w="25400">
            <a:solidFill>
              <a:srgbClr val="FFFFFF"/>
            </a:solidFill>
            <a:prstDash val="solid"/>
          </a:ln>
        </p:spPr>
      </p:sp>
      <p:sp>
        <p:nvSpPr>
          <p:cNvPr id="22" name="Text 19"/>
          <p:cNvSpPr txBox="1"/>
          <p:nvPr/>
        </p:nvSpPr>
        <p:spPr>
          <a:xfrm>
            <a:off x="5760720" y="31089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3" name="Text 20"/>
          <p:cNvSpPr txBox="1"/>
          <p:nvPr/>
        </p:nvSpPr>
        <p:spPr>
          <a:xfrm>
            <a:off x="5257800" y="2514600"/>
            <a:ext cx="1463040" cy="274320"/>
          </a:xfrm>
          <a:prstGeom prst="rect">
            <a:avLst/>
          </a:prstGeom>
          <a:noFill/>
          <a:ln/>
        </p:spPr>
        <p:txBody>
          <a:bodyPr wrap="square" lIns="0" tIns="0" rIns="0" bIns="0" rtlCol="0" anchor="t"/>
          <a:lstStyle/>
          <a:p>
            <a:pPr marL="0" indent="0" algn="ctr">
              <a:buNone/>
            </a:pPr>
            <a:r>
              <a:rPr lang="en-US" sz="1100" dirty="0">
                <a:solidFill>
                  <a:schemeClr val="accent3"/>
                </a:solidFill>
              </a:rPr>
              <a:t>Stages 15-22</a:t>
            </a:r>
            <a:endParaRPr lang="en-US" sz="1100" dirty="0"/>
          </a:p>
        </p:txBody>
      </p:sp>
      <p:sp>
        <p:nvSpPr>
          <p:cNvPr id="24" name="Text 21"/>
          <p:cNvSpPr txBox="1"/>
          <p:nvPr/>
        </p:nvSpPr>
        <p:spPr>
          <a:xfrm>
            <a:off x="5257800" y="3703320"/>
            <a:ext cx="1463040" cy="320040"/>
          </a:xfrm>
          <a:prstGeom prst="rect">
            <a:avLst/>
          </a:prstGeom>
          <a:noFill/>
          <a:ln/>
        </p:spPr>
        <p:txBody>
          <a:bodyPr wrap="square" lIns="0" tIns="0" rIns="0" bIns="0" rtlCol="0" anchor="t"/>
          <a:lstStyle/>
          <a:p>
            <a:pPr marL="0" indent="0" algn="ctr">
              <a:buNone/>
            </a:pPr>
            <a:r>
              <a:rPr lang="en-US" sz="1500" b="1" dirty="0">
                <a:solidFill>
                  <a:schemeClr val="tx1"/>
                </a:solidFill>
              </a:rPr>
              <a:t>Build</a:t>
            </a:r>
            <a:endParaRPr lang="en-US" sz="1500" dirty="0"/>
          </a:p>
        </p:txBody>
      </p:sp>
      <p:sp>
        <p:nvSpPr>
          <p:cNvPr id="25" name="Text 22"/>
          <p:cNvSpPr txBox="1"/>
          <p:nvPr/>
        </p:nvSpPr>
        <p:spPr>
          <a:xfrm>
            <a:off x="5303520" y="4041648"/>
            <a:ext cx="1371600" cy="822960"/>
          </a:xfrm>
          <a:prstGeom prst="rect">
            <a:avLst/>
          </a:prstGeom>
          <a:noFill/>
          <a:ln/>
        </p:spPr>
        <p:txBody>
          <a:bodyPr wrap="square" lIns="0" tIns="0" rIns="0" bIns="0" rtlCol="0" anchor="t"/>
          <a:lstStyle/>
          <a:p>
            <a:pPr marL="0" indent="0" algn="ctr">
              <a:buNone/>
            </a:pPr>
            <a:r>
              <a:rPr lang="en-US" sz="1100" dirty="0">
                <a:solidFill>
                  <a:schemeClr val="tx2"/>
                </a:solidFill>
              </a:rPr>
              <a:t>modernise, validate, deliver, integrate</a:t>
            </a:r>
            <a:endParaRPr lang="en-US" sz="1100" dirty="0"/>
          </a:p>
        </p:txBody>
      </p:sp>
      <p:sp>
        <p:nvSpPr>
          <p:cNvPr id="26" name="Shape 23"/>
          <p:cNvSpPr/>
          <p:nvPr/>
        </p:nvSpPr>
        <p:spPr>
          <a:xfrm>
            <a:off x="7360920" y="3108960"/>
            <a:ext cx="457200" cy="457200"/>
          </a:xfrm>
          <a:prstGeom prst="ellipse">
            <a:avLst/>
          </a:prstGeom>
          <a:solidFill>
            <a:srgbClr val="E1251B"/>
          </a:solidFill>
          <a:ln w="25400">
            <a:solidFill>
              <a:srgbClr val="FFFFFF"/>
            </a:solidFill>
            <a:prstDash val="solid"/>
          </a:ln>
        </p:spPr>
      </p:sp>
      <p:sp>
        <p:nvSpPr>
          <p:cNvPr id="27" name="Text 24"/>
          <p:cNvSpPr txBox="1"/>
          <p:nvPr/>
        </p:nvSpPr>
        <p:spPr>
          <a:xfrm>
            <a:off x="7360920" y="31089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8" name="Text 25"/>
          <p:cNvSpPr txBox="1"/>
          <p:nvPr/>
        </p:nvSpPr>
        <p:spPr>
          <a:xfrm>
            <a:off x="6858000" y="2514600"/>
            <a:ext cx="1463040" cy="274320"/>
          </a:xfrm>
          <a:prstGeom prst="rect">
            <a:avLst/>
          </a:prstGeom>
          <a:noFill/>
          <a:ln/>
        </p:spPr>
        <p:txBody>
          <a:bodyPr wrap="square" lIns="0" tIns="0" rIns="0" bIns="0" rtlCol="0" anchor="t"/>
          <a:lstStyle/>
          <a:p>
            <a:pPr marL="0" indent="0" algn="ctr">
              <a:buNone/>
            </a:pPr>
            <a:r>
              <a:rPr lang="en-US" sz="1100" dirty="0">
                <a:solidFill>
                  <a:schemeClr val="accent3"/>
                </a:solidFill>
              </a:rPr>
              <a:t>Stages 23-29</a:t>
            </a:r>
            <a:endParaRPr lang="en-US" sz="1100" dirty="0"/>
          </a:p>
        </p:txBody>
      </p:sp>
      <p:sp>
        <p:nvSpPr>
          <p:cNvPr id="29" name="Text 26"/>
          <p:cNvSpPr txBox="1"/>
          <p:nvPr/>
        </p:nvSpPr>
        <p:spPr>
          <a:xfrm>
            <a:off x="6858000" y="3703320"/>
            <a:ext cx="1463040" cy="320040"/>
          </a:xfrm>
          <a:prstGeom prst="rect">
            <a:avLst/>
          </a:prstGeom>
          <a:noFill/>
          <a:ln/>
        </p:spPr>
        <p:txBody>
          <a:bodyPr wrap="square" lIns="0" tIns="0" rIns="0" bIns="0" rtlCol="0" anchor="t"/>
          <a:lstStyle/>
          <a:p>
            <a:pPr marL="0" indent="0" algn="ctr">
              <a:buNone/>
            </a:pPr>
            <a:r>
              <a:rPr lang="en-US" sz="1500" b="1" dirty="0">
                <a:solidFill>
                  <a:schemeClr val="tx1"/>
                </a:solidFill>
              </a:rPr>
              <a:t>Harden</a:t>
            </a:r>
            <a:endParaRPr lang="en-US" sz="1500" dirty="0"/>
          </a:p>
        </p:txBody>
      </p:sp>
      <p:sp>
        <p:nvSpPr>
          <p:cNvPr id="30" name="Text 27"/>
          <p:cNvSpPr txBox="1"/>
          <p:nvPr/>
        </p:nvSpPr>
        <p:spPr>
          <a:xfrm>
            <a:off x="6903720" y="4041648"/>
            <a:ext cx="1371600" cy="822960"/>
          </a:xfrm>
          <a:prstGeom prst="rect">
            <a:avLst/>
          </a:prstGeom>
          <a:noFill/>
          <a:ln/>
        </p:spPr>
        <p:txBody>
          <a:bodyPr wrap="square" lIns="0" tIns="0" rIns="0" bIns="0" rtlCol="0" anchor="t"/>
          <a:lstStyle/>
          <a:p>
            <a:pPr marL="0" indent="0" algn="ctr">
              <a:buNone/>
            </a:pPr>
            <a:r>
              <a:rPr lang="en-US" sz="1100" dirty="0">
                <a:solidFill>
                  <a:schemeClr val="tx2"/>
                </a:solidFill>
              </a:rPr>
              <a:t>human control, security, TEVV, resilience</a:t>
            </a:r>
            <a:endParaRPr lang="en-US" sz="1100" dirty="0"/>
          </a:p>
        </p:txBody>
      </p:sp>
      <p:sp>
        <p:nvSpPr>
          <p:cNvPr id="31" name="Shape 28"/>
          <p:cNvSpPr/>
          <p:nvPr/>
        </p:nvSpPr>
        <p:spPr>
          <a:xfrm>
            <a:off x="8961120" y="3108960"/>
            <a:ext cx="457200" cy="457200"/>
          </a:xfrm>
          <a:prstGeom prst="ellipse">
            <a:avLst/>
          </a:prstGeom>
          <a:solidFill>
            <a:srgbClr val="4D4D4D"/>
          </a:solidFill>
          <a:ln w="25400">
            <a:solidFill>
              <a:srgbClr val="FFFFFF"/>
            </a:solidFill>
            <a:prstDash val="solid"/>
          </a:ln>
        </p:spPr>
      </p:sp>
      <p:sp>
        <p:nvSpPr>
          <p:cNvPr id="32" name="Text 29"/>
          <p:cNvSpPr txBox="1"/>
          <p:nvPr/>
        </p:nvSpPr>
        <p:spPr>
          <a:xfrm>
            <a:off x="8961120" y="31089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33" name="Text 30"/>
          <p:cNvSpPr txBox="1"/>
          <p:nvPr/>
        </p:nvSpPr>
        <p:spPr>
          <a:xfrm>
            <a:off x="8458200" y="2514600"/>
            <a:ext cx="1463040" cy="274320"/>
          </a:xfrm>
          <a:prstGeom prst="rect">
            <a:avLst/>
          </a:prstGeom>
          <a:noFill/>
          <a:ln/>
        </p:spPr>
        <p:txBody>
          <a:bodyPr wrap="square" lIns="0" tIns="0" rIns="0" bIns="0" rtlCol="0" anchor="t"/>
          <a:lstStyle/>
          <a:p>
            <a:pPr marL="0" indent="0" algn="ctr">
              <a:buNone/>
            </a:pPr>
            <a:r>
              <a:rPr lang="en-US" sz="1100" dirty="0">
                <a:solidFill>
                  <a:schemeClr val="accent3"/>
                </a:solidFill>
              </a:rPr>
              <a:t>Stages 30-37</a:t>
            </a:r>
            <a:endParaRPr lang="en-US" sz="1100" dirty="0"/>
          </a:p>
        </p:txBody>
      </p:sp>
      <p:sp>
        <p:nvSpPr>
          <p:cNvPr id="34" name="Text 31"/>
          <p:cNvSpPr txBox="1"/>
          <p:nvPr/>
        </p:nvSpPr>
        <p:spPr>
          <a:xfrm>
            <a:off x="8458200" y="3703320"/>
            <a:ext cx="1463040" cy="320040"/>
          </a:xfrm>
          <a:prstGeom prst="rect">
            <a:avLst/>
          </a:prstGeom>
          <a:noFill/>
          <a:ln/>
        </p:spPr>
        <p:txBody>
          <a:bodyPr wrap="square" lIns="0" tIns="0" rIns="0" bIns="0" rtlCol="0" anchor="t"/>
          <a:lstStyle/>
          <a:p>
            <a:pPr marL="0" indent="0" algn="ctr">
              <a:buNone/>
            </a:pPr>
            <a:r>
              <a:rPr lang="en-US" sz="1500" b="1" dirty="0">
                <a:solidFill>
                  <a:schemeClr val="tx1"/>
                </a:solidFill>
              </a:rPr>
              <a:t>Release</a:t>
            </a:r>
            <a:endParaRPr lang="en-US" sz="1500" dirty="0"/>
          </a:p>
        </p:txBody>
      </p:sp>
      <p:sp>
        <p:nvSpPr>
          <p:cNvPr id="35" name="Text 32"/>
          <p:cNvSpPr txBox="1"/>
          <p:nvPr/>
        </p:nvSpPr>
        <p:spPr>
          <a:xfrm>
            <a:off x="8503920" y="4041648"/>
            <a:ext cx="1371600" cy="822960"/>
          </a:xfrm>
          <a:prstGeom prst="rect">
            <a:avLst/>
          </a:prstGeom>
          <a:noFill/>
          <a:ln/>
        </p:spPr>
        <p:txBody>
          <a:bodyPr wrap="square" lIns="0" tIns="0" rIns="0" bIns="0" rtlCol="0" anchor="t"/>
          <a:lstStyle/>
          <a:p>
            <a:pPr marL="0" indent="0" algn="ctr">
              <a:buNone/>
            </a:pPr>
            <a:r>
              <a:rPr lang="en-US" sz="1100" dirty="0">
                <a:solidFill>
                  <a:schemeClr val="tx2"/>
                </a:solidFill>
              </a:rPr>
              <a:t>release, observability, FinOps, measure</a:t>
            </a:r>
            <a:endParaRPr lang="en-US" sz="1100" dirty="0"/>
          </a:p>
        </p:txBody>
      </p:sp>
      <p:sp>
        <p:nvSpPr>
          <p:cNvPr id="36" name="Shape 33"/>
          <p:cNvSpPr/>
          <p:nvPr/>
        </p:nvSpPr>
        <p:spPr>
          <a:xfrm>
            <a:off x="10561320" y="3108960"/>
            <a:ext cx="457200" cy="457200"/>
          </a:xfrm>
          <a:prstGeom prst="ellipse">
            <a:avLst/>
          </a:prstGeom>
          <a:solidFill>
            <a:srgbClr val="E1251B"/>
          </a:solidFill>
          <a:ln w="25400">
            <a:solidFill>
              <a:srgbClr val="FFFFFF"/>
            </a:solidFill>
            <a:prstDash val="solid"/>
          </a:ln>
        </p:spPr>
      </p:sp>
      <p:sp>
        <p:nvSpPr>
          <p:cNvPr id="37" name="Text 34"/>
          <p:cNvSpPr txBox="1"/>
          <p:nvPr/>
        </p:nvSpPr>
        <p:spPr>
          <a:xfrm>
            <a:off x="10561320" y="31089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7</a:t>
            </a:r>
            <a:endParaRPr lang="en-US" sz="1400" dirty="0"/>
          </a:p>
        </p:txBody>
      </p:sp>
      <p:sp>
        <p:nvSpPr>
          <p:cNvPr id="38" name="Text 35"/>
          <p:cNvSpPr txBox="1"/>
          <p:nvPr/>
        </p:nvSpPr>
        <p:spPr>
          <a:xfrm>
            <a:off x="10058400" y="2514600"/>
            <a:ext cx="1463040" cy="274320"/>
          </a:xfrm>
          <a:prstGeom prst="rect">
            <a:avLst/>
          </a:prstGeom>
          <a:noFill/>
          <a:ln/>
        </p:spPr>
        <p:txBody>
          <a:bodyPr wrap="square" lIns="0" tIns="0" rIns="0" bIns="0" rtlCol="0" anchor="t"/>
          <a:lstStyle/>
          <a:p>
            <a:pPr marL="0" indent="0" algn="ctr">
              <a:buNone/>
            </a:pPr>
            <a:r>
              <a:rPr lang="en-US" sz="1100" dirty="0">
                <a:solidFill>
                  <a:schemeClr val="accent3"/>
                </a:solidFill>
              </a:rPr>
              <a:t>Stages 38-43</a:t>
            </a:r>
            <a:endParaRPr lang="en-US" sz="1100" dirty="0"/>
          </a:p>
        </p:txBody>
      </p:sp>
      <p:sp>
        <p:nvSpPr>
          <p:cNvPr id="39" name="Text 36"/>
          <p:cNvSpPr txBox="1"/>
          <p:nvPr/>
        </p:nvSpPr>
        <p:spPr>
          <a:xfrm>
            <a:off x="10058400" y="3703320"/>
            <a:ext cx="1463040" cy="320040"/>
          </a:xfrm>
          <a:prstGeom prst="rect">
            <a:avLst/>
          </a:prstGeom>
          <a:noFill/>
          <a:ln/>
        </p:spPr>
        <p:txBody>
          <a:bodyPr wrap="square" lIns="0" tIns="0" rIns="0" bIns="0" rtlCol="0" anchor="t"/>
          <a:lstStyle/>
          <a:p>
            <a:pPr marL="0" indent="0" algn="ctr">
              <a:buNone/>
            </a:pPr>
            <a:r>
              <a:rPr lang="en-US" sz="1500" b="1" dirty="0">
                <a:solidFill>
                  <a:schemeClr val="tx1"/>
                </a:solidFill>
              </a:rPr>
              <a:t>Sustain</a:t>
            </a:r>
            <a:endParaRPr lang="en-US" sz="1500" dirty="0"/>
          </a:p>
        </p:txBody>
      </p:sp>
      <p:sp>
        <p:nvSpPr>
          <p:cNvPr id="40" name="Text 37"/>
          <p:cNvSpPr txBox="1"/>
          <p:nvPr/>
        </p:nvSpPr>
        <p:spPr>
          <a:xfrm>
            <a:off x="10104120" y="4041648"/>
            <a:ext cx="1371600" cy="822960"/>
          </a:xfrm>
          <a:prstGeom prst="rect">
            <a:avLst/>
          </a:prstGeom>
          <a:noFill/>
          <a:ln/>
        </p:spPr>
        <p:txBody>
          <a:bodyPr wrap="square" lIns="0" tIns="0" rIns="0" bIns="0" rtlCol="0" anchor="t"/>
          <a:lstStyle/>
          <a:p>
            <a:pPr marL="0" indent="0" algn="ctr">
              <a:buNone/>
            </a:pPr>
            <a:r>
              <a:rPr lang="en-US" sz="1100" dirty="0">
                <a:solidFill>
                  <a:schemeClr val="tx2"/>
                </a:solidFill>
              </a:rPr>
              <a:t>handover, drift, scale, defence, as-built PRD</a:t>
            </a:r>
            <a:endParaRPr lang="en-US" sz="1100" dirty="0"/>
          </a:p>
        </p:txBody>
      </p:sp>
      <p:sp>
        <p:nvSpPr>
          <p:cNvPr id="41" name="card"/>
          <p:cNvSpPr/>
          <p:nvPr/>
        </p:nvSpPr>
        <p:spPr>
          <a:xfrm>
            <a:off x="457200" y="5074920"/>
            <a:ext cx="3611880" cy="960120"/>
          </a:xfrm>
          <a:prstGeom prst="roundRect">
            <a:avLst>
              <a:gd name="adj" fmla="val 7619"/>
            </a:avLst>
          </a:prstGeom>
          <a:solidFill>
            <a:schemeClr val="bg1"/>
          </a:solidFill>
          <a:ln w="9525">
            <a:solidFill>
              <a:srgbClr val="E6E6E6"/>
            </a:solidFill>
            <a:prstDash val="solid"/>
          </a:ln>
        </p:spPr>
      </p:sp>
      <p:sp>
        <p:nvSpPr>
          <p:cNvPr id="42" name="card"/>
          <p:cNvSpPr/>
          <p:nvPr/>
        </p:nvSpPr>
        <p:spPr>
          <a:xfrm>
            <a:off x="4288536" y="5074920"/>
            <a:ext cx="3611880" cy="960120"/>
          </a:xfrm>
          <a:prstGeom prst="roundRect">
            <a:avLst>
              <a:gd name="adj" fmla="val 7619"/>
            </a:avLst>
          </a:prstGeom>
          <a:solidFill>
            <a:schemeClr val="bg1"/>
          </a:solidFill>
          <a:ln w="9525">
            <a:solidFill>
              <a:srgbClr val="E6E6E6"/>
            </a:solidFill>
            <a:prstDash val="solid"/>
          </a:ln>
        </p:spPr>
      </p:sp>
      <p:sp>
        <p:nvSpPr>
          <p:cNvPr id="43" name="card"/>
          <p:cNvSpPr/>
          <p:nvPr/>
        </p:nvSpPr>
        <p:spPr>
          <a:xfrm>
            <a:off x="8119872" y="5074920"/>
            <a:ext cx="3611880" cy="960120"/>
          </a:xfrm>
          <a:prstGeom prst="roundRect">
            <a:avLst>
              <a:gd name="adj" fmla="val 7619"/>
            </a:avLst>
          </a:prstGeom>
          <a:solidFill>
            <a:schemeClr val="bg1"/>
          </a:solidFill>
          <a:ln w="9525">
            <a:solidFill>
              <a:srgbClr val="E6E6E6"/>
            </a:solidFill>
            <a:prstDash val="solid"/>
          </a:ln>
        </p:spPr>
      </p:sp>
      <p:sp>
        <p:nvSpPr>
          <p:cNvPr id="44" name="Text 41"/>
          <p:cNvSpPr txBox="1"/>
          <p:nvPr/>
        </p:nvSpPr>
        <p:spPr>
          <a:xfrm>
            <a:off x="640080" y="5212080"/>
            <a:ext cx="3291840" cy="731520"/>
          </a:xfrm>
          <a:prstGeom prst="rect">
            <a:avLst/>
          </a:prstGeom>
          <a:noFill/>
          <a:ln/>
        </p:spPr>
        <p:txBody>
          <a:bodyPr wrap="square" lIns="0" tIns="0" rIns="0" bIns="0" rtlCol="0" anchor="t"/>
          <a:lstStyle/>
          <a:p>
            <a:pPr marL="0" indent="0">
              <a:buNone/>
            </a:pPr>
            <a:r>
              <a:rPr lang="en-US" sz="1200" b="1" dirty="0">
                <a:solidFill>
                  <a:schemeClr val="tx1"/>
                </a:solidFill>
              </a:rPr>
              <a:t>46 stage prompts executed</a:t>
            </a:r>
            <a:endParaRPr lang="en-US" sz="1200" dirty="0"/>
          </a:p>
          <a:p>
            <a:pPr marL="0" indent="0">
              <a:buNone/>
            </a:pPr>
            <a:r>
              <a:rPr lang="en-US" sz="1200" dirty="0">
                <a:solidFill>
                  <a:schemeClr val="tx2"/>
                </a:solidFill>
              </a:rPr>
              <a:t>0A to 43, with pre-flight stages added</a:t>
            </a:r>
            <a:endParaRPr lang="en-US" sz="1200" dirty="0"/>
          </a:p>
        </p:txBody>
      </p:sp>
      <p:sp>
        <p:nvSpPr>
          <p:cNvPr id="45" name="Text 42"/>
          <p:cNvSpPr txBox="1"/>
          <p:nvPr/>
        </p:nvSpPr>
        <p:spPr>
          <a:xfrm>
            <a:off x="4471416" y="5212080"/>
            <a:ext cx="3291840" cy="731520"/>
          </a:xfrm>
          <a:prstGeom prst="rect">
            <a:avLst/>
          </a:prstGeom>
          <a:noFill/>
          <a:ln/>
        </p:spPr>
        <p:txBody>
          <a:bodyPr wrap="square" lIns="0" tIns="0" rIns="0" bIns="0" rtlCol="0" anchor="t"/>
          <a:lstStyle/>
          <a:p>
            <a:pPr marL="0" indent="0">
              <a:buNone/>
            </a:pPr>
            <a:r>
              <a:rPr lang="en-US" sz="1200" b="1" dirty="0">
                <a:solidFill>
                  <a:schemeClr val="tx1"/>
                </a:solidFill>
              </a:rPr>
              <a:t>2 not applicable, by decision</a:t>
            </a:r>
            <a:endParaRPr lang="en-US" sz="1200" dirty="0"/>
          </a:p>
          <a:p>
            <a:pPr marL="0" indent="0">
              <a:buNone/>
            </a:pPr>
            <a:r>
              <a:rPr lang="en-US" sz="1200" dirty="0">
                <a:solidFill>
                  <a:schemeClr val="tx2"/>
                </a:solidFill>
              </a:rPr>
              <a:t>19 Intelligence and 22 Agentic (No-AI core)</a:t>
            </a:r>
            <a:endParaRPr lang="en-US" sz="1200" dirty="0"/>
          </a:p>
        </p:txBody>
      </p:sp>
      <p:sp>
        <p:nvSpPr>
          <p:cNvPr id="46" name="Text 43"/>
          <p:cNvSpPr txBox="1"/>
          <p:nvPr/>
        </p:nvSpPr>
        <p:spPr>
          <a:xfrm>
            <a:off x="8302752" y="5212080"/>
            <a:ext cx="3291840" cy="731520"/>
          </a:xfrm>
          <a:prstGeom prst="rect">
            <a:avLst/>
          </a:prstGeom>
          <a:noFill/>
          <a:ln/>
        </p:spPr>
        <p:txBody>
          <a:bodyPr wrap="square" lIns="0" tIns="0" rIns="0" bIns="0" rtlCol="0" anchor="t"/>
          <a:lstStyle/>
          <a:p>
            <a:pPr marL="0" indent="0">
              <a:buNone/>
            </a:pPr>
            <a:r>
              <a:rPr lang="en-US" sz="1200" b="1" dirty="0">
                <a:solidFill>
                  <a:schemeClr val="accent1"/>
                </a:solidFill>
              </a:rPr>
              <a:t>4 blocked on humans</a:t>
            </a:r>
            <a:endParaRPr lang="en-US" sz="1200" dirty="0"/>
          </a:p>
          <a:p>
            <a:pPr marL="0" indent="0">
              <a:buNone/>
            </a:pPr>
            <a:r>
              <a:rPr lang="en-US" sz="1200" dirty="0">
                <a:solidFill>
                  <a:schemeClr val="tx2"/>
                </a:solidFill>
              </a:rPr>
              <a:t>30 release, 38 handover, 41 retirement, 43 final</a:t>
            </a:r>
            <a:endParaRPr lang="en-US" sz="12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2011680"/>
            <a:ext cx="3657600" cy="914400"/>
          </a:xfrm>
          <a:prstGeom prst="rect">
            <a:avLst/>
          </a:prstGeom>
          <a:noFill/>
          <a:ln/>
        </p:spPr>
        <p:txBody>
          <a:bodyPr wrap="square" lIns="0" tIns="0" rIns="0" bIns="0" rtlCol="0"/>
          <a:lstStyle/>
          <a:p>
            <a:pPr marL="0" indent="0" algn="l">
              <a:buNone/>
            </a:pPr>
            <a:r>
              <a:rPr lang="en-US" sz="6000" b="1" dirty="0">
                <a:solidFill>
                  <a:schemeClr val="accent1"/>
                </a:solidFill>
              </a:rPr>
              <a:t>03</a:t>
            </a:r>
            <a:endParaRPr lang="en-US" sz="6000" dirty="0"/>
          </a:p>
        </p:txBody>
      </p:sp>
      <p:sp>
        <p:nvSpPr>
          <p:cNvPr id="3" name="Text 0"/>
          <p:cNvSpPr>
            <a:spLocks noGrp="1"/>
          </p:cNvSpPr>
          <p:nvPr>
            <p:ph type="title" idx="102" hasCustomPrompt="1"/>
          </p:nvPr>
        </p:nvSpPr>
        <p:spPr>
          <a:xfrm>
            <a:off x="548640" y="2971800"/>
            <a:ext cx="10515600" cy="1463040"/>
          </a:xfrm>
          <a:prstGeom prst="rect">
            <a:avLst/>
          </a:prstGeom>
          <a:noFill/>
          <a:ln/>
        </p:spPr>
        <p:txBody>
          <a:bodyPr wrap="square" lIns="0" tIns="0" rIns="0" bIns="0" rtlCol="0" anchor="t"/>
          <a:lstStyle/>
          <a:p>
            <a:pPr marL="0" indent="0" algn="l">
              <a:buNone/>
            </a:pPr>
            <a:r>
              <a:rPr lang="en-US" sz="4000" b="1" dirty="0">
                <a:solidFill>
                  <a:schemeClr val="bg1"/>
                </a:solidFill>
              </a:rPr>
              <a:t>Show, don't tell</a:t>
            </a:r>
            <a:endParaRPr lang="en-US" sz="4000" dirty="0"/>
          </a:p>
        </p:txBody>
      </p:sp>
      <p:sp>
        <p:nvSpPr>
          <p:cNvPr id="4" name="Text 0"/>
          <p:cNvSpPr>
            <a:spLocks noGrp="1"/>
          </p:cNvSpPr>
          <p:nvPr>
            <p:ph type="body" idx="103" hasCustomPrompt="1"/>
          </p:nvPr>
        </p:nvSpPr>
        <p:spPr>
          <a:xfrm>
            <a:off x="548640" y="4572000"/>
            <a:ext cx="9601200" cy="914400"/>
          </a:xfrm>
          <a:prstGeom prst="rect">
            <a:avLst/>
          </a:prstGeom>
          <a:noFill/>
          <a:ln/>
        </p:spPr>
        <p:txBody>
          <a:bodyPr wrap="square" lIns="0" tIns="0" rIns="0" bIns="0" rtlCol="0" anchor="t"/>
          <a:lstStyle/>
          <a:p>
            <a:pPr marL="0" indent="0" algn="l">
              <a:buNone/>
            </a:pPr>
            <a:r>
              <a:rPr lang="en-US" sz="1600" dirty="0">
                <a:solidFill>
                  <a:schemeClr val="accent6"/>
                </a:solidFill>
              </a:rPr>
              <a:t>Live demonstration of the GxP Quality Command Centre on Python 3.14  ·  every number recomputed by the built hub code</a:t>
            </a:r>
            <a:endParaRPr lang="en-US" sz="16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Evidence  ·  Running system</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THE COMMAND CENTRE:</a:t>
            </a:r>
            <a:endParaRPr lang="en-US" sz="3000" dirty="0"/>
          </a:p>
          <a:p>
            <a:pPr marL="0" indent="0" algn="l">
              <a:lnSpc>
                <a:spcPct val="95000"/>
              </a:lnSpc>
              <a:buNone/>
            </a:pPr>
            <a:r>
              <a:rPr lang="en-US" sz="3000" b="1" dirty="0">
                <a:solidFill>
                  <a:schemeClr val="accent1"/>
                </a:solidFill>
              </a:rPr>
              <a:t>ONE VIEW, EVERY DEFINITION VISIBLE</a:t>
            </a:r>
            <a:endParaRPr lang="en-US" sz="3000" dirty="0"/>
          </a:p>
        </p:txBody>
      </p:sp>
      <p:sp>
        <p:nvSpPr>
          <p:cNvPr id="5" name="screenshot-frame"/>
          <p:cNvSpPr/>
          <p:nvPr/>
        </p:nvSpPr>
        <p:spPr>
          <a:xfrm>
            <a:off x="438912" y="2130552"/>
            <a:ext cx="6803136" cy="4077716"/>
          </a:xfrm>
          <a:prstGeom prst="rect">
            <a:avLst/>
          </a:prstGeom>
          <a:solidFill>
            <a:srgbClr val="FFFFFF"/>
          </a:solidFill>
          <a:ln w="9525">
            <a:solidFill>
              <a:srgbClr val="D9D9D9"/>
            </a:solidFill>
            <a:prstDash val="solid"/>
          </a:ln>
          <a:effectLst>
            <a:outerShdw blurRad="127000" dist="38100" dir="5400000" algn="bl" rotWithShape="0">
              <a:srgbClr val="000000">
                <a:alpha val="18000"/>
              </a:srgbClr>
            </a:outerShdw>
          </a:effectLst>
        </p:spPr>
      </p:sp>
      <p:pic>
        <p:nvPicPr>
          <p:cNvPr id="6" name="Image 0" descr="Command Centre executive overview"/>
          <p:cNvPicPr>
            <a:picLocks noChangeAspect="1"/>
          </p:cNvPicPr>
          <p:nvPr/>
        </p:nvPicPr>
        <p:blipFill>
          <a:blip r:embed="rId3"/>
          <a:stretch>
            <a:fillRect/>
          </a:stretch>
        </p:blipFill>
        <p:spPr>
          <a:xfrm>
            <a:off x="457200" y="2148840"/>
            <a:ext cx="6766560" cy="4041140"/>
          </a:xfrm>
          <a:prstGeom prst="rect">
            <a:avLst/>
          </a:prstGeom>
        </p:spPr>
      </p:pic>
      <p:sp>
        <p:nvSpPr>
          <p:cNvPr id="7" name="Text 3"/>
          <p:cNvSpPr txBox="1"/>
          <p:nvPr/>
        </p:nvSpPr>
        <p:spPr>
          <a:xfrm>
            <a:off x="7589520" y="2194560"/>
            <a:ext cx="4114800" cy="731520"/>
          </a:xfrm>
          <a:prstGeom prst="rect">
            <a:avLst/>
          </a:prstGeom>
          <a:noFill/>
          <a:ln/>
        </p:spPr>
        <p:txBody>
          <a:bodyPr wrap="square" lIns="0" tIns="0" rIns="0" bIns="0" rtlCol="0" anchor="t"/>
          <a:lstStyle/>
          <a:p>
            <a:pPr marL="0" indent="0">
              <a:buNone/>
            </a:pPr>
            <a:r>
              <a:rPr lang="en-US" sz="1300" b="1" dirty="0">
                <a:solidFill>
                  <a:schemeClr val="tx1"/>
                </a:solidFill>
              </a:rPr>
              <a:t>Runs locally</a:t>
            </a:r>
            <a:endParaRPr lang="en-US" sz="1300" dirty="0"/>
          </a:p>
          <a:p>
            <a:pPr marL="0" indent="0">
              <a:buNone/>
            </a:pPr>
            <a:r>
              <a:rPr lang="en-US" sz="1300" dirty="0">
                <a:solidFill>
                  <a:schemeClr val="tx2"/>
                </a:solidFill>
              </a:rPr>
              <a:t>Python 3.14, standard library, loopback only</a:t>
            </a:r>
            <a:endParaRPr lang="en-US" sz="1300" dirty="0"/>
          </a:p>
        </p:txBody>
      </p:sp>
      <p:sp>
        <p:nvSpPr>
          <p:cNvPr id="8" name="Text 4"/>
          <p:cNvSpPr txBox="1"/>
          <p:nvPr/>
        </p:nvSpPr>
        <p:spPr>
          <a:xfrm>
            <a:off x="7589520" y="2980944"/>
            <a:ext cx="4114800" cy="731520"/>
          </a:xfrm>
          <a:prstGeom prst="rect">
            <a:avLst/>
          </a:prstGeom>
          <a:noFill/>
          <a:ln/>
        </p:spPr>
        <p:txBody>
          <a:bodyPr wrap="square" lIns="0" tIns="0" rIns="0" bIns="0" rtlCol="0" anchor="t"/>
          <a:lstStyle/>
          <a:p>
            <a:pPr marL="0" indent="0">
              <a:buNone/>
            </a:pPr>
            <a:r>
              <a:rPr lang="en-US" sz="1300" b="1" dirty="0">
                <a:solidFill>
                  <a:schemeClr val="tx1"/>
                </a:solidFill>
              </a:rPr>
              <a:t>Built hub code</a:t>
            </a:r>
            <a:endParaRPr lang="en-US" sz="1300" dirty="0"/>
          </a:p>
          <a:p>
            <a:pPr marL="0" indent="0">
              <a:buNone/>
            </a:pPr>
            <a:r>
              <a:rPr lang="en-US" sz="1300" dirty="0">
                <a:solidFill>
                  <a:schemeClr val="tx2"/>
                </a:solidFill>
              </a:rPr>
              <a:t>intake, reasons, canon, metrics imported directly</a:t>
            </a:r>
            <a:endParaRPr lang="en-US" sz="1300" dirty="0"/>
          </a:p>
        </p:txBody>
      </p:sp>
      <p:sp>
        <p:nvSpPr>
          <p:cNvPr id="9" name="Text 5"/>
          <p:cNvSpPr txBox="1"/>
          <p:nvPr/>
        </p:nvSpPr>
        <p:spPr>
          <a:xfrm>
            <a:off x="7589520" y="3767328"/>
            <a:ext cx="4114800" cy="731520"/>
          </a:xfrm>
          <a:prstGeom prst="rect">
            <a:avLst/>
          </a:prstGeom>
          <a:noFill/>
          <a:ln/>
        </p:spPr>
        <p:txBody>
          <a:bodyPr wrap="square" lIns="0" tIns="0" rIns="0" bIns="0" rtlCol="0" anchor="t"/>
          <a:lstStyle/>
          <a:p>
            <a:pPr marL="0" indent="0">
              <a:buNone/>
            </a:pPr>
            <a:r>
              <a:rPr lang="en-US" sz="1300" b="1" dirty="0">
                <a:solidFill>
                  <a:schemeClr val="tx1"/>
                </a:solidFill>
              </a:rPr>
              <a:t>Nine views</a:t>
            </a:r>
            <a:endParaRPr lang="en-US" sz="1300" dirty="0"/>
          </a:p>
          <a:p>
            <a:pPr marL="0" indent="0">
              <a:buNone/>
            </a:pPr>
            <a:r>
              <a:rPr lang="en-US" sz="1300" dirty="0">
                <a:solidFill>
                  <a:schemeClr val="tx2"/>
                </a:solidFill>
              </a:rPr>
              <a:t>overview, cases, intake, month-end, definitions, Zone H, AI, release, system</a:t>
            </a:r>
            <a:endParaRPr lang="en-US" sz="1300" dirty="0"/>
          </a:p>
        </p:txBody>
      </p:sp>
      <p:sp>
        <p:nvSpPr>
          <p:cNvPr id="10" name="Text 6"/>
          <p:cNvSpPr txBox="1"/>
          <p:nvPr/>
        </p:nvSpPr>
        <p:spPr>
          <a:xfrm>
            <a:off x="7589520" y="4553712"/>
            <a:ext cx="4114800" cy="731520"/>
          </a:xfrm>
          <a:prstGeom prst="rect">
            <a:avLst/>
          </a:prstGeom>
          <a:noFill/>
          <a:ln/>
        </p:spPr>
        <p:txBody>
          <a:bodyPr wrap="square" lIns="0" tIns="0" rIns="0" bIns="0" rtlCol="0" anchor="t"/>
          <a:lstStyle/>
          <a:p>
            <a:pPr marL="0" indent="0">
              <a:buNone/>
            </a:pPr>
            <a:r>
              <a:rPr lang="en-US" sz="1300" b="1" dirty="0">
                <a:solidFill>
                  <a:schemeClr val="tx1"/>
                </a:solidFill>
              </a:rPr>
              <a:t>Six personas</a:t>
            </a:r>
            <a:endParaRPr lang="en-US" sz="1300" dirty="0"/>
          </a:p>
          <a:p>
            <a:pPr marL="0" indent="0">
              <a:buNone/>
            </a:pPr>
            <a:r>
              <a:rPr lang="en-US" sz="1300" dirty="0">
                <a:solidFill>
                  <a:schemeClr val="tx2"/>
                </a:solidFill>
              </a:rPr>
              <a:t>deny-by-default, hub role names</a:t>
            </a:r>
            <a:endParaRPr lang="en-US" sz="1300" dirty="0"/>
          </a:p>
        </p:txBody>
      </p:sp>
      <p:sp>
        <p:nvSpPr>
          <p:cNvPr id="11" name="Text 7"/>
          <p:cNvSpPr txBox="1"/>
          <p:nvPr/>
        </p:nvSpPr>
        <p:spPr>
          <a:xfrm>
            <a:off x="7589520" y="5340096"/>
            <a:ext cx="4114800" cy="731520"/>
          </a:xfrm>
          <a:prstGeom prst="rect">
            <a:avLst/>
          </a:prstGeom>
          <a:noFill/>
          <a:ln/>
        </p:spPr>
        <p:txBody>
          <a:bodyPr wrap="square" lIns="0" tIns="0" rIns="0" bIns="0" rtlCol="0" anchor="t"/>
          <a:lstStyle/>
          <a:p>
            <a:pPr marL="0" indent="0">
              <a:buNone/>
            </a:pPr>
            <a:r>
              <a:rPr lang="en-US" sz="1300" b="1" dirty="0">
                <a:solidFill>
                  <a:schemeClr val="tx1"/>
                </a:solidFill>
              </a:rPr>
              <a:t>Read-only</a:t>
            </a:r>
            <a:endParaRPr lang="en-US" sz="1300" dirty="0"/>
          </a:p>
          <a:p>
            <a:pPr marL="0" indent="0">
              <a:buNone/>
            </a:pPr>
            <a:r>
              <a:rPr lang="en-US" sz="1300" dirty="0">
                <a:solidFill>
                  <a:schemeClr val="tx2"/>
                </a:solidFill>
              </a:rPr>
              <a:t>checksum-verified snapshot; no repository writes</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Evidence  ·  RC-8 month-end</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ONE NUMBER,</a:t>
            </a:r>
            <a:endParaRPr lang="en-US" sz="3000" dirty="0"/>
          </a:p>
          <a:p>
            <a:pPr marL="0" indent="0" algn="l">
              <a:lnSpc>
                <a:spcPct val="95000"/>
              </a:lnSpc>
              <a:buNone/>
            </a:pPr>
            <a:r>
              <a:rPr lang="en-US" sz="3000" b="1" dirty="0">
                <a:solidFill>
                  <a:schemeClr val="accent1"/>
                </a:solidFill>
              </a:rPr>
              <a:t>ONE SOURCE</a:t>
            </a:r>
            <a:endParaRPr lang="en-US" sz="3000" dirty="0"/>
          </a:p>
        </p:txBody>
      </p:sp>
      <p:sp>
        <p:nvSpPr>
          <p:cNvPr id="5" name="screenshot-frame"/>
          <p:cNvSpPr/>
          <p:nvPr/>
        </p:nvSpPr>
        <p:spPr>
          <a:xfrm>
            <a:off x="438912" y="2130552"/>
            <a:ext cx="6803136" cy="4077716"/>
          </a:xfrm>
          <a:prstGeom prst="rect">
            <a:avLst/>
          </a:prstGeom>
          <a:solidFill>
            <a:srgbClr val="FFFFFF"/>
          </a:solidFill>
          <a:ln w="9525">
            <a:solidFill>
              <a:srgbClr val="D9D9D9"/>
            </a:solidFill>
            <a:prstDash val="solid"/>
          </a:ln>
          <a:effectLst>
            <a:outerShdw blurRad="127000" dist="38100" dir="5400000" algn="bl" rotWithShape="0">
              <a:srgbClr val="000000">
                <a:alpha val="18000"/>
              </a:srgbClr>
            </a:outerShdw>
          </a:effectLst>
        </p:spPr>
      </p:sp>
      <p:pic>
        <p:nvPicPr>
          <p:cNvPr id="6" name="Image 0" descr="Month-end comparison"/>
          <p:cNvPicPr>
            <a:picLocks noChangeAspect="1"/>
          </p:cNvPicPr>
          <p:nvPr/>
        </p:nvPicPr>
        <p:blipFill>
          <a:blip r:embed="rId3"/>
          <a:stretch>
            <a:fillRect/>
          </a:stretch>
        </p:blipFill>
        <p:spPr>
          <a:xfrm>
            <a:off x="457200" y="2148840"/>
            <a:ext cx="6766560" cy="4041140"/>
          </a:xfrm>
          <a:prstGeom prst="rect">
            <a:avLst/>
          </a:prstGeom>
        </p:spPr>
      </p:pic>
      <p:sp>
        <p:nvSpPr>
          <p:cNvPr id="7" name="card"/>
          <p:cNvSpPr/>
          <p:nvPr/>
        </p:nvSpPr>
        <p:spPr>
          <a:xfrm>
            <a:off x="7589520" y="2148840"/>
            <a:ext cx="4142232"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8" name="Text 4"/>
          <p:cNvSpPr txBox="1"/>
          <p:nvPr/>
        </p:nvSpPr>
        <p:spPr>
          <a:xfrm>
            <a:off x="7818120" y="2350008"/>
            <a:ext cx="3685032"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LEGACY REPORT</a:t>
            </a:r>
            <a:endParaRPr lang="en-US" sz="1100" dirty="0"/>
          </a:p>
        </p:txBody>
      </p:sp>
      <p:sp>
        <p:nvSpPr>
          <p:cNvPr id="9" name="Text 5"/>
          <p:cNvSpPr txBox="1"/>
          <p:nvPr/>
        </p:nvSpPr>
        <p:spPr>
          <a:xfrm>
            <a:off x="7818120" y="2624328"/>
            <a:ext cx="3685032" cy="685800"/>
          </a:xfrm>
          <a:prstGeom prst="rect">
            <a:avLst/>
          </a:prstGeom>
          <a:noFill/>
          <a:ln/>
        </p:spPr>
        <p:txBody>
          <a:bodyPr wrap="square" lIns="0" tIns="0" rIns="0" bIns="0" rtlCol="0" anchor="t">
            <a:normAutofit/>
          </a:bodyPr>
          <a:lstStyle/>
          <a:p>
            <a:pPr marL="0" indent="0">
              <a:buNone/>
            </a:pPr>
            <a:r>
              <a:rPr lang="en-US" sz="4000" b="1" dirty="0">
                <a:solidFill>
                  <a:schemeClr val="tx1"/>
                </a:solidFill>
              </a:rPr>
              <a:t>742,956.61</a:t>
            </a:r>
            <a:endParaRPr lang="en-US" sz="4000" dirty="0"/>
          </a:p>
        </p:txBody>
      </p:sp>
      <p:sp>
        <p:nvSpPr>
          <p:cNvPr id="10" name="Text 6"/>
          <p:cNvSpPr txBox="1"/>
          <p:nvPr/>
        </p:nvSpPr>
        <p:spPr>
          <a:xfrm>
            <a:off x="7818120" y="3319272"/>
            <a:ext cx="3685032" cy="457200"/>
          </a:xfrm>
          <a:prstGeom prst="rect">
            <a:avLst/>
          </a:prstGeom>
          <a:noFill/>
          <a:ln/>
        </p:spPr>
        <p:txBody>
          <a:bodyPr wrap="square" lIns="0" tIns="0" rIns="0" bIns="0" rtlCol="0" anchor="t"/>
          <a:lstStyle/>
          <a:p>
            <a:pPr marL="0" indent="0">
              <a:buNone/>
            </a:pPr>
            <a:r>
              <a:rPr lang="en-US" sz="1100" dirty="0">
                <a:solidFill>
                  <a:schemeClr val="tx2"/>
                </a:solidFill>
              </a:rPr>
              <a:t>SUM after LEFT JOIN events: 145 rows for 125 cases</a:t>
            </a:r>
            <a:endParaRPr lang="en-US" sz="1100" dirty="0"/>
          </a:p>
        </p:txBody>
      </p:sp>
      <p:sp>
        <p:nvSpPr>
          <p:cNvPr id="11" name="card"/>
          <p:cNvSpPr/>
          <p:nvPr/>
        </p:nvSpPr>
        <p:spPr>
          <a:xfrm>
            <a:off x="7589520" y="3977640"/>
            <a:ext cx="4142232"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2" name="Text 8"/>
          <p:cNvSpPr txBox="1"/>
          <p:nvPr/>
        </p:nvSpPr>
        <p:spPr>
          <a:xfrm>
            <a:off x="7818120" y="4178808"/>
            <a:ext cx="3685032"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HUB, ONE SOURCE</a:t>
            </a:r>
            <a:endParaRPr lang="en-US" sz="1100" dirty="0"/>
          </a:p>
        </p:txBody>
      </p:sp>
      <p:sp>
        <p:nvSpPr>
          <p:cNvPr id="13" name="Text 9"/>
          <p:cNvSpPr txBox="1"/>
          <p:nvPr/>
        </p:nvSpPr>
        <p:spPr>
          <a:xfrm>
            <a:off x="7818120" y="4453128"/>
            <a:ext cx="3685032" cy="685800"/>
          </a:xfrm>
          <a:prstGeom prst="rect">
            <a:avLst/>
          </a:prstGeom>
          <a:noFill/>
          <a:ln/>
        </p:spPr>
        <p:txBody>
          <a:bodyPr wrap="square" lIns="0" tIns="0" rIns="0" bIns="0" rtlCol="0" anchor="t">
            <a:normAutofit/>
          </a:bodyPr>
          <a:lstStyle/>
          <a:p>
            <a:pPr marL="0" indent="0">
              <a:buNone/>
            </a:pPr>
            <a:r>
              <a:rPr lang="en-US" sz="4000" b="1" dirty="0">
                <a:solidFill>
                  <a:schemeClr val="accent1"/>
                </a:solidFill>
              </a:rPr>
              <a:t>622,826.44</a:t>
            </a:r>
            <a:endParaRPr lang="en-US" sz="4000" dirty="0"/>
          </a:p>
        </p:txBody>
      </p:sp>
      <p:sp>
        <p:nvSpPr>
          <p:cNvPr id="14" name="Text 10"/>
          <p:cNvSpPr txBox="1"/>
          <p:nvPr/>
        </p:nvSpPr>
        <p:spPr>
          <a:xfrm>
            <a:off x="7818120" y="5148072"/>
            <a:ext cx="3685032" cy="457200"/>
          </a:xfrm>
          <a:prstGeom prst="rect">
            <a:avLst/>
          </a:prstGeom>
          <a:noFill/>
          <a:ln/>
        </p:spPr>
        <p:txBody>
          <a:bodyPr wrap="square" lIns="0" tIns="0" rIns="0" bIns="0" rtlCol="0" anchor="t"/>
          <a:lstStyle/>
          <a:p>
            <a:pPr marL="0" indent="0">
              <a:buNone/>
            </a:pPr>
            <a:r>
              <a:rPr lang="en-US" sz="1100" dirty="0">
                <a:solidFill>
                  <a:schemeClr val="tx2"/>
                </a:solidFill>
              </a:rPr>
              <a:t>125 rows summed once, Decimal, ROUND_HALF_EVEN</a:t>
            </a:r>
            <a:endParaRPr lang="en-US" sz="1100" dirty="0"/>
          </a:p>
        </p:txBody>
      </p:sp>
      <p:sp>
        <p:nvSpPr>
          <p:cNvPr id="15" name="Text 11"/>
          <p:cNvSpPr txBox="1"/>
          <p:nvPr/>
        </p:nvSpPr>
        <p:spPr>
          <a:xfrm>
            <a:off x="7589520" y="5806440"/>
            <a:ext cx="4142232" cy="457200"/>
          </a:xfrm>
          <a:prstGeom prst="rect">
            <a:avLst/>
          </a:prstGeom>
          <a:noFill/>
          <a:ln/>
        </p:spPr>
        <p:txBody>
          <a:bodyPr wrap="square" lIns="0" tIns="0" rIns="0" bIns="0" rtlCol="0" anchor="t"/>
          <a:lstStyle/>
          <a:p>
            <a:pPr marL="0" indent="0">
              <a:buNone/>
            </a:pPr>
            <a:r>
              <a:rPr lang="en-US" sz="1200" b="1" dirty="0">
                <a:solidFill>
                  <a:schemeClr val="accent1"/>
                </a:solidFill>
              </a:rPr>
              <a:t>Difference 120,130.17 (+19.3 %). Reproduced live from hub.metrics.sources.</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Evidence  ·  RC-6 / RC-7 intake</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8,567 FEED ROWS,</a:t>
            </a:r>
            <a:endParaRPr lang="en-US" sz="3000" dirty="0"/>
          </a:p>
          <a:p>
            <a:pPr marL="0" indent="0" algn="l">
              <a:lnSpc>
                <a:spcPct val="95000"/>
              </a:lnSpc>
              <a:buNone/>
            </a:pPr>
            <a:r>
              <a:rPr lang="en-US" sz="3000" b="1" dirty="0">
                <a:solidFill>
                  <a:schemeClr val="accent1"/>
                </a:solidFill>
              </a:rPr>
              <a:t>CLASSIFIED BY THE HUB'S OWN RULES</a:t>
            </a:r>
            <a:endParaRPr lang="en-US" sz="3000" dirty="0"/>
          </a:p>
        </p:txBody>
      </p:sp>
      <p:sp>
        <p:nvSpPr>
          <p:cNvPr id="5" name="screenshot-frame"/>
          <p:cNvSpPr/>
          <p:nvPr/>
        </p:nvSpPr>
        <p:spPr>
          <a:xfrm>
            <a:off x="438912" y="2130552"/>
            <a:ext cx="6803136" cy="4077716"/>
          </a:xfrm>
          <a:prstGeom prst="rect">
            <a:avLst/>
          </a:prstGeom>
          <a:solidFill>
            <a:srgbClr val="FFFFFF"/>
          </a:solidFill>
          <a:ln w="9525">
            <a:solidFill>
              <a:srgbClr val="D9D9D9"/>
            </a:solidFill>
            <a:prstDash val="solid"/>
          </a:ln>
          <a:effectLst>
            <a:outerShdw blurRad="127000" dist="38100" dir="5400000" algn="bl" rotWithShape="0">
              <a:srgbClr val="000000">
                <a:alpha val="18000"/>
              </a:srgbClr>
            </a:outerShdw>
          </a:effectLst>
        </p:spPr>
      </p:sp>
      <p:pic>
        <p:nvPicPr>
          <p:cNvPr id="6" name="Image 0" descr="Intake and replay"/>
          <p:cNvPicPr>
            <a:picLocks noChangeAspect="1"/>
          </p:cNvPicPr>
          <p:nvPr/>
        </p:nvPicPr>
        <p:blipFill>
          <a:blip r:embed="rId3"/>
          <a:stretch>
            <a:fillRect/>
          </a:stretch>
        </p:blipFill>
        <p:spPr>
          <a:xfrm>
            <a:off x="457200" y="2148840"/>
            <a:ext cx="6766560" cy="4041140"/>
          </a:xfrm>
          <a:prstGeom prst="rect">
            <a:avLst/>
          </a:prstGeom>
        </p:spPr>
      </p:pic>
      <p:graphicFrame>
        <p:nvGraphicFramePr>
          <p:cNvPr id="7" name="Chart 0"/>
          <p:cNvGraphicFramePr/>
          <p:nvPr/>
        </p:nvGraphicFramePr>
        <p:xfrm>
          <a:off x="7498080" y="2103120"/>
          <a:ext cx="4297680" cy="2423160"/>
        </p:xfrm>
        <a:graphic>
          <a:graphicData uri="http://schemas.openxmlformats.org/drawingml/2006/chart">
            <c:chart xmlns:c="http://schemas.openxmlformats.org/drawingml/2006/chart" xmlns:r="http://schemas.openxmlformats.org/officeDocument/2006/relationships" r:id="rId4"/>
          </a:graphicData>
        </a:graphic>
      </p:graphicFrame>
      <p:sp>
        <p:nvSpPr>
          <p:cNvPr id="8" name="card"/>
          <p:cNvSpPr/>
          <p:nvPr/>
        </p:nvSpPr>
        <p:spPr>
          <a:xfrm>
            <a:off x="7589520" y="4709160"/>
            <a:ext cx="4142232" cy="1417320"/>
          </a:xfrm>
          <a:prstGeom prst="roundRect">
            <a:avLst>
              <a:gd name="adj" fmla="val 5161"/>
            </a:avLst>
          </a:prstGeom>
          <a:solidFill>
            <a:srgbClr val="E7F4EC"/>
          </a:solidFill>
          <a:ln w="9525">
            <a:solidFill>
              <a:srgbClr val="BFE3CC"/>
            </a:solidFill>
            <a:prstDash val="solid"/>
          </a:ln>
        </p:spPr>
      </p:sp>
      <p:sp>
        <p:nvSpPr>
          <p:cNvPr id="9" name="Text 4"/>
          <p:cNvSpPr txBox="1"/>
          <p:nvPr/>
        </p:nvSpPr>
        <p:spPr>
          <a:xfrm>
            <a:off x="7772400" y="4846320"/>
            <a:ext cx="3840480" cy="1188720"/>
          </a:xfrm>
          <a:prstGeom prst="rect">
            <a:avLst/>
          </a:prstGeom>
          <a:noFill/>
          <a:ln/>
        </p:spPr>
        <p:txBody>
          <a:bodyPr wrap="square" lIns="0" tIns="0" rIns="0" bIns="0" rtlCol="0" anchor="t"/>
          <a:lstStyle/>
          <a:p>
            <a:pPr marL="0" indent="0">
              <a:buNone/>
            </a:pPr>
            <a:r>
              <a:rPr lang="en-US" sz="1300" b="1" dirty="0">
                <a:solidFill>
                  <a:srgbClr val="2E7D4F"/>
                </a:solidFill>
              </a:rPr>
              <a:t>Replay test (K-07)</a:t>
            </a:r>
            <a:endParaRPr lang="en-US" sz="1300" dirty="0"/>
          </a:p>
          <a:p>
            <a:pPr marL="0" indent="0">
              <a:buNone/>
            </a:pPr>
            <a:r>
              <a:rPr lang="en-US" sz="1300" dirty="0">
                <a:solidFill>
                  <a:schemeClr val="tx1"/>
                </a:solidFill>
              </a:rPr>
              <a:t>8,567 re-delivered · 8,567 NOOP · 0 new work · queue 8,335 → 8,335 (Δ 0)</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Evidence  ·  Human control and AI guardrails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TEN ACTIONS</a:t>
            </a:r>
            <a:endParaRPr lang="en-US" sz="3000" dirty="0"/>
          </a:p>
          <a:p>
            <a:pPr marL="0" indent="0" algn="l">
              <a:lnSpc>
                <a:spcPct val="95000"/>
              </a:lnSpc>
              <a:buNone/>
            </a:pPr>
            <a:r>
              <a:rPr lang="en-US" sz="3000" b="1" dirty="0">
                <a:solidFill>
                  <a:schemeClr val="accent1"/>
                </a:solidFill>
              </a:rPr>
              <a:t>NO MACHINE MAY TAKE</a:t>
            </a:r>
            <a:endParaRPr lang="en-US" sz="3000" dirty="0"/>
          </a:p>
        </p:txBody>
      </p:sp>
      <p:sp>
        <p:nvSpPr>
          <p:cNvPr id="5" name="screenshot-frame"/>
          <p:cNvSpPr/>
          <p:nvPr/>
        </p:nvSpPr>
        <p:spPr>
          <a:xfrm>
            <a:off x="438912" y="2130552"/>
            <a:ext cx="5522976" cy="3313176"/>
          </a:xfrm>
          <a:prstGeom prst="rect">
            <a:avLst/>
          </a:prstGeom>
          <a:solidFill>
            <a:srgbClr val="FFFFFF"/>
          </a:solidFill>
          <a:ln w="9525">
            <a:solidFill>
              <a:srgbClr val="D9D9D9"/>
            </a:solidFill>
            <a:prstDash val="solid"/>
          </a:ln>
          <a:effectLst>
            <a:outerShdw blurRad="127000" dist="38100" dir="5400000" algn="bl" rotWithShape="0">
              <a:srgbClr val="000000">
                <a:alpha val="18000"/>
              </a:srgbClr>
            </a:outerShdw>
          </a:effectLst>
        </p:spPr>
      </p:sp>
      <p:pic>
        <p:nvPicPr>
          <p:cNvPr id="6" name="Image 0" descr="Zone H gate"/>
          <p:cNvPicPr>
            <a:picLocks noChangeAspect="1"/>
          </p:cNvPicPr>
          <p:nvPr/>
        </p:nvPicPr>
        <p:blipFill>
          <a:blip r:embed="rId3"/>
          <a:stretch>
            <a:fillRect/>
          </a:stretch>
        </p:blipFill>
        <p:spPr>
          <a:xfrm>
            <a:off x="457200" y="2148840"/>
            <a:ext cx="5486400" cy="3276600"/>
          </a:xfrm>
          <a:prstGeom prst="rect">
            <a:avLst/>
          </a:prstGeom>
        </p:spPr>
      </p:pic>
      <p:sp>
        <p:nvSpPr>
          <p:cNvPr id="7" name="screenshot-frame"/>
          <p:cNvSpPr/>
          <p:nvPr/>
        </p:nvSpPr>
        <p:spPr>
          <a:xfrm>
            <a:off x="6227064" y="2130552"/>
            <a:ext cx="5522976" cy="3313176"/>
          </a:xfrm>
          <a:prstGeom prst="rect">
            <a:avLst/>
          </a:prstGeom>
          <a:solidFill>
            <a:srgbClr val="FFFFFF"/>
          </a:solidFill>
          <a:ln w="9525">
            <a:solidFill>
              <a:srgbClr val="D9D9D9"/>
            </a:solidFill>
            <a:prstDash val="solid"/>
          </a:ln>
          <a:effectLst>
            <a:outerShdw blurRad="127000" dist="38100" dir="5400000" algn="bl" rotWithShape="0">
              <a:srgbClr val="000000">
                <a:alpha val="18000"/>
              </a:srgbClr>
            </a:outerShdw>
          </a:effectLst>
        </p:spPr>
      </p:sp>
      <p:pic>
        <p:nvPicPr>
          <p:cNvPr id="8" name="Image 1" descr="AI assistant"/>
          <p:cNvPicPr>
            <a:picLocks noChangeAspect="1"/>
          </p:cNvPicPr>
          <p:nvPr/>
        </p:nvPicPr>
        <p:blipFill>
          <a:blip r:embed="rId4"/>
          <a:stretch>
            <a:fillRect/>
          </a:stretch>
        </p:blipFill>
        <p:spPr>
          <a:xfrm>
            <a:off x="6245352" y="2148840"/>
            <a:ext cx="5486400" cy="3276600"/>
          </a:xfrm>
          <a:prstGeom prst="rect">
            <a:avLst/>
          </a:prstGeom>
        </p:spPr>
      </p:pic>
      <p:sp>
        <p:nvSpPr>
          <p:cNvPr id="9" name="Text 4"/>
          <p:cNvSpPr txBox="1"/>
          <p:nvPr/>
        </p:nvSpPr>
        <p:spPr>
          <a:xfrm>
            <a:off x="457200" y="5623560"/>
            <a:ext cx="5486400" cy="548640"/>
          </a:xfrm>
          <a:prstGeom prst="rect">
            <a:avLst/>
          </a:prstGeom>
          <a:noFill/>
          <a:ln/>
        </p:spPr>
        <p:txBody>
          <a:bodyPr wrap="square" lIns="0" tIns="0" rIns="0" bIns="0" rtlCol="0" anchor="t"/>
          <a:lstStyle/>
          <a:p>
            <a:pPr marL="0" indent="0">
              <a:buNone/>
            </a:pPr>
            <a:r>
              <a:rPr lang="en-US" sz="1200" b="1" dirty="0">
                <a:solidFill>
                  <a:schemeClr val="tx1"/>
                </a:solidFill>
              </a:rPr>
              <a:t>Every attempt is refused and logged: E-GATE-NO-HOLDERS for humans, E-GATE-NOT-AUTHORISED for AI</a:t>
            </a:r>
            <a:endParaRPr lang="en-US" sz="1200" dirty="0"/>
          </a:p>
        </p:txBody>
      </p:sp>
      <p:sp>
        <p:nvSpPr>
          <p:cNvPr id="10" name="Text 5"/>
          <p:cNvSpPr txBox="1"/>
          <p:nvPr/>
        </p:nvSpPr>
        <p:spPr>
          <a:xfrm>
            <a:off x="6245352" y="5623560"/>
            <a:ext cx="5486400" cy="548640"/>
          </a:xfrm>
          <a:prstGeom prst="rect">
            <a:avLst/>
          </a:prstGeom>
          <a:noFill/>
          <a:ln/>
        </p:spPr>
        <p:txBody>
          <a:bodyPr wrap="square" lIns="0" tIns="0" rIns="0" bIns="0" rtlCol="0" anchor="t"/>
          <a:lstStyle/>
          <a:p>
            <a:pPr marL="0" indent="0">
              <a:buNone/>
            </a:pPr>
            <a:r>
              <a:rPr lang="en-US" sz="1200" b="1" dirty="0">
                <a:solidFill>
                  <a:schemeClr val="tx1"/>
                </a:solidFill>
              </a:rPr>
              <a:t>The assistant answers with citations, and refuses requests to act before any model call</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Evidence  ·  Engineering quality</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TESTED LIKE</a:t>
            </a:r>
            <a:endParaRPr lang="en-US" sz="3000" dirty="0"/>
          </a:p>
          <a:p>
            <a:pPr marL="0" indent="0" algn="l">
              <a:lnSpc>
                <a:spcPct val="95000"/>
              </a:lnSpc>
              <a:buNone/>
            </a:pPr>
            <a:r>
              <a:rPr lang="en-US" sz="3000" b="1" dirty="0">
                <a:solidFill>
                  <a:schemeClr val="accent1"/>
                </a:solidFill>
              </a:rPr>
              <a:t>IT WILL BE AUDITED</a:t>
            </a:r>
            <a:endParaRPr lang="en-US" sz="3000" dirty="0"/>
          </a:p>
        </p:txBody>
      </p:sp>
      <p:graphicFrame>
        <p:nvGraphicFramePr>
          <p:cNvPr id="5" name="Chart 0"/>
          <p:cNvGraphicFramePr/>
          <p:nvPr/>
        </p:nvGraphicFramePr>
        <p:xfrm>
          <a:off x="457200" y="2148840"/>
          <a:ext cx="493776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card"/>
          <p:cNvSpPr/>
          <p:nvPr/>
        </p:nvSpPr>
        <p:spPr>
          <a:xfrm>
            <a:off x="5760720" y="2148840"/>
            <a:ext cx="283464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7" name="Text 3"/>
          <p:cNvSpPr txBox="1"/>
          <p:nvPr/>
        </p:nvSpPr>
        <p:spPr>
          <a:xfrm>
            <a:off x="5989320" y="2377440"/>
            <a:ext cx="2468880" cy="594360"/>
          </a:xfrm>
          <a:prstGeom prst="rect">
            <a:avLst/>
          </a:prstGeom>
          <a:noFill/>
          <a:ln/>
        </p:spPr>
        <p:txBody>
          <a:bodyPr wrap="square" lIns="0" tIns="0" rIns="0" bIns="0" rtlCol="0" anchor="t"/>
          <a:lstStyle/>
          <a:p>
            <a:pPr marL="0" indent="0">
              <a:buNone/>
            </a:pPr>
            <a:r>
              <a:rPr lang="en-US" sz="2800" b="1" dirty="0">
                <a:solidFill>
                  <a:schemeClr val="accent1"/>
                </a:solidFill>
              </a:rPr>
              <a:t>134 / 134</a:t>
            </a:r>
            <a:endParaRPr lang="en-US" sz="2800" dirty="0"/>
          </a:p>
        </p:txBody>
      </p:sp>
      <p:sp>
        <p:nvSpPr>
          <p:cNvPr id="8" name="Text 4"/>
          <p:cNvSpPr txBox="1"/>
          <p:nvPr/>
        </p:nvSpPr>
        <p:spPr>
          <a:xfrm>
            <a:off x="5989320" y="3017520"/>
            <a:ext cx="2468880" cy="548640"/>
          </a:xfrm>
          <a:prstGeom prst="rect">
            <a:avLst/>
          </a:prstGeom>
          <a:noFill/>
          <a:ln/>
        </p:spPr>
        <p:txBody>
          <a:bodyPr wrap="square" lIns="0" tIns="0" rIns="0" bIns="0" rtlCol="0" anchor="t"/>
          <a:lstStyle/>
          <a:p>
            <a:pPr marL="0" indent="0">
              <a:buNone/>
            </a:pPr>
            <a:r>
              <a:rPr lang="en-US" sz="1200" dirty="0">
                <a:solidFill>
                  <a:schemeClr val="tx2"/>
                </a:solidFill>
              </a:rPr>
              <a:t>legacy characterisation checks pass</a:t>
            </a:r>
            <a:endParaRPr lang="en-US" sz="1200" dirty="0"/>
          </a:p>
        </p:txBody>
      </p:sp>
      <p:sp>
        <p:nvSpPr>
          <p:cNvPr id="9" name="card"/>
          <p:cNvSpPr/>
          <p:nvPr/>
        </p:nvSpPr>
        <p:spPr>
          <a:xfrm>
            <a:off x="8778240" y="2148840"/>
            <a:ext cx="283464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0" name="Text 6"/>
          <p:cNvSpPr txBox="1"/>
          <p:nvPr/>
        </p:nvSpPr>
        <p:spPr>
          <a:xfrm>
            <a:off x="9006840" y="2377440"/>
            <a:ext cx="2468880" cy="594360"/>
          </a:xfrm>
          <a:prstGeom prst="rect">
            <a:avLst/>
          </a:prstGeom>
          <a:noFill/>
          <a:ln/>
        </p:spPr>
        <p:txBody>
          <a:bodyPr wrap="square" lIns="0" tIns="0" rIns="0" bIns="0" rtlCol="0" anchor="t"/>
          <a:lstStyle/>
          <a:p>
            <a:pPr marL="0" indent="0">
              <a:buNone/>
            </a:pPr>
            <a:r>
              <a:rPr lang="en-US" sz="2800" b="1" dirty="0">
                <a:solidFill>
                  <a:schemeClr val="tx1"/>
                </a:solidFill>
              </a:rPr>
              <a:t>241</a:t>
            </a:r>
            <a:endParaRPr lang="en-US" sz="2800" dirty="0"/>
          </a:p>
        </p:txBody>
      </p:sp>
      <p:sp>
        <p:nvSpPr>
          <p:cNvPr id="11" name="Text 7"/>
          <p:cNvSpPr txBox="1"/>
          <p:nvPr/>
        </p:nvSpPr>
        <p:spPr>
          <a:xfrm>
            <a:off x="9006840" y="3017520"/>
            <a:ext cx="2468880" cy="548640"/>
          </a:xfrm>
          <a:prstGeom prst="rect">
            <a:avLst/>
          </a:prstGeom>
          <a:noFill/>
          <a:ln/>
        </p:spPr>
        <p:txBody>
          <a:bodyPr wrap="square" lIns="0" tIns="0" rIns="0" bIns="0" rtlCol="0" anchor="t"/>
          <a:lstStyle/>
          <a:p>
            <a:pPr marL="0" indent="0">
              <a:buNone/>
            </a:pPr>
            <a:r>
              <a:rPr lang="en-US" sz="1200" dirty="0">
                <a:solidFill>
                  <a:schemeClr val="tx2"/>
                </a:solidFill>
              </a:rPr>
              <a:t>hub acceptance tests green (sandbox)</a:t>
            </a:r>
            <a:endParaRPr lang="en-US" sz="1200" dirty="0"/>
          </a:p>
        </p:txBody>
      </p:sp>
      <p:sp>
        <p:nvSpPr>
          <p:cNvPr id="12" name="card"/>
          <p:cNvSpPr/>
          <p:nvPr/>
        </p:nvSpPr>
        <p:spPr>
          <a:xfrm>
            <a:off x="5760720" y="3840480"/>
            <a:ext cx="283464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3" name="Text 9"/>
          <p:cNvSpPr txBox="1"/>
          <p:nvPr/>
        </p:nvSpPr>
        <p:spPr>
          <a:xfrm>
            <a:off x="5989320" y="4069080"/>
            <a:ext cx="2468880" cy="594360"/>
          </a:xfrm>
          <a:prstGeom prst="rect">
            <a:avLst/>
          </a:prstGeom>
          <a:noFill/>
          <a:ln/>
        </p:spPr>
        <p:txBody>
          <a:bodyPr wrap="square" lIns="0" tIns="0" rIns="0" bIns="0" rtlCol="0" anchor="t"/>
          <a:lstStyle/>
          <a:p>
            <a:pPr marL="0" indent="0">
              <a:buNone/>
            </a:pPr>
            <a:r>
              <a:rPr lang="en-US" sz="2800" b="1" dirty="0">
                <a:solidFill>
                  <a:schemeClr val="tx1"/>
                </a:solidFill>
              </a:rPr>
              <a:t>11 · 0 · 1</a:t>
            </a:r>
            <a:endParaRPr lang="en-US" sz="2800" dirty="0"/>
          </a:p>
        </p:txBody>
      </p:sp>
      <p:sp>
        <p:nvSpPr>
          <p:cNvPr id="14" name="Text 10"/>
          <p:cNvSpPr txBox="1"/>
          <p:nvPr/>
        </p:nvSpPr>
        <p:spPr>
          <a:xfrm>
            <a:off x="5989320" y="4709160"/>
            <a:ext cx="2468880" cy="548640"/>
          </a:xfrm>
          <a:prstGeom prst="rect">
            <a:avLst/>
          </a:prstGeom>
          <a:noFill/>
          <a:ln/>
        </p:spPr>
        <p:txBody>
          <a:bodyPr wrap="square" lIns="0" tIns="0" rIns="0" bIns="0" rtlCol="0" anchor="t"/>
          <a:lstStyle/>
          <a:p>
            <a:pPr marL="0" indent="0">
              <a:buNone/>
            </a:pPr>
            <a:r>
              <a:rPr lang="en-US" sz="1200" dirty="0">
                <a:solidFill>
                  <a:schemeClr val="tx2"/>
                </a:solidFill>
              </a:rPr>
              <a:t>TEVV findings · critical · high (fixed)</a:t>
            </a:r>
            <a:endParaRPr lang="en-US" sz="1200" dirty="0"/>
          </a:p>
        </p:txBody>
      </p:sp>
      <p:sp>
        <p:nvSpPr>
          <p:cNvPr id="15" name="card"/>
          <p:cNvSpPr/>
          <p:nvPr/>
        </p:nvSpPr>
        <p:spPr>
          <a:xfrm>
            <a:off x="8778240" y="3840480"/>
            <a:ext cx="2834640" cy="1508760"/>
          </a:xfrm>
          <a:prstGeom prst="roundRect">
            <a:avLst>
              <a:gd name="adj" fmla="val 4848"/>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6" name="Text 12"/>
          <p:cNvSpPr txBox="1"/>
          <p:nvPr/>
        </p:nvSpPr>
        <p:spPr>
          <a:xfrm>
            <a:off x="9006840" y="4069080"/>
            <a:ext cx="2468880" cy="594360"/>
          </a:xfrm>
          <a:prstGeom prst="rect">
            <a:avLst/>
          </a:prstGeom>
          <a:noFill/>
          <a:ln/>
        </p:spPr>
        <p:txBody>
          <a:bodyPr wrap="square" lIns="0" tIns="0" rIns="0" bIns="0" rtlCol="0" anchor="t"/>
          <a:lstStyle/>
          <a:p>
            <a:pPr marL="0" indent="0">
              <a:buNone/>
            </a:pPr>
            <a:r>
              <a:rPr lang="en-US" sz="2800" b="1" dirty="0">
                <a:solidFill>
                  <a:schemeClr val="tx1"/>
                </a:solidFill>
              </a:rPr>
              <a:t>17 + 15</a:t>
            </a:r>
            <a:endParaRPr lang="en-US" sz="2800" dirty="0"/>
          </a:p>
        </p:txBody>
      </p:sp>
      <p:sp>
        <p:nvSpPr>
          <p:cNvPr id="17" name="Text 13"/>
          <p:cNvSpPr txBox="1"/>
          <p:nvPr/>
        </p:nvSpPr>
        <p:spPr>
          <a:xfrm>
            <a:off x="9006840" y="4709160"/>
            <a:ext cx="2468880" cy="548640"/>
          </a:xfrm>
          <a:prstGeom prst="rect">
            <a:avLst/>
          </a:prstGeom>
          <a:noFill/>
          <a:ln/>
        </p:spPr>
        <p:txBody>
          <a:bodyPr wrap="square" lIns="0" tIns="0" rIns="0" bIns="0" rtlCol="0" anchor="t"/>
          <a:lstStyle/>
          <a:p>
            <a:pPr marL="0" indent="0">
              <a:buNone/>
            </a:pPr>
            <a:r>
              <a:rPr lang="en-US" sz="1200" dirty="0">
                <a:solidFill>
                  <a:schemeClr val="tx2"/>
                </a:solidFill>
              </a:rPr>
              <a:t>new tests: semantic layer + Command Centre</a:t>
            </a:r>
            <a:endParaRPr lang="en-US" sz="1200" dirty="0"/>
          </a:p>
        </p:txBody>
      </p:sp>
      <p:sp>
        <p:nvSpPr>
          <p:cNvPr id="18" name="Text 14"/>
          <p:cNvSpPr txBox="1"/>
          <p:nvPr/>
        </p:nvSpPr>
        <p:spPr>
          <a:xfrm>
            <a:off x="457200" y="5623560"/>
            <a:ext cx="11247120" cy="365760"/>
          </a:xfrm>
          <a:prstGeom prst="rect">
            <a:avLst/>
          </a:prstGeom>
          <a:noFill/>
          <a:ln/>
        </p:spPr>
        <p:txBody>
          <a:bodyPr wrap="square" lIns="0" tIns="0" rIns="0" bIns="0" rtlCol="0" anchor="t"/>
          <a:lstStyle/>
          <a:p>
            <a:pPr marL="0" indent="0">
              <a:buNone/>
            </a:pPr>
            <a:r>
              <a:rPr lang="en-US" sz="1100" i="1" dirty="0">
                <a:solidFill>
                  <a:schemeClr val="accent3"/>
                </a:solidFill>
              </a:rPr>
              <a:t>Sources: docs/16-repo-validation, docs/26-tevv, docs/27-hardening; Delevarables/semantic-layer/tests; 04_Quality_Command_Centre/tests</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Value  ·  Before vs after</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WHAT MOVED,</a:t>
            </a:r>
            <a:endParaRPr lang="en-US" sz="3000" dirty="0"/>
          </a:p>
          <a:p>
            <a:pPr marL="0" indent="0" algn="l">
              <a:lnSpc>
                <a:spcPct val="95000"/>
              </a:lnSpc>
              <a:buNone/>
            </a:pPr>
            <a:r>
              <a:rPr lang="en-US" sz="3000" b="1" dirty="0">
                <a:solidFill>
                  <a:schemeClr val="accent1"/>
                </a:solidFill>
              </a:rPr>
              <a:t>AND WHAT WE REFUSE TO CLAIM</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11274552" cy="914400"/>
        </p:xfrm>
        <a:graphic>
          <a:graphicData uri="http://schemas.openxmlformats.org/drawingml/2006/table">
            <a:tbl>
              <a:tblPr/>
              <a:tblGrid>
                <a:gridCol w="31089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1947672">
                  <a:extLst>
                    <a:ext uri="{9D8B030D-6E8A-4147-A177-3AD203B41FA5}">
                      <a16:colId xmlns:a16="http://schemas.microsoft.com/office/drawing/2014/main" val="20003"/>
                    </a:ext>
                  </a:extLst>
                </a:gridCol>
              </a:tblGrid>
              <a:tr h="429768">
                <a:tc>
                  <a:txBody>
                    <a:bodyPr/>
                    <a:lstStyle/>
                    <a:p>
                      <a:pPr marL="0" indent="0">
                        <a:buNone/>
                      </a:pPr>
                      <a:r>
                        <a:rPr lang="en-US" sz="1100" b="1" dirty="0">
                          <a:solidFill>
                            <a:srgbClr val="FFFFFF"/>
                          </a:solidFill>
                          <a:latin typeface="Arial" pitchFamily="34" charset="0"/>
                          <a:ea typeface="Arial" pitchFamily="34" charset="-122"/>
                          <a:cs typeface="Arial" pitchFamily="34" charset="-120"/>
                        </a:rPr>
                        <a:t>KPI</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Before (legacy)</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After (hub, sandbox)</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Reading</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extLst>
                  <a:ext uri="{0D108BD9-81ED-4DB2-BD59-A6C34878D82A}">
                    <a16:rowId xmlns:a16="http://schemas.microsoft.com/office/drawing/2014/main" val="10000"/>
                  </a:ext>
                </a:extLst>
              </a:tr>
              <a:tr h="429768">
                <a:tc>
                  <a:txBody>
                    <a:bodyPr/>
                    <a:lstStyle/>
                    <a:p>
                      <a:pPr marL="0" indent="0">
                        <a:buNone/>
                      </a:pPr>
                      <a:r>
                        <a:rPr lang="en-US" sz="1200" dirty="0">
                          <a:solidFill>
                            <a:srgbClr val="2B2B2B"/>
                          </a:solidFill>
                          <a:latin typeface="Arial" pitchFamily="34" charset="0"/>
                          <a:ea typeface="Arial" pitchFamily="34" charset="-122"/>
                          <a:cs typeface="Arial" pitchFamily="34" charset="-120"/>
                        </a:rPr>
                        <a:t>Month-end total (RC-8)</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742,956.61 (inflated)</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622,826.44</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b="1" dirty="0">
                          <a:solidFill>
                            <a:srgbClr val="2E7D4F"/>
                          </a:solidFill>
                          <a:latin typeface="Arial" pitchFamily="34" charset="0"/>
                          <a:ea typeface="Arial" pitchFamily="34" charset="-122"/>
                          <a:cs typeface="Arial" pitchFamily="34" charset="-120"/>
                        </a:rPr>
                        <a:t>Defect fixed</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7F4EC"/>
                    </a:solidFill>
                  </a:tcPr>
                </a:tc>
                <a:extLst>
                  <a:ext uri="{0D108BD9-81ED-4DB2-BD59-A6C34878D82A}">
                    <a16:rowId xmlns:a16="http://schemas.microsoft.com/office/drawing/2014/main" val="10001"/>
                  </a:ext>
                </a:extLst>
              </a:tr>
              <a:tr h="429768">
                <a:tc>
                  <a:txBody>
                    <a:bodyPr/>
                    <a:lstStyle/>
                    <a:p>
                      <a:pPr marL="0" indent="0">
                        <a:buNone/>
                      </a:pPr>
                      <a:r>
                        <a:rPr lang="en-US" sz="1200" dirty="0">
                          <a:solidFill>
                            <a:srgbClr val="2B2B2B"/>
                          </a:solidFill>
                          <a:latin typeface="Arial" pitchFamily="34" charset="0"/>
                          <a:ea typeface="Arial" pitchFamily="34" charset="-122"/>
                          <a:cs typeface="Arial" pitchFamily="34" charset="-120"/>
                        </a:rPr>
                        <a:t>Replay safety K-07</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2025 replay inflated queue, rollback</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Δ 0 on 8,567 re-delivered rows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b="1" dirty="0">
                          <a:solidFill>
                            <a:srgbClr val="2E7D4F"/>
                          </a:solidFill>
                          <a:latin typeface="Arial" pitchFamily="34" charset="0"/>
                          <a:ea typeface="Arial" pitchFamily="34" charset="-122"/>
                          <a:cs typeface="Arial" pitchFamily="34" charset="-120"/>
                        </a:rPr>
                        <a:t>Proven in sandbox</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7F4EC"/>
                    </a:solidFill>
                  </a:tcPr>
                </a:tc>
                <a:extLst>
                  <a:ext uri="{0D108BD9-81ED-4DB2-BD59-A6C34878D82A}">
                    <a16:rowId xmlns:a16="http://schemas.microsoft.com/office/drawing/2014/main" val="10002"/>
                  </a:ext>
                </a:extLst>
              </a:tr>
              <a:tr h="429768">
                <a:tc>
                  <a:txBody>
                    <a:bodyPr/>
                    <a:lstStyle/>
                    <a:p>
                      <a:pPr marL="0" indent="0">
                        <a:buNone/>
                      </a:pPr>
                      <a:r>
                        <a:rPr lang="en-US" sz="1200" dirty="0">
                          <a:solidFill>
                            <a:srgbClr val="2B2B2B"/>
                          </a:solidFill>
                          <a:latin typeface="Arial" pitchFamily="34" charset="0"/>
                          <a:ea typeface="Arial" pitchFamily="34" charset="-122"/>
                          <a:cs typeface="Arial" pitchFamily="34" charset="-120"/>
                        </a:rPr>
                        <a:t>Definition transparency K-03</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0 of 6 figures tagged</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4 of 4 figures tagged</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b="1" dirty="0">
                          <a:solidFill>
                            <a:srgbClr val="B26A00"/>
                          </a:solidFill>
                          <a:latin typeface="Arial" pitchFamily="34" charset="0"/>
                          <a:ea typeface="Arial" pitchFamily="34" charset="-122"/>
                          <a:cs typeface="Arial" pitchFamily="34" charset="-120"/>
                        </a:rPr>
                        <a:t>Not like-for-like</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4E0"/>
                    </a:solidFill>
                  </a:tcPr>
                </a:tc>
                <a:extLst>
                  <a:ext uri="{0D108BD9-81ED-4DB2-BD59-A6C34878D82A}">
                    <a16:rowId xmlns:a16="http://schemas.microsoft.com/office/drawing/2014/main" val="10003"/>
                  </a:ext>
                </a:extLst>
              </a:tr>
              <a:tr h="429768">
                <a:tc>
                  <a:txBody>
                    <a:bodyPr/>
                    <a:lstStyle/>
                    <a:p>
                      <a:pPr marL="0" indent="0">
                        <a:buNone/>
                      </a:pPr>
                      <a:r>
                        <a:rPr lang="en-US" sz="1200" dirty="0">
                          <a:solidFill>
                            <a:srgbClr val="2B2B2B"/>
                          </a:solidFill>
                          <a:latin typeface="Arial" pitchFamily="34" charset="0"/>
                          <a:ea typeface="Arial" pitchFamily="34" charset="-122"/>
                          <a:cs typeface="Arial" pitchFamily="34" charset="-120"/>
                        </a:rPr>
                        <a:t>Decisions recorded K-11</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0 of 2</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2 of 2 as 'accepted open'</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b="1" dirty="0">
                          <a:solidFill>
                            <a:srgbClr val="B26A00"/>
                          </a:solidFill>
                          <a:latin typeface="Arial" pitchFamily="34" charset="0"/>
                          <a:ea typeface="Arial" pitchFamily="34" charset="-122"/>
                          <a:cs typeface="Arial" pitchFamily="34" charset="-120"/>
                        </a:rPr>
                        <a:t>Record, not resolution</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4E0"/>
                    </a:solidFill>
                  </a:tcPr>
                </a:tc>
                <a:extLst>
                  <a:ext uri="{0D108BD9-81ED-4DB2-BD59-A6C34878D82A}">
                    <a16:rowId xmlns:a16="http://schemas.microsoft.com/office/drawing/2014/main" val="10004"/>
                  </a:ext>
                </a:extLst>
              </a:tr>
              <a:tr h="429768">
                <a:tc>
                  <a:txBody>
                    <a:bodyPr/>
                    <a:lstStyle/>
                    <a:p>
                      <a:pPr marL="0" indent="0">
                        <a:buNone/>
                      </a:pPr>
                      <a:r>
                        <a:rPr lang="en-US" sz="1200" dirty="0">
                          <a:solidFill>
                            <a:srgbClr val="2B2B2B"/>
                          </a:solidFill>
                          <a:latin typeface="Arial" pitchFamily="34" charset="0"/>
                          <a:ea typeface="Arial" pitchFamily="34" charset="-122"/>
                          <a:cs typeface="Arial" pitchFamily="34" charset="-120"/>
                        </a:rPr>
                        <a:t>Backlog K-09-OPS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89 of 125</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89 of 125</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b="1" dirty="0">
                          <a:solidFill>
                            <a:srgbClr val="4D4D4D"/>
                          </a:solidFill>
                          <a:latin typeface="Arial" pitchFamily="34" charset="0"/>
                          <a:ea typeface="Arial" pitchFamily="34" charset="-122"/>
                          <a:cs typeface="Arial" pitchFamily="34" charset="-120"/>
                        </a:rPr>
                        <a:t>Parity</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429768">
                <a:tc>
                  <a:txBody>
                    <a:bodyPr/>
                    <a:lstStyle/>
                    <a:p>
                      <a:pPr marL="0" indent="0">
                        <a:buNone/>
                      </a:pPr>
                      <a:r>
                        <a:rPr lang="en-US" sz="1200" dirty="0">
                          <a:solidFill>
                            <a:srgbClr val="2B2B2B"/>
                          </a:solidFill>
                          <a:latin typeface="Arial" pitchFamily="34" charset="0"/>
                          <a:ea typeface="Arial" pitchFamily="34" charset="-122"/>
                          <a:cs typeface="Arial" pitchFamily="34" charset="-120"/>
                        </a:rPr>
                        <a:t>Reopen rate K-15</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6.4 %</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6.4 %</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b="1" dirty="0">
                          <a:solidFill>
                            <a:srgbClr val="4D4D4D"/>
                          </a:solidFill>
                          <a:latin typeface="Arial" pitchFamily="34" charset="0"/>
                          <a:ea typeface="Arial" pitchFamily="34" charset="-122"/>
                          <a:cs typeface="Arial" pitchFamily="34" charset="-120"/>
                        </a:rPr>
                        <a:t>Parity</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1F1F1"/>
                    </a:solidFill>
                  </a:tcPr>
                </a:tc>
                <a:extLst>
                  <a:ext uri="{0D108BD9-81ED-4DB2-BD59-A6C34878D82A}">
                    <a16:rowId xmlns:a16="http://schemas.microsoft.com/office/drawing/2014/main" val="10006"/>
                  </a:ext>
                </a:extLst>
              </a:tr>
              <a:tr h="429768">
                <a:tc>
                  <a:txBody>
                    <a:bodyPr/>
                    <a:lstStyle/>
                    <a:p>
                      <a:pPr marL="0" indent="0">
                        <a:buNone/>
                      </a:pPr>
                      <a:r>
                        <a:rPr lang="en-US" sz="1200" dirty="0">
                          <a:solidFill>
                            <a:srgbClr val="2B2B2B"/>
                          </a:solidFill>
                          <a:latin typeface="Arial" pitchFamily="34" charset="0"/>
                          <a:ea typeface="Arial" pitchFamily="34" charset="-122"/>
                          <a:cs typeface="Arial" pitchFamily="34" charset="-120"/>
                        </a:rPr>
                        <a:t>Time to close / evidence / rework</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Unknown</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Unknown</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b="1" dirty="0">
                          <a:solidFill>
                            <a:srgbClr val="B81C14"/>
                          </a:solidFill>
                          <a:latin typeface="Arial" pitchFamily="34" charset="0"/>
                          <a:ea typeface="Arial" pitchFamily="34" charset="-122"/>
                          <a:cs typeface="Arial" pitchFamily="34" charset="-120"/>
                        </a:rPr>
                        <a:t>Not measurable</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DECEA"/>
                    </a:solidFill>
                  </a:tcPr>
                </a:tc>
                <a:extLst>
                  <a:ext uri="{0D108BD9-81ED-4DB2-BD59-A6C34878D82A}">
                    <a16:rowId xmlns:a16="http://schemas.microsoft.com/office/drawing/2014/main" val="10007"/>
                  </a:ext>
                </a:extLst>
              </a:tr>
              <a:tr h="429768">
                <a:tc>
                  <a:txBody>
                    <a:bodyPr/>
                    <a:lstStyle/>
                    <a:p>
                      <a:pPr marL="0" indent="0">
                        <a:buNone/>
                      </a:pPr>
                      <a:r>
                        <a:rPr lang="en-US" sz="1200" dirty="0">
                          <a:solidFill>
                            <a:srgbClr val="2B2B2B"/>
                          </a:solidFill>
                          <a:latin typeface="Arial" pitchFamily="34" charset="0"/>
                          <a:ea typeface="Arial" pitchFamily="34" charset="-122"/>
                          <a:cs typeface="Arial" pitchFamily="34" charset="-120"/>
                        </a:rPr>
                        <a:t>Adoption K-21</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0 of 125</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0 of 125</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b="1" dirty="0">
                          <a:solidFill>
                            <a:srgbClr val="B81C14"/>
                          </a:solidFill>
                          <a:latin typeface="Arial" pitchFamily="34" charset="0"/>
                          <a:ea typeface="Arial" pitchFamily="34" charset="-122"/>
                          <a:cs typeface="Arial" pitchFamily="34" charset="-120"/>
                        </a:rPr>
                        <a:t>No users yet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DECEA"/>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Value  ·  Attribution</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WHICH GAINS CAME FROM AI,</a:t>
            </a:r>
            <a:endParaRPr lang="en-US" sz="3000" dirty="0"/>
          </a:p>
          <a:p>
            <a:pPr marL="0" indent="0" algn="l">
              <a:lnSpc>
                <a:spcPct val="95000"/>
              </a:lnSpc>
              <a:buNone/>
            </a:pPr>
            <a:r>
              <a:rPr lang="en-US" sz="3000" b="1" dirty="0">
                <a:solidFill>
                  <a:schemeClr val="accent1"/>
                </a:solidFill>
              </a:rPr>
              <a:t>AND WHICH FROM ENGINEERING</a:t>
            </a:r>
            <a:endParaRPr lang="en-US" sz="3000" dirty="0"/>
          </a:p>
        </p:txBody>
      </p:sp>
      <p:sp>
        <p:nvSpPr>
          <p:cNvPr id="5" name="card"/>
          <p:cNvSpPr/>
          <p:nvPr/>
        </p:nvSpPr>
        <p:spPr>
          <a:xfrm>
            <a:off x="457200" y="2148840"/>
            <a:ext cx="3611880" cy="3931920"/>
          </a:xfrm>
          <a:prstGeom prst="roundRect">
            <a:avLst>
              <a:gd name="adj" fmla="val 2025"/>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icon-circle"/>
          <p:cNvSpPr/>
          <p:nvPr/>
        </p:nvSpPr>
        <p:spPr>
          <a:xfrm>
            <a:off x="685800" y="2377440"/>
            <a:ext cx="566928" cy="566928"/>
          </a:xfrm>
          <a:prstGeom prst="ellipse">
            <a:avLst/>
          </a:prstGeom>
          <a:solidFill>
            <a:srgbClr val="4D4D4D"/>
          </a:solidFill>
          <a:ln w="12700">
            <a:solidFill>
              <a:srgbClr val="4D4D4D"/>
            </a:solidFill>
            <a:prstDash val="solid"/>
          </a:ln>
        </p:spPr>
      </p:sp>
      <p:pic>
        <p:nvPicPr>
          <p:cNvPr id="7" name="Image 0" descr="FaCogs"/>
          <p:cNvPicPr>
            <a:picLocks noChangeAspect="1"/>
          </p:cNvPicPr>
          <p:nvPr/>
        </p:nvPicPr>
        <p:blipFill>
          <a:blip r:embed="rId3"/>
          <a:stretch>
            <a:fillRect/>
          </a:stretch>
        </p:blipFill>
        <p:spPr>
          <a:xfrm>
            <a:off x="833201" y="2524841"/>
            <a:ext cx="272125" cy="272125"/>
          </a:xfrm>
          <a:prstGeom prst="rect">
            <a:avLst/>
          </a:prstGeom>
        </p:spPr>
      </p:pic>
      <p:sp>
        <p:nvSpPr>
          <p:cNvPr id="8" name="Text 4"/>
          <p:cNvSpPr txBox="1"/>
          <p:nvPr/>
        </p:nvSpPr>
        <p:spPr>
          <a:xfrm>
            <a:off x="1371600" y="2468880"/>
            <a:ext cx="2560320" cy="411480"/>
          </a:xfrm>
          <a:prstGeom prst="rect">
            <a:avLst/>
          </a:prstGeom>
          <a:noFill/>
          <a:ln/>
        </p:spPr>
        <p:txBody>
          <a:bodyPr wrap="square" lIns="0" tIns="0" rIns="0" bIns="0" rtlCol="0" anchor="t"/>
          <a:lstStyle/>
          <a:p>
            <a:pPr marL="0" indent="0">
              <a:buNone/>
            </a:pPr>
            <a:r>
              <a:rPr lang="en-US" sz="1600" b="1" dirty="0">
                <a:solidFill>
                  <a:schemeClr val="tx1"/>
                </a:solidFill>
              </a:rPr>
              <a:t>Traditional engineering</a:t>
            </a:r>
            <a:endParaRPr lang="en-US" sz="1600" dirty="0"/>
          </a:p>
        </p:txBody>
      </p:sp>
      <p:sp>
        <p:nvSpPr>
          <p:cNvPr id="9" name="Text 5"/>
          <p:cNvSpPr txBox="1"/>
          <p:nvPr/>
        </p:nvSpPr>
        <p:spPr>
          <a:xfrm>
            <a:off x="731520" y="3154680"/>
            <a:ext cx="3108960" cy="21945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Month-end defect fixed (+19.3 % removed)</a:t>
            </a:r>
            <a:endParaRPr lang="en-US" sz="1200" dirty="0"/>
          </a:p>
          <a:p>
            <a:pPr marL="342900" indent="-342900">
              <a:spcAft>
                <a:spcPts val="500"/>
              </a:spcAft>
              <a:buSzPct val="100000"/>
              <a:buChar char="•"/>
            </a:pPr>
            <a:r>
              <a:rPr lang="en-US" sz="1200" dirty="0">
                <a:solidFill>
                  <a:schemeClr val="tx1"/>
                </a:solidFill>
              </a:rPr>
              <a:t>Replay-safe intake (Δ 0)</a:t>
            </a:r>
            <a:endParaRPr lang="en-US" sz="1200" dirty="0"/>
          </a:p>
          <a:p>
            <a:pPr marL="342900" indent="-342900">
              <a:spcAft>
                <a:spcPts val="500"/>
              </a:spcAft>
              <a:buSzPct val="100000"/>
              <a:buChar char="•"/>
            </a:pPr>
            <a:r>
              <a:rPr lang="en-US" sz="1200" dirty="0">
                <a:solidFill>
                  <a:schemeClr val="tx1"/>
                </a:solidFill>
              </a:rPr>
              <a:t>15 reason codes, 5 queues, no silent fixes</a:t>
            </a:r>
            <a:endParaRPr lang="en-US" sz="1200" dirty="0"/>
          </a:p>
          <a:p>
            <a:pPr marL="342900" indent="-342900">
              <a:spcAft>
                <a:spcPts val="500"/>
              </a:spcAft>
              <a:buSzPct val="100000"/>
              <a:buChar char="•"/>
            </a:pPr>
            <a:r>
              <a:rPr lang="en-US" sz="1200" dirty="0">
                <a:solidFill>
                  <a:schemeClr val="tx1"/>
                </a:solidFill>
              </a:rPr>
              <a:t>Hash-chained decision record</a:t>
            </a:r>
            <a:endParaRPr lang="en-US" sz="1200" dirty="0"/>
          </a:p>
          <a:p>
            <a:pPr marL="342900" indent="-342900">
              <a:spcAft>
                <a:spcPts val="500"/>
              </a:spcAft>
              <a:buSzPct val="100000"/>
              <a:buChar char="•"/>
            </a:pPr>
            <a:r>
              <a:rPr lang="en-US" sz="1200" dirty="0">
                <a:solidFill>
                  <a:schemeClr val="tx1"/>
                </a:solidFill>
              </a:rPr>
              <a:t>Zone H human gate</a:t>
            </a:r>
            <a:endParaRPr lang="en-US" sz="1200" dirty="0"/>
          </a:p>
        </p:txBody>
      </p:sp>
      <p:sp>
        <p:nvSpPr>
          <p:cNvPr id="10" name="Text 6"/>
          <p:cNvSpPr txBox="1"/>
          <p:nvPr/>
        </p:nvSpPr>
        <p:spPr>
          <a:xfrm>
            <a:off x="731520" y="5532120"/>
            <a:ext cx="3108960" cy="365760"/>
          </a:xfrm>
          <a:prstGeom prst="rect">
            <a:avLst/>
          </a:prstGeom>
          <a:noFill/>
          <a:ln/>
        </p:spPr>
        <p:txBody>
          <a:bodyPr wrap="square" lIns="0" tIns="0" rIns="0" bIns="0" rtlCol="0" anchor="t"/>
          <a:lstStyle/>
          <a:p>
            <a:pPr marL="0" indent="0">
              <a:buNone/>
            </a:pPr>
            <a:r>
              <a:rPr lang="en-US" sz="1200" b="1" dirty="0">
                <a:solidFill>
                  <a:srgbClr val="2E7D4F"/>
                </a:solidFill>
              </a:rPr>
              <a:t>All measured improvements</a:t>
            </a:r>
            <a:endParaRPr lang="en-US" sz="1200" dirty="0"/>
          </a:p>
        </p:txBody>
      </p:sp>
      <p:sp>
        <p:nvSpPr>
          <p:cNvPr id="11" name="card"/>
          <p:cNvSpPr/>
          <p:nvPr/>
        </p:nvSpPr>
        <p:spPr>
          <a:xfrm>
            <a:off x="4251960" y="2148840"/>
            <a:ext cx="3611880" cy="3931920"/>
          </a:xfrm>
          <a:prstGeom prst="roundRect">
            <a:avLst>
              <a:gd name="adj" fmla="val 2025"/>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2" name="icon-circle"/>
          <p:cNvSpPr/>
          <p:nvPr/>
        </p:nvSpPr>
        <p:spPr>
          <a:xfrm>
            <a:off x="4480560" y="2377440"/>
            <a:ext cx="566928" cy="566928"/>
          </a:xfrm>
          <a:prstGeom prst="ellipse">
            <a:avLst/>
          </a:prstGeom>
          <a:solidFill>
            <a:srgbClr val="E1251B"/>
          </a:solidFill>
          <a:ln w="12700">
            <a:solidFill>
              <a:srgbClr val="E1251B"/>
            </a:solidFill>
            <a:prstDash val="solid"/>
          </a:ln>
        </p:spPr>
      </p:sp>
      <p:pic>
        <p:nvPicPr>
          <p:cNvPr id="13" name="Image 1" descr="FaBrain"/>
          <p:cNvPicPr>
            <a:picLocks noChangeAspect="1"/>
          </p:cNvPicPr>
          <p:nvPr/>
        </p:nvPicPr>
        <p:blipFill>
          <a:blip r:embed="rId4"/>
          <a:stretch>
            <a:fillRect/>
          </a:stretch>
        </p:blipFill>
        <p:spPr>
          <a:xfrm>
            <a:off x="4627961" y="2524841"/>
            <a:ext cx="272125" cy="272125"/>
          </a:xfrm>
          <a:prstGeom prst="rect">
            <a:avLst/>
          </a:prstGeom>
        </p:spPr>
      </p:pic>
      <p:sp>
        <p:nvSpPr>
          <p:cNvPr id="14" name="Text 9"/>
          <p:cNvSpPr txBox="1"/>
          <p:nvPr/>
        </p:nvSpPr>
        <p:spPr>
          <a:xfrm>
            <a:off x="5166360" y="2468880"/>
            <a:ext cx="2560320" cy="411480"/>
          </a:xfrm>
          <a:prstGeom prst="rect">
            <a:avLst/>
          </a:prstGeom>
          <a:noFill/>
          <a:ln/>
        </p:spPr>
        <p:txBody>
          <a:bodyPr wrap="square" lIns="0" tIns="0" rIns="0" bIns="0" rtlCol="0" anchor="t"/>
          <a:lstStyle/>
          <a:p>
            <a:pPr marL="0" indent="0">
              <a:buNone/>
            </a:pPr>
            <a:r>
              <a:rPr lang="en-US" sz="1600" b="1" dirty="0">
                <a:solidFill>
                  <a:schemeClr val="tx1"/>
                </a:solidFill>
              </a:rPr>
              <a:t>GenAI in the product</a:t>
            </a:r>
            <a:endParaRPr lang="en-US" sz="1600" dirty="0"/>
          </a:p>
        </p:txBody>
      </p:sp>
      <p:sp>
        <p:nvSpPr>
          <p:cNvPr id="15" name="Text 10"/>
          <p:cNvSpPr txBox="1"/>
          <p:nvPr/>
        </p:nvSpPr>
        <p:spPr>
          <a:xfrm>
            <a:off x="4526280" y="3154680"/>
            <a:ext cx="3108960" cy="21945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Explains a case under each definition</a:t>
            </a:r>
            <a:endParaRPr lang="en-US" sz="1200" dirty="0"/>
          </a:p>
          <a:p>
            <a:pPr marL="342900" indent="-342900">
              <a:spcAft>
                <a:spcPts val="500"/>
              </a:spcAft>
              <a:buSzPct val="100000"/>
              <a:buChar char="•"/>
            </a:pPr>
            <a:r>
              <a:rPr lang="en-US" sz="1200" dirty="0">
                <a:solidFill>
                  <a:schemeClr val="tx1"/>
                </a:solidFill>
              </a:rPr>
              <a:t>Explains why an item is in a queue</a:t>
            </a:r>
            <a:endParaRPr lang="en-US" sz="1200" dirty="0"/>
          </a:p>
          <a:p>
            <a:pPr marL="342900" indent="-342900">
              <a:spcAft>
                <a:spcPts val="500"/>
              </a:spcAft>
              <a:buSzPct val="100000"/>
              <a:buChar char="•"/>
            </a:pPr>
            <a:r>
              <a:rPr lang="en-US" sz="1200" dirty="0">
                <a:solidFill>
                  <a:schemeClr val="tx1"/>
                </a:solidFill>
              </a:rPr>
              <a:t>Answers rule and metric questions with citations</a:t>
            </a:r>
            <a:endParaRPr lang="en-US" sz="1200" dirty="0"/>
          </a:p>
          <a:p>
            <a:pPr marL="342900" indent="-342900">
              <a:spcAft>
                <a:spcPts val="500"/>
              </a:spcAft>
              <a:buSzPct val="100000"/>
              <a:buChar char="•"/>
            </a:pPr>
            <a:r>
              <a:rPr lang="en-US" sz="1200" dirty="0">
                <a:solidFill>
                  <a:schemeClr val="tx1"/>
                </a:solidFill>
              </a:rPr>
              <a:t>Refuses action requests before any call</a:t>
            </a:r>
            <a:endParaRPr lang="en-US" sz="1200" dirty="0"/>
          </a:p>
        </p:txBody>
      </p:sp>
      <p:sp>
        <p:nvSpPr>
          <p:cNvPr id="16" name="Text 11"/>
          <p:cNvSpPr txBox="1"/>
          <p:nvPr/>
        </p:nvSpPr>
        <p:spPr>
          <a:xfrm>
            <a:off x="4526280" y="5532120"/>
            <a:ext cx="3108960" cy="365760"/>
          </a:xfrm>
          <a:prstGeom prst="rect">
            <a:avLst/>
          </a:prstGeom>
          <a:noFill/>
          <a:ln/>
        </p:spPr>
        <p:txBody>
          <a:bodyPr wrap="square" lIns="0" tIns="0" rIns="0" bIns="0" rtlCol="0" anchor="t"/>
          <a:lstStyle/>
          <a:p>
            <a:pPr marL="0" indent="0">
              <a:buNone/>
            </a:pPr>
            <a:r>
              <a:rPr lang="en-US" sz="1200" b="1" dirty="0">
                <a:solidFill>
                  <a:schemeClr val="accent1"/>
                </a:solidFill>
              </a:rPr>
              <a:t>New; not yet evaluated (RQ-1)</a:t>
            </a:r>
            <a:endParaRPr lang="en-US" sz="1200" dirty="0"/>
          </a:p>
        </p:txBody>
      </p:sp>
      <p:sp>
        <p:nvSpPr>
          <p:cNvPr id="17" name="card"/>
          <p:cNvSpPr/>
          <p:nvPr/>
        </p:nvSpPr>
        <p:spPr>
          <a:xfrm>
            <a:off x="8046720" y="2148840"/>
            <a:ext cx="3611880" cy="3931920"/>
          </a:xfrm>
          <a:prstGeom prst="roundRect">
            <a:avLst>
              <a:gd name="adj" fmla="val 2025"/>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8" name="icon-circle"/>
          <p:cNvSpPr/>
          <p:nvPr/>
        </p:nvSpPr>
        <p:spPr>
          <a:xfrm>
            <a:off x="8275320" y="2377440"/>
            <a:ext cx="566928" cy="566928"/>
          </a:xfrm>
          <a:prstGeom prst="ellipse">
            <a:avLst/>
          </a:prstGeom>
          <a:solidFill>
            <a:srgbClr val="E1251B"/>
          </a:solidFill>
          <a:ln w="12700">
            <a:solidFill>
              <a:srgbClr val="E1251B"/>
            </a:solidFill>
            <a:prstDash val="solid"/>
          </a:ln>
        </p:spPr>
      </p:sp>
      <p:pic>
        <p:nvPicPr>
          <p:cNvPr id="19" name="Image 2" descr="FaRobot"/>
          <p:cNvPicPr>
            <a:picLocks noChangeAspect="1"/>
          </p:cNvPicPr>
          <p:nvPr/>
        </p:nvPicPr>
        <p:blipFill>
          <a:blip r:embed="rId5"/>
          <a:stretch>
            <a:fillRect/>
          </a:stretch>
        </p:blipFill>
        <p:spPr>
          <a:xfrm>
            <a:off x="8422721" y="2524841"/>
            <a:ext cx="272125" cy="272125"/>
          </a:xfrm>
          <a:prstGeom prst="rect">
            <a:avLst/>
          </a:prstGeom>
        </p:spPr>
      </p:pic>
      <p:sp>
        <p:nvSpPr>
          <p:cNvPr id="20" name="Text 14"/>
          <p:cNvSpPr txBox="1"/>
          <p:nvPr/>
        </p:nvSpPr>
        <p:spPr>
          <a:xfrm>
            <a:off x="8961120" y="2468880"/>
            <a:ext cx="2560320" cy="411480"/>
          </a:xfrm>
          <a:prstGeom prst="rect">
            <a:avLst/>
          </a:prstGeom>
          <a:noFill/>
          <a:ln/>
        </p:spPr>
        <p:txBody>
          <a:bodyPr wrap="square" lIns="0" tIns="0" rIns="0" bIns="0" rtlCol="0" anchor="t"/>
          <a:lstStyle/>
          <a:p>
            <a:pPr marL="0" indent="0">
              <a:buNone/>
            </a:pPr>
            <a:r>
              <a:rPr lang="en-US" sz="1600" b="1" dirty="0">
                <a:solidFill>
                  <a:schemeClr val="tx1"/>
                </a:solidFill>
              </a:rPr>
              <a:t>GenAI in delivery</a:t>
            </a:r>
            <a:endParaRPr lang="en-US" sz="1600" dirty="0"/>
          </a:p>
        </p:txBody>
      </p:sp>
      <p:sp>
        <p:nvSpPr>
          <p:cNvPr id="21" name="Text 15"/>
          <p:cNvSpPr txBox="1"/>
          <p:nvPr/>
        </p:nvSpPr>
        <p:spPr>
          <a:xfrm>
            <a:off x="8321040" y="3154680"/>
            <a:ext cx="3108960" cy="21945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Ran the 42-stage FDE spine with agents</a:t>
            </a:r>
            <a:endParaRPr lang="en-US" sz="1200" dirty="0"/>
          </a:p>
          <a:p>
            <a:pPr marL="342900" indent="-342900">
              <a:spcAft>
                <a:spcPts val="500"/>
              </a:spcAft>
              <a:buSzPct val="100000"/>
              <a:buChar char="•"/>
            </a:pPr>
            <a:r>
              <a:rPr lang="en-US" sz="1200" dirty="0">
                <a:solidFill>
                  <a:schemeClr val="tx1"/>
                </a:solidFill>
              </a:rPr>
              <a:t>Captured the semantic layer for model portability</a:t>
            </a:r>
            <a:endParaRPr lang="en-US" sz="1200" dirty="0"/>
          </a:p>
          <a:p>
            <a:pPr marL="342900" indent="-342900">
              <a:spcAft>
                <a:spcPts val="500"/>
              </a:spcAft>
              <a:buSzPct val="100000"/>
              <a:buChar char="•"/>
            </a:pPr>
            <a:r>
              <a:rPr lang="en-US" sz="1200" dirty="0">
                <a:solidFill>
                  <a:schemeClr val="tx1"/>
                </a:solidFill>
              </a:rPr>
              <a:t>Generated specs, tests and evidence</a:t>
            </a:r>
            <a:endParaRPr lang="en-US" sz="1200" dirty="0"/>
          </a:p>
          <a:p>
            <a:pPr marL="342900" indent="-342900">
              <a:spcAft>
                <a:spcPts val="500"/>
              </a:spcAft>
              <a:buSzPct val="100000"/>
              <a:buChar char="•"/>
            </a:pPr>
            <a:r>
              <a:rPr lang="en-US" sz="1200" dirty="0">
                <a:solidFill>
                  <a:schemeClr val="tx1"/>
                </a:solidFill>
              </a:rPr>
              <a:t>4 defects caught only by independent regression</a:t>
            </a:r>
            <a:endParaRPr lang="en-US" sz="1200" dirty="0"/>
          </a:p>
        </p:txBody>
      </p:sp>
      <p:sp>
        <p:nvSpPr>
          <p:cNvPr id="22" name="Text 16"/>
          <p:cNvSpPr txBox="1"/>
          <p:nvPr/>
        </p:nvSpPr>
        <p:spPr>
          <a:xfrm>
            <a:off x="8321040" y="5532120"/>
            <a:ext cx="3108960" cy="365760"/>
          </a:xfrm>
          <a:prstGeom prst="rect">
            <a:avLst/>
          </a:prstGeom>
          <a:noFill/>
          <a:ln/>
        </p:spPr>
        <p:txBody>
          <a:bodyPr wrap="square" lIns="0" tIns="0" rIns="0" bIns="0" rtlCol="0" anchor="t"/>
          <a:lstStyle/>
          <a:p>
            <a:pPr marL="0" indent="0">
              <a:buNone/>
            </a:pPr>
            <a:r>
              <a:rPr lang="en-US" sz="1200" b="1" dirty="0">
                <a:solidFill>
                  <a:schemeClr val="accent1"/>
                </a:solidFill>
              </a:rPr>
              <a:t>Effort saving not recorded (LL-14)</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Value  ·  Why GenAI, and its limits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WHAT AI CAN DO HERE,</a:t>
            </a:r>
            <a:endParaRPr lang="en-US" sz="3000" dirty="0"/>
          </a:p>
          <a:p>
            <a:pPr marL="0" indent="0" algn="l">
              <a:lnSpc>
                <a:spcPct val="95000"/>
              </a:lnSpc>
              <a:buNone/>
            </a:pPr>
            <a:r>
              <a:rPr lang="en-US" sz="3000" b="1" dirty="0">
                <a:solidFill>
                  <a:schemeClr val="accent1"/>
                </a:solidFill>
              </a:rPr>
              <a:t>AND WHAT IT MUST NEVER DO</a:t>
            </a:r>
            <a:endParaRPr lang="en-US" sz="3000" dirty="0"/>
          </a:p>
        </p:txBody>
      </p:sp>
      <p:sp>
        <p:nvSpPr>
          <p:cNvPr id="5" name="card"/>
          <p:cNvSpPr/>
          <p:nvPr/>
        </p:nvSpPr>
        <p:spPr>
          <a:xfrm>
            <a:off x="457200" y="2148840"/>
            <a:ext cx="5486400" cy="3931920"/>
          </a:xfrm>
          <a:prstGeom prst="roundRect">
            <a:avLst>
              <a:gd name="adj" fmla="val 1860"/>
            </a:avLst>
          </a:prstGeom>
          <a:solidFill>
            <a:srgbClr val="E7F4EC"/>
          </a:solidFill>
          <a:ln w="9525">
            <a:solidFill>
              <a:srgbClr val="BFE3CC"/>
            </a:solidFill>
            <a:prstDash val="solid"/>
          </a:ln>
        </p:spPr>
      </p:sp>
      <p:sp>
        <p:nvSpPr>
          <p:cNvPr id="6" name="card"/>
          <p:cNvSpPr/>
          <p:nvPr/>
        </p:nvSpPr>
        <p:spPr>
          <a:xfrm>
            <a:off x="6245352" y="2148840"/>
            <a:ext cx="5486400" cy="3931920"/>
          </a:xfrm>
          <a:prstGeom prst="roundRect">
            <a:avLst>
              <a:gd name="adj" fmla="val 1860"/>
            </a:avLst>
          </a:prstGeom>
          <a:solidFill>
            <a:srgbClr val="FDECEA"/>
          </a:solidFill>
          <a:ln w="9525">
            <a:solidFill>
              <a:srgbClr val="F3C9C6"/>
            </a:solidFill>
            <a:prstDash val="solid"/>
          </a:ln>
        </p:spPr>
      </p:sp>
      <p:sp>
        <p:nvSpPr>
          <p:cNvPr id="7" name="Text 4"/>
          <p:cNvSpPr txBox="1"/>
          <p:nvPr/>
        </p:nvSpPr>
        <p:spPr>
          <a:xfrm>
            <a:off x="731520" y="2331720"/>
            <a:ext cx="2743200" cy="320040"/>
          </a:xfrm>
          <a:prstGeom prst="rect">
            <a:avLst/>
          </a:prstGeom>
          <a:noFill/>
          <a:ln/>
        </p:spPr>
        <p:txBody>
          <a:bodyPr wrap="square" lIns="0" tIns="0" rIns="0" bIns="0" rtlCol="0" anchor="t"/>
          <a:lstStyle/>
          <a:p>
            <a:pPr marL="0" indent="0">
              <a:buNone/>
            </a:pPr>
            <a:r>
              <a:rPr lang="en-US" sz="1400" b="1" kern="0" spc="200" dirty="0">
                <a:solidFill>
                  <a:srgbClr val="2E7D4F"/>
                </a:solidFill>
              </a:rPr>
              <a:t>AI CAN</a:t>
            </a:r>
            <a:endParaRPr lang="en-US" sz="1400" dirty="0"/>
          </a:p>
        </p:txBody>
      </p:sp>
      <p:sp>
        <p:nvSpPr>
          <p:cNvPr id="8" name="Text 5"/>
          <p:cNvSpPr txBox="1"/>
          <p:nvPr/>
        </p:nvSpPr>
        <p:spPr>
          <a:xfrm>
            <a:off x="6519672" y="2331720"/>
            <a:ext cx="4572000" cy="320040"/>
          </a:xfrm>
          <a:prstGeom prst="rect">
            <a:avLst/>
          </a:prstGeom>
          <a:noFill/>
          <a:ln/>
        </p:spPr>
        <p:txBody>
          <a:bodyPr wrap="square" lIns="0" tIns="0" rIns="0" bIns="0" rtlCol="0" anchor="t"/>
          <a:lstStyle/>
          <a:p>
            <a:pPr marL="0" indent="0">
              <a:buNone/>
            </a:pPr>
            <a:r>
              <a:rPr lang="en-US" sz="1400" b="1" kern="0" spc="200" dirty="0">
                <a:solidFill>
                  <a:schemeClr val="accent1"/>
                </a:solidFill>
              </a:rPr>
              <a:t>AI CANNOT, BY DESIGN</a:t>
            </a:r>
            <a:endParaRPr lang="en-US" sz="1400" dirty="0"/>
          </a:p>
        </p:txBody>
      </p:sp>
      <p:sp>
        <p:nvSpPr>
          <p:cNvPr id="9" name="Text 6"/>
          <p:cNvSpPr txBox="1"/>
          <p:nvPr/>
        </p:nvSpPr>
        <p:spPr>
          <a:xfrm>
            <a:off x="731520" y="2788920"/>
            <a:ext cx="493776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Explain a case under D-OPS, D-EVID and D-FIN</a:t>
            </a:r>
            <a:endParaRPr lang="en-US" sz="1600" dirty="0"/>
          </a:p>
          <a:p>
            <a:pPr marL="342900" indent="-342900">
              <a:spcAft>
                <a:spcPts val="1000"/>
              </a:spcAft>
              <a:buSzPct val="100000"/>
              <a:buChar char="•"/>
            </a:pPr>
            <a:r>
              <a:rPr lang="en-US" sz="1600" dirty="0">
                <a:solidFill>
                  <a:schemeClr val="tx1"/>
                </a:solidFill>
              </a:rPr>
              <a:t>Explain why a feed item is in a queue, and what to check</a:t>
            </a:r>
            <a:endParaRPr lang="en-US" sz="1600" dirty="0"/>
          </a:p>
          <a:p>
            <a:pPr marL="342900" indent="-342900">
              <a:spcAft>
                <a:spcPts val="1000"/>
              </a:spcAft>
              <a:buSzPct val="100000"/>
              <a:buChar char="•"/>
            </a:pPr>
            <a:r>
              <a:rPr lang="en-US" sz="1600" dirty="0">
                <a:solidFill>
                  <a:schemeClr val="tx1"/>
                </a:solidFill>
              </a:rPr>
              <a:t>Find the rule, metric or open decision behind a number</a:t>
            </a:r>
            <a:endParaRPr lang="en-US" sz="1600" dirty="0"/>
          </a:p>
          <a:p>
            <a:pPr marL="342900" indent="-342900">
              <a:spcAft>
                <a:spcPts val="1000"/>
              </a:spcAft>
              <a:buSzPct val="100000"/>
              <a:buChar char="•"/>
            </a:pPr>
            <a:r>
              <a:rPr lang="en-US" sz="1600" dirty="0">
                <a:solidFill>
                  <a:schemeClr val="tx1"/>
                </a:solidFill>
              </a:rPr>
              <a:t>Flag instruction-like text in partner data</a:t>
            </a:r>
            <a:endParaRPr lang="en-US" sz="1600" dirty="0"/>
          </a:p>
          <a:p>
            <a:pPr marL="342900" indent="-342900">
              <a:spcAft>
                <a:spcPts val="1000"/>
              </a:spcAft>
              <a:buSzPct val="100000"/>
              <a:buChar char="•"/>
            </a:pPr>
            <a:r>
              <a:rPr lang="en-US" sz="1600" dirty="0">
                <a:solidFill>
                  <a:schemeClr val="tx1"/>
                </a:solidFill>
              </a:rPr>
              <a:t>Help regenerate the app from the semantic layer on another model</a:t>
            </a:r>
            <a:endParaRPr lang="en-US" sz="1600" dirty="0"/>
          </a:p>
        </p:txBody>
      </p:sp>
      <p:sp>
        <p:nvSpPr>
          <p:cNvPr id="10" name="Text 7"/>
          <p:cNvSpPr txBox="1"/>
          <p:nvPr/>
        </p:nvSpPr>
        <p:spPr>
          <a:xfrm>
            <a:off x="6519672" y="2788920"/>
            <a:ext cx="493776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Approve, release, sign, close or disposition anything</a:t>
            </a:r>
            <a:endParaRPr lang="en-US" sz="1600" dirty="0"/>
          </a:p>
          <a:p>
            <a:pPr marL="342900" indent="-342900">
              <a:spcAft>
                <a:spcPts val="1000"/>
              </a:spcAft>
              <a:buSzPct val="100000"/>
              <a:buChar char="•"/>
            </a:pPr>
            <a:r>
              <a:rPr lang="en-US" sz="1600" dirty="0">
                <a:solidFill>
                  <a:schemeClr val="tx1"/>
                </a:solidFill>
              </a:rPr>
              <a:t>Choose what 'closed' means or map one vocabulary onto another</a:t>
            </a:r>
            <a:endParaRPr lang="en-US" sz="1600" dirty="0"/>
          </a:p>
          <a:p>
            <a:pPr marL="342900" indent="-342900">
              <a:spcAft>
                <a:spcPts val="1000"/>
              </a:spcAft>
              <a:buSzPct val="100000"/>
              <a:buChar char="•"/>
            </a:pPr>
            <a:r>
              <a:rPr lang="en-US" sz="1600" dirty="0">
                <a:solidFill>
                  <a:schemeClr val="tx1"/>
                </a:solidFill>
              </a:rPr>
              <a:t>Invent a number, a target or an ROI</a:t>
            </a:r>
            <a:endParaRPr lang="en-US" sz="1600" dirty="0"/>
          </a:p>
          <a:p>
            <a:pPr marL="342900" indent="-342900">
              <a:spcAft>
                <a:spcPts val="1000"/>
              </a:spcAft>
              <a:buSzPct val="100000"/>
              <a:buChar char="•"/>
            </a:pPr>
            <a:r>
              <a:rPr lang="en-US" sz="1600" dirty="0">
                <a:solidFill>
                  <a:schemeClr val="tx1"/>
                </a:solidFill>
              </a:rPr>
              <a:t>Follow instructions hidden in source data</a:t>
            </a:r>
            <a:endParaRPr lang="en-US" sz="1600" dirty="0"/>
          </a:p>
          <a:p>
            <a:pPr marL="342900" indent="-342900">
              <a:spcAft>
                <a:spcPts val="1000"/>
              </a:spcAft>
              <a:buSzPct val="100000"/>
              <a:buChar char="•"/>
            </a:pPr>
            <a:r>
              <a:rPr lang="en-US" sz="1600" dirty="0">
                <a:solidFill>
                  <a:schemeClr val="tx1"/>
                </a:solidFill>
              </a:rPr>
              <a:t>Act without a human: autonomy stays at A1</a:t>
            </a:r>
            <a:endParaRPr lang="en-US" sz="16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Value  ·  Business implications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WHAT A LEADER</a:t>
            </a:r>
            <a:endParaRPr lang="en-US" sz="3000" dirty="0"/>
          </a:p>
          <a:p>
            <a:pPr marL="0" indent="0" algn="l">
              <a:lnSpc>
                <a:spcPct val="95000"/>
              </a:lnSpc>
              <a:buNone/>
            </a:pPr>
            <a:r>
              <a:rPr lang="en-US" sz="3000" b="1" dirty="0">
                <a:solidFill>
                  <a:schemeClr val="accent1"/>
                </a:solidFill>
              </a:rPr>
              <a:t>CAN TAKE FROM THIS TODAY</a:t>
            </a:r>
            <a:endParaRPr lang="en-US" sz="3000" dirty="0"/>
          </a:p>
        </p:txBody>
      </p:sp>
      <p:sp>
        <p:nvSpPr>
          <p:cNvPr id="5" name="card"/>
          <p:cNvSpPr/>
          <p:nvPr/>
        </p:nvSpPr>
        <p:spPr>
          <a:xfrm>
            <a:off x="457200" y="2148840"/>
            <a:ext cx="548640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icon-circle"/>
          <p:cNvSpPr/>
          <p:nvPr/>
        </p:nvSpPr>
        <p:spPr>
          <a:xfrm>
            <a:off x="731520" y="2423160"/>
            <a:ext cx="566928" cy="566928"/>
          </a:xfrm>
          <a:prstGeom prst="ellipse">
            <a:avLst/>
          </a:prstGeom>
          <a:solidFill>
            <a:srgbClr val="E1251B"/>
          </a:solidFill>
          <a:ln w="12700">
            <a:solidFill>
              <a:srgbClr val="E1251B"/>
            </a:solidFill>
            <a:prstDash val="solid"/>
          </a:ln>
        </p:spPr>
      </p:sp>
      <p:pic>
        <p:nvPicPr>
          <p:cNvPr id="7" name="Image 0" descr="FaShieldAlt"/>
          <p:cNvPicPr>
            <a:picLocks noChangeAspect="1"/>
          </p:cNvPicPr>
          <p:nvPr/>
        </p:nvPicPr>
        <p:blipFill>
          <a:blip r:embed="rId3"/>
          <a:stretch>
            <a:fillRect/>
          </a:stretch>
        </p:blipFill>
        <p:spPr>
          <a:xfrm>
            <a:off x="878921" y="2570561"/>
            <a:ext cx="272125" cy="272125"/>
          </a:xfrm>
          <a:prstGeom prst="rect">
            <a:avLst/>
          </a:prstGeom>
        </p:spPr>
      </p:pic>
      <p:sp>
        <p:nvSpPr>
          <p:cNvPr id="8" name="Text 4"/>
          <p:cNvSpPr txBox="1"/>
          <p:nvPr/>
        </p:nvSpPr>
        <p:spPr>
          <a:xfrm>
            <a:off x="1508760" y="2450592"/>
            <a:ext cx="4206240" cy="365760"/>
          </a:xfrm>
          <a:prstGeom prst="rect">
            <a:avLst/>
          </a:prstGeom>
          <a:noFill/>
          <a:ln/>
        </p:spPr>
        <p:txBody>
          <a:bodyPr wrap="square" lIns="0" tIns="0" rIns="0" bIns="0" rtlCol="0" anchor="t"/>
          <a:lstStyle/>
          <a:p>
            <a:pPr marL="0" indent="0">
              <a:buNone/>
            </a:pPr>
            <a:r>
              <a:rPr lang="en-US" sz="1600" b="1" dirty="0">
                <a:solidFill>
                  <a:schemeClr val="tx1"/>
                </a:solidFill>
              </a:rPr>
              <a:t>Risk removed by design</a:t>
            </a:r>
            <a:endParaRPr lang="en-US" sz="1600" dirty="0"/>
          </a:p>
        </p:txBody>
      </p:sp>
      <p:sp>
        <p:nvSpPr>
          <p:cNvPr id="9" name="Text 5"/>
          <p:cNvSpPr txBox="1"/>
          <p:nvPr/>
        </p:nvSpPr>
        <p:spPr>
          <a:xfrm>
            <a:off x="1508760" y="2880360"/>
            <a:ext cx="4206240" cy="1005840"/>
          </a:xfrm>
          <a:prstGeom prst="rect">
            <a:avLst/>
          </a:prstGeom>
          <a:noFill/>
          <a:ln/>
        </p:spPr>
        <p:txBody>
          <a:bodyPr wrap="square" lIns="0" tIns="0" rIns="0" bIns="0" rtlCol="0" anchor="t"/>
          <a:lstStyle/>
          <a:p>
            <a:pPr marL="0" indent="0">
              <a:buNone/>
            </a:pPr>
            <a:r>
              <a:rPr lang="en-US" sz="1300" dirty="0">
                <a:solidFill>
                  <a:schemeClr val="tx2"/>
                </a:solidFill>
              </a:rPr>
              <a:t>Unrecorded decisions, destructive replays and inflated month-ends are structurally refused, not just fixed once.</a:t>
            </a:r>
            <a:endParaRPr lang="en-US" sz="1300" dirty="0"/>
          </a:p>
        </p:txBody>
      </p:sp>
      <p:sp>
        <p:nvSpPr>
          <p:cNvPr id="10" name="card"/>
          <p:cNvSpPr/>
          <p:nvPr/>
        </p:nvSpPr>
        <p:spPr>
          <a:xfrm>
            <a:off x="6172200" y="2148840"/>
            <a:ext cx="548640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1" name="icon-circle"/>
          <p:cNvSpPr/>
          <p:nvPr/>
        </p:nvSpPr>
        <p:spPr>
          <a:xfrm>
            <a:off x="6446520" y="2423160"/>
            <a:ext cx="566928" cy="566928"/>
          </a:xfrm>
          <a:prstGeom prst="ellipse">
            <a:avLst/>
          </a:prstGeom>
          <a:solidFill>
            <a:srgbClr val="E1251B"/>
          </a:solidFill>
          <a:ln w="12700">
            <a:solidFill>
              <a:srgbClr val="E1251B"/>
            </a:solidFill>
            <a:prstDash val="solid"/>
          </a:ln>
        </p:spPr>
      </p:sp>
      <p:pic>
        <p:nvPicPr>
          <p:cNvPr id="12" name="Image 1" descr="FaLayerGroup"/>
          <p:cNvPicPr>
            <a:picLocks noChangeAspect="1"/>
          </p:cNvPicPr>
          <p:nvPr/>
        </p:nvPicPr>
        <p:blipFill>
          <a:blip r:embed="rId4"/>
          <a:stretch>
            <a:fillRect/>
          </a:stretch>
        </p:blipFill>
        <p:spPr>
          <a:xfrm>
            <a:off x="6593921" y="2570561"/>
            <a:ext cx="272125" cy="272125"/>
          </a:xfrm>
          <a:prstGeom prst="rect">
            <a:avLst/>
          </a:prstGeom>
        </p:spPr>
      </p:pic>
      <p:sp>
        <p:nvSpPr>
          <p:cNvPr id="13" name="Text 8"/>
          <p:cNvSpPr txBox="1"/>
          <p:nvPr/>
        </p:nvSpPr>
        <p:spPr>
          <a:xfrm>
            <a:off x="7223760" y="2450592"/>
            <a:ext cx="4206240" cy="365760"/>
          </a:xfrm>
          <a:prstGeom prst="rect">
            <a:avLst/>
          </a:prstGeom>
          <a:noFill/>
          <a:ln/>
        </p:spPr>
        <p:txBody>
          <a:bodyPr wrap="square" lIns="0" tIns="0" rIns="0" bIns="0" rtlCol="0" anchor="t"/>
          <a:lstStyle/>
          <a:p>
            <a:pPr marL="0" indent="0">
              <a:buNone/>
            </a:pPr>
            <a:r>
              <a:rPr lang="en-US" sz="1600" b="1" dirty="0">
                <a:solidFill>
                  <a:schemeClr val="tx1"/>
                </a:solidFill>
              </a:rPr>
              <a:t>A reusable semantic layer</a:t>
            </a:r>
            <a:endParaRPr lang="en-US" sz="1600" dirty="0"/>
          </a:p>
        </p:txBody>
      </p:sp>
      <p:sp>
        <p:nvSpPr>
          <p:cNvPr id="14" name="Text 9"/>
          <p:cNvSpPr txBox="1"/>
          <p:nvPr/>
        </p:nvSpPr>
        <p:spPr>
          <a:xfrm>
            <a:off x="7223760" y="2880360"/>
            <a:ext cx="4206240" cy="1005840"/>
          </a:xfrm>
          <a:prstGeom prst="rect">
            <a:avLst/>
          </a:prstGeom>
          <a:noFill/>
          <a:ln/>
        </p:spPr>
        <p:txBody>
          <a:bodyPr wrap="square" lIns="0" tIns="0" rIns="0" bIns="0" rtlCol="0" anchor="t"/>
          <a:lstStyle/>
          <a:p>
            <a:pPr marL="0" indent="0">
              <a:buNone/>
            </a:pPr>
            <a:r>
              <a:rPr lang="en-US" sz="1300" dirty="0">
                <a:solidFill>
                  <a:schemeClr val="tx2"/>
                </a:solidFill>
              </a:rPr>
              <a:t>34 entities, 56 vocabularies and 48 rules in tested YAML: the context any model, or any new team, needs on day one.</a:t>
            </a:r>
            <a:endParaRPr lang="en-US" sz="1300" dirty="0"/>
          </a:p>
        </p:txBody>
      </p:sp>
      <p:sp>
        <p:nvSpPr>
          <p:cNvPr id="15" name="card"/>
          <p:cNvSpPr/>
          <p:nvPr/>
        </p:nvSpPr>
        <p:spPr>
          <a:xfrm>
            <a:off x="457200" y="4160520"/>
            <a:ext cx="548640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6" name="icon-circle"/>
          <p:cNvSpPr/>
          <p:nvPr/>
        </p:nvSpPr>
        <p:spPr>
          <a:xfrm>
            <a:off x="731520" y="4434840"/>
            <a:ext cx="566928" cy="566928"/>
          </a:xfrm>
          <a:prstGeom prst="ellipse">
            <a:avLst/>
          </a:prstGeom>
          <a:solidFill>
            <a:srgbClr val="E1251B"/>
          </a:solidFill>
          <a:ln w="12700">
            <a:solidFill>
              <a:srgbClr val="E1251B"/>
            </a:solidFill>
            <a:prstDash val="solid"/>
          </a:ln>
        </p:spPr>
      </p:sp>
      <p:pic>
        <p:nvPicPr>
          <p:cNvPr id="17" name="Image 2" descr="FaRoute"/>
          <p:cNvPicPr>
            <a:picLocks noChangeAspect="1"/>
          </p:cNvPicPr>
          <p:nvPr/>
        </p:nvPicPr>
        <p:blipFill>
          <a:blip r:embed="rId5"/>
          <a:stretch>
            <a:fillRect/>
          </a:stretch>
        </p:blipFill>
        <p:spPr>
          <a:xfrm>
            <a:off x="878921" y="4582241"/>
            <a:ext cx="272125" cy="272125"/>
          </a:xfrm>
          <a:prstGeom prst="rect">
            <a:avLst/>
          </a:prstGeom>
        </p:spPr>
      </p:pic>
      <p:sp>
        <p:nvSpPr>
          <p:cNvPr id="18" name="Text 12"/>
          <p:cNvSpPr txBox="1"/>
          <p:nvPr/>
        </p:nvSpPr>
        <p:spPr>
          <a:xfrm>
            <a:off x="1508760" y="4462272"/>
            <a:ext cx="4206240" cy="365760"/>
          </a:xfrm>
          <a:prstGeom prst="rect">
            <a:avLst/>
          </a:prstGeom>
          <a:noFill/>
          <a:ln/>
        </p:spPr>
        <p:txBody>
          <a:bodyPr wrap="square" lIns="0" tIns="0" rIns="0" bIns="0" rtlCol="0" anchor="t"/>
          <a:lstStyle/>
          <a:p>
            <a:pPr marL="0" indent="0">
              <a:buNone/>
            </a:pPr>
            <a:r>
              <a:rPr lang="en-US" sz="1600" b="1" dirty="0">
                <a:solidFill>
                  <a:schemeClr val="tx1"/>
                </a:solidFill>
              </a:rPr>
              <a:t>A path to measured value</a:t>
            </a:r>
            <a:endParaRPr lang="en-US" sz="1600" dirty="0"/>
          </a:p>
        </p:txBody>
      </p:sp>
      <p:sp>
        <p:nvSpPr>
          <p:cNvPr id="19" name="Text 13"/>
          <p:cNvSpPr txBox="1"/>
          <p:nvPr/>
        </p:nvSpPr>
        <p:spPr>
          <a:xfrm>
            <a:off x="1508760" y="4892040"/>
            <a:ext cx="4206240" cy="1005840"/>
          </a:xfrm>
          <a:prstGeom prst="rect">
            <a:avLst/>
          </a:prstGeom>
          <a:noFill/>
          <a:ln/>
        </p:spPr>
        <p:txBody>
          <a:bodyPr wrap="square" lIns="0" tIns="0" rIns="0" bIns="0" rtlCol="0" anchor="t"/>
          <a:lstStyle/>
          <a:p>
            <a:pPr marL="0" indent="0">
              <a:buNone/>
            </a:pPr>
            <a:r>
              <a:rPr lang="en-US" sz="1300" dirty="0">
                <a:solidFill>
                  <a:schemeClr val="tx2"/>
                </a:solidFill>
              </a:rPr>
              <a:t>A 90-day gated pilot on one site defines the after-window that ROI, time and effort need.</a:t>
            </a:r>
            <a:endParaRPr lang="en-US" sz="1300" dirty="0"/>
          </a:p>
        </p:txBody>
      </p:sp>
      <p:sp>
        <p:nvSpPr>
          <p:cNvPr id="20" name="card"/>
          <p:cNvSpPr/>
          <p:nvPr/>
        </p:nvSpPr>
        <p:spPr>
          <a:xfrm>
            <a:off x="6172200" y="4160520"/>
            <a:ext cx="5486400" cy="1828800"/>
          </a:xfrm>
          <a:prstGeom prst="roundRect">
            <a:avLst>
              <a:gd name="adj" fmla="val 4000"/>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1" name="icon-circle"/>
          <p:cNvSpPr/>
          <p:nvPr/>
        </p:nvSpPr>
        <p:spPr>
          <a:xfrm>
            <a:off x="6446520" y="4434840"/>
            <a:ext cx="566928" cy="566928"/>
          </a:xfrm>
          <a:prstGeom prst="ellipse">
            <a:avLst/>
          </a:prstGeom>
          <a:solidFill>
            <a:srgbClr val="E1251B"/>
          </a:solidFill>
          <a:ln w="12700">
            <a:solidFill>
              <a:srgbClr val="E1251B"/>
            </a:solidFill>
            <a:prstDash val="solid"/>
          </a:ln>
        </p:spPr>
      </p:sp>
      <p:pic>
        <p:nvPicPr>
          <p:cNvPr id="22" name="Image 3" descr="FaCoins"/>
          <p:cNvPicPr>
            <a:picLocks noChangeAspect="1"/>
          </p:cNvPicPr>
          <p:nvPr/>
        </p:nvPicPr>
        <p:blipFill>
          <a:blip r:embed="rId6"/>
          <a:stretch>
            <a:fillRect/>
          </a:stretch>
        </p:blipFill>
        <p:spPr>
          <a:xfrm>
            <a:off x="6593921" y="4582241"/>
            <a:ext cx="272125" cy="272125"/>
          </a:xfrm>
          <a:prstGeom prst="rect">
            <a:avLst/>
          </a:prstGeom>
        </p:spPr>
      </p:pic>
      <p:sp>
        <p:nvSpPr>
          <p:cNvPr id="23" name="Text 16"/>
          <p:cNvSpPr txBox="1"/>
          <p:nvPr/>
        </p:nvSpPr>
        <p:spPr>
          <a:xfrm>
            <a:off x="7223760" y="4462272"/>
            <a:ext cx="4206240" cy="365760"/>
          </a:xfrm>
          <a:prstGeom prst="rect">
            <a:avLst/>
          </a:prstGeom>
          <a:noFill/>
          <a:ln/>
        </p:spPr>
        <p:txBody>
          <a:bodyPr wrap="square" lIns="0" tIns="0" rIns="0" bIns="0" rtlCol="0" anchor="t"/>
          <a:lstStyle/>
          <a:p>
            <a:pPr marL="0" indent="0">
              <a:buNone/>
            </a:pPr>
            <a:r>
              <a:rPr lang="en-US" sz="1600" b="1" dirty="0">
                <a:solidFill>
                  <a:schemeClr val="tx1"/>
                </a:solidFill>
              </a:rPr>
              <a:t>Honest economics</a:t>
            </a:r>
            <a:endParaRPr lang="en-US" sz="1600" dirty="0"/>
          </a:p>
        </p:txBody>
      </p:sp>
      <p:sp>
        <p:nvSpPr>
          <p:cNvPr id="24" name="Text 17"/>
          <p:cNvSpPr txBox="1"/>
          <p:nvPr/>
        </p:nvSpPr>
        <p:spPr>
          <a:xfrm>
            <a:off x="7223760" y="4892040"/>
            <a:ext cx="4206240" cy="1005840"/>
          </a:xfrm>
          <a:prstGeom prst="rect">
            <a:avLst/>
          </a:prstGeom>
          <a:noFill/>
          <a:ln/>
        </p:spPr>
        <p:txBody>
          <a:bodyPr wrap="square" lIns="0" tIns="0" rIns="0" bIns="0" rtlCol="0" anchor="t"/>
          <a:lstStyle/>
          <a:p>
            <a:pPr marL="0" indent="0">
              <a:buNone/>
            </a:pPr>
            <a:r>
              <a:rPr lang="en-US" sz="1300" dirty="0">
                <a:solidFill>
                  <a:schemeClr val="tx2"/>
                </a:solidFill>
              </a:rPr>
              <a:t>Model spend is configurable and zero without a key. ROI, NPV and payback stay 'not computable' until the pilot runs.</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Closing  ·  Lessons learned</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FIVE LESSONS</a:t>
            </a:r>
            <a:endParaRPr lang="en-US" sz="3000" dirty="0"/>
          </a:p>
          <a:p>
            <a:pPr marL="0" indent="0" algn="l">
              <a:lnSpc>
                <a:spcPct val="95000"/>
              </a:lnSpc>
              <a:buNone/>
            </a:pPr>
            <a:r>
              <a:rPr lang="en-US" sz="3000" b="1" dirty="0">
                <a:solidFill>
                  <a:schemeClr val="accent1"/>
                </a:solidFill>
              </a:rPr>
              <a:t>AND WHAT SURPRISED US</a:t>
            </a:r>
            <a:endParaRPr lang="en-US" sz="3000" dirty="0"/>
          </a:p>
        </p:txBody>
      </p:sp>
      <p:sp>
        <p:nvSpPr>
          <p:cNvPr id="5" name="Shape 2"/>
          <p:cNvSpPr/>
          <p:nvPr/>
        </p:nvSpPr>
        <p:spPr>
          <a:xfrm>
            <a:off x="457200" y="2148840"/>
            <a:ext cx="1920240" cy="658368"/>
          </a:xfrm>
          <a:prstGeom prst="roundRect">
            <a:avLst>
              <a:gd name="adj" fmla="val 11111"/>
            </a:avLst>
          </a:prstGeom>
          <a:solidFill>
            <a:srgbClr val="E1251B"/>
          </a:solidFill>
          <a:ln w="12700">
            <a:solidFill>
              <a:srgbClr val="E1251B"/>
            </a:solidFill>
            <a:prstDash val="solid"/>
          </a:ln>
        </p:spPr>
      </p:sp>
      <p:sp>
        <p:nvSpPr>
          <p:cNvPr id="6" name="Text 3"/>
          <p:cNvSpPr txBox="1"/>
          <p:nvPr/>
        </p:nvSpPr>
        <p:spPr>
          <a:xfrm>
            <a:off x="548640" y="2331720"/>
            <a:ext cx="1737360" cy="320040"/>
          </a:xfrm>
          <a:prstGeom prst="rect">
            <a:avLst/>
          </a:prstGeom>
          <a:noFill/>
          <a:ln/>
        </p:spPr>
        <p:txBody>
          <a:bodyPr wrap="square" lIns="0" tIns="0" rIns="0" bIns="0" rtlCol="0" anchor="t"/>
          <a:lstStyle/>
          <a:p>
            <a:pPr marL="0" indent="0" algn="ctr">
              <a:buNone/>
            </a:pPr>
            <a:r>
              <a:rPr lang="en-US" sz="1400" b="1" dirty="0">
                <a:solidFill>
                  <a:schemeClr val="bg1"/>
                </a:solidFill>
              </a:rPr>
              <a:t>Engineering</a:t>
            </a:r>
            <a:endParaRPr lang="en-US" sz="1400" dirty="0"/>
          </a:p>
        </p:txBody>
      </p:sp>
      <p:sp>
        <p:nvSpPr>
          <p:cNvPr id="7" name="Text 4"/>
          <p:cNvSpPr txBox="1"/>
          <p:nvPr/>
        </p:nvSpPr>
        <p:spPr>
          <a:xfrm>
            <a:off x="2606040" y="2240280"/>
            <a:ext cx="9144000" cy="548640"/>
          </a:xfrm>
          <a:prstGeom prst="rect">
            <a:avLst/>
          </a:prstGeom>
          <a:noFill/>
          <a:ln/>
        </p:spPr>
        <p:txBody>
          <a:bodyPr wrap="square" lIns="0" tIns="0" rIns="0" bIns="0" rtlCol="0" anchor="ctr"/>
          <a:lstStyle/>
          <a:p>
            <a:pPr marL="0" indent="0">
              <a:buNone/>
            </a:pPr>
            <a:r>
              <a:rPr lang="en-US" sz="1300" dirty="0">
                <a:solidFill>
                  <a:schemeClr val="tx1"/>
                </a:solidFill>
              </a:rPr>
              <a:t>Independent full regression before merge catches what builders miss: four late defects were found by the orchestrator, not the author.</a:t>
            </a:r>
            <a:endParaRPr lang="en-US" sz="1300" dirty="0"/>
          </a:p>
        </p:txBody>
      </p:sp>
      <p:sp>
        <p:nvSpPr>
          <p:cNvPr id="8" name="Shape 5"/>
          <p:cNvSpPr/>
          <p:nvPr/>
        </p:nvSpPr>
        <p:spPr>
          <a:xfrm>
            <a:off x="457200" y="2935224"/>
            <a:ext cx="1920240" cy="658368"/>
          </a:xfrm>
          <a:prstGeom prst="roundRect">
            <a:avLst>
              <a:gd name="adj" fmla="val 11111"/>
            </a:avLst>
          </a:prstGeom>
          <a:solidFill>
            <a:srgbClr val="E1251B"/>
          </a:solidFill>
          <a:ln w="12700">
            <a:solidFill>
              <a:srgbClr val="E1251B"/>
            </a:solidFill>
            <a:prstDash val="solid"/>
          </a:ln>
        </p:spPr>
      </p:sp>
      <p:sp>
        <p:nvSpPr>
          <p:cNvPr id="9" name="Text 6"/>
          <p:cNvSpPr txBox="1"/>
          <p:nvPr/>
        </p:nvSpPr>
        <p:spPr>
          <a:xfrm>
            <a:off x="548640" y="3118104"/>
            <a:ext cx="1737360" cy="320040"/>
          </a:xfrm>
          <a:prstGeom prst="rect">
            <a:avLst/>
          </a:prstGeom>
          <a:noFill/>
          <a:ln/>
        </p:spPr>
        <p:txBody>
          <a:bodyPr wrap="square" lIns="0" tIns="0" rIns="0" bIns="0" rtlCol="0" anchor="t"/>
          <a:lstStyle/>
          <a:p>
            <a:pPr marL="0" indent="0" algn="ctr">
              <a:buNone/>
            </a:pPr>
            <a:r>
              <a:rPr lang="en-US" sz="1400" b="1" dirty="0">
                <a:solidFill>
                  <a:schemeClr val="bg1"/>
                </a:solidFill>
              </a:rPr>
              <a:t>Business</a:t>
            </a:r>
            <a:endParaRPr lang="en-US" sz="1400" dirty="0"/>
          </a:p>
        </p:txBody>
      </p:sp>
      <p:sp>
        <p:nvSpPr>
          <p:cNvPr id="10" name="Text 7"/>
          <p:cNvSpPr txBox="1"/>
          <p:nvPr/>
        </p:nvSpPr>
        <p:spPr>
          <a:xfrm>
            <a:off x="2606040" y="3026664"/>
            <a:ext cx="9144000" cy="548640"/>
          </a:xfrm>
          <a:prstGeom prst="rect">
            <a:avLst/>
          </a:prstGeom>
          <a:noFill/>
          <a:ln/>
        </p:spPr>
        <p:txBody>
          <a:bodyPr wrap="square" lIns="0" tIns="0" rIns="0" bIns="0" rtlCol="0" anchor="ctr"/>
          <a:lstStyle/>
          <a:p>
            <a:pPr marL="0" indent="0">
              <a:buNone/>
            </a:pPr>
            <a:r>
              <a:rPr lang="en-US" sz="1300" dirty="0">
                <a:solidFill>
                  <a:schemeClr val="tx1"/>
                </a:solidFill>
              </a:rPr>
              <a:t>Value never quantified at framing cannot be computed later. Capture volumes, rate and time from day one.</a:t>
            </a:r>
            <a:endParaRPr lang="en-US" sz="1300" dirty="0"/>
          </a:p>
        </p:txBody>
      </p:sp>
      <p:sp>
        <p:nvSpPr>
          <p:cNvPr id="11" name="Shape 8"/>
          <p:cNvSpPr/>
          <p:nvPr/>
        </p:nvSpPr>
        <p:spPr>
          <a:xfrm>
            <a:off x="457200" y="3721608"/>
            <a:ext cx="1920240" cy="658368"/>
          </a:xfrm>
          <a:prstGeom prst="roundRect">
            <a:avLst>
              <a:gd name="adj" fmla="val 11111"/>
            </a:avLst>
          </a:prstGeom>
          <a:solidFill>
            <a:srgbClr val="E1251B"/>
          </a:solidFill>
          <a:ln w="12700">
            <a:solidFill>
              <a:srgbClr val="E1251B"/>
            </a:solidFill>
            <a:prstDash val="solid"/>
          </a:ln>
        </p:spPr>
      </p:sp>
      <p:sp>
        <p:nvSpPr>
          <p:cNvPr id="12" name="Text 9"/>
          <p:cNvSpPr txBox="1"/>
          <p:nvPr/>
        </p:nvSpPr>
        <p:spPr>
          <a:xfrm>
            <a:off x="548640" y="3904488"/>
            <a:ext cx="1737360" cy="320040"/>
          </a:xfrm>
          <a:prstGeom prst="rect">
            <a:avLst/>
          </a:prstGeom>
          <a:noFill/>
          <a:ln/>
        </p:spPr>
        <p:txBody>
          <a:bodyPr wrap="square" lIns="0" tIns="0" rIns="0" bIns="0" rtlCol="0" anchor="t"/>
          <a:lstStyle/>
          <a:p>
            <a:pPr marL="0" indent="0" algn="ctr">
              <a:buNone/>
            </a:pPr>
            <a:r>
              <a:rPr lang="en-US" sz="1400" b="1" dirty="0">
                <a:solidFill>
                  <a:schemeClr val="bg1"/>
                </a:solidFill>
              </a:rPr>
              <a:t>GenAI limits</a:t>
            </a:r>
            <a:endParaRPr lang="en-US" sz="1400" dirty="0"/>
          </a:p>
        </p:txBody>
      </p:sp>
      <p:sp>
        <p:nvSpPr>
          <p:cNvPr id="13" name="Text 10"/>
          <p:cNvSpPr txBox="1"/>
          <p:nvPr/>
        </p:nvSpPr>
        <p:spPr>
          <a:xfrm>
            <a:off x="2606040" y="3813048"/>
            <a:ext cx="9144000" cy="548640"/>
          </a:xfrm>
          <a:prstGeom prst="rect">
            <a:avLst/>
          </a:prstGeom>
          <a:noFill/>
          <a:ln/>
        </p:spPr>
        <p:txBody>
          <a:bodyPr wrap="square" lIns="0" tIns="0" rIns="0" bIns="0" rtlCol="0" anchor="ctr"/>
          <a:lstStyle/>
          <a:p>
            <a:pPr marL="0" indent="0">
              <a:buNone/>
            </a:pPr>
            <a:r>
              <a:rPr lang="en-US" sz="1300" dirty="0">
                <a:solidFill>
                  <a:schemeClr val="tx1"/>
                </a:solidFill>
              </a:rPr>
              <a:t>Qualify AI against root causes, not fashion. AI built fast, but could not be trusted to check itself.</a:t>
            </a:r>
            <a:endParaRPr lang="en-US" sz="1300" dirty="0"/>
          </a:p>
        </p:txBody>
      </p:sp>
      <p:sp>
        <p:nvSpPr>
          <p:cNvPr id="14" name="Shape 11"/>
          <p:cNvSpPr/>
          <p:nvPr/>
        </p:nvSpPr>
        <p:spPr>
          <a:xfrm>
            <a:off x="457200" y="4507992"/>
            <a:ext cx="1920240" cy="658368"/>
          </a:xfrm>
          <a:prstGeom prst="roundRect">
            <a:avLst>
              <a:gd name="adj" fmla="val 11111"/>
            </a:avLst>
          </a:prstGeom>
          <a:solidFill>
            <a:srgbClr val="4D4D4D"/>
          </a:solidFill>
          <a:ln w="12700">
            <a:solidFill>
              <a:srgbClr val="E1251B"/>
            </a:solidFill>
            <a:prstDash val="solid"/>
          </a:ln>
        </p:spPr>
      </p:sp>
      <p:sp>
        <p:nvSpPr>
          <p:cNvPr id="15" name="Text 12"/>
          <p:cNvSpPr txBox="1"/>
          <p:nvPr/>
        </p:nvSpPr>
        <p:spPr>
          <a:xfrm>
            <a:off x="548640" y="4690872"/>
            <a:ext cx="1737360" cy="320040"/>
          </a:xfrm>
          <a:prstGeom prst="rect">
            <a:avLst/>
          </a:prstGeom>
          <a:noFill/>
          <a:ln/>
        </p:spPr>
        <p:txBody>
          <a:bodyPr wrap="square" lIns="0" tIns="0" rIns="0" bIns="0" rtlCol="0" anchor="t"/>
          <a:lstStyle/>
          <a:p>
            <a:pPr marL="0" indent="0" algn="ctr">
              <a:buNone/>
            </a:pPr>
            <a:r>
              <a:rPr lang="en-US" sz="1400" b="1" dirty="0">
                <a:solidFill>
                  <a:schemeClr val="bg1"/>
                </a:solidFill>
              </a:rPr>
              <a:t>Unexpected</a:t>
            </a:r>
            <a:endParaRPr lang="en-US" sz="1400" dirty="0"/>
          </a:p>
        </p:txBody>
      </p:sp>
      <p:sp>
        <p:nvSpPr>
          <p:cNvPr id="16" name="Text 13"/>
          <p:cNvSpPr txBox="1"/>
          <p:nvPr/>
        </p:nvSpPr>
        <p:spPr>
          <a:xfrm>
            <a:off x="2606040" y="4599432"/>
            <a:ext cx="9144000" cy="548640"/>
          </a:xfrm>
          <a:prstGeom prst="rect">
            <a:avLst/>
          </a:prstGeom>
          <a:noFill/>
          <a:ln/>
        </p:spPr>
        <p:txBody>
          <a:bodyPr wrap="square" lIns="0" tIns="0" rIns="0" bIns="0" rtlCol="0" anchor="ctr"/>
          <a:lstStyle/>
          <a:p>
            <a:pPr marL="0" indent="0">
              <a:buNone/>
            </a:pPr>
            <a:r>
              <a:rPr lang="en-US" sz="1300" dirty="0">
                <a:solidFill>
                  <a:schemeClr val="tx1"/>
                </a:solidFill>
              </a:rPr>
              <a:t>The baseline was test residue: 97.98 % of feed rows unmatched, so most KPIs ended Unknown.</a:t>
            </a:r>
            <a:endParaRPr lang="en-US" sz="1300" dirty="0"/>
          </a:p>
        </p:txBody>
      </p:sp>
      <p:sp>
        <p:nvSpPr>
          <p:cNvPr id="17" name="Shape 14"/>
          <p:cNvSpPr/>
          <p:nvPr/>
        </p:nvSpPr>
        <p:spPr>
          <a:xfrm>
            <a:off x="457200" y="5294376"/>
            <a:ext cx="1920240" cy="658368"/>
          </a:xfrm>
          <a:prstGeom prst="roundRect">
            <a:avLst>
              <a:gd name="adj" fmla="val 11111"/>
            </a:avLst>
          </a:prstGeom>
          <a:solidFill>
            <a:srgbClr val="E1251B"/>
          </a:solidFill>
          <a:ln w="12700">
            <a:solidFill>
              <a:srgbClr val="E1251B"/>
            </a:solidFill>
            <a:prstDash val="solid"/>
          </a:ln>
        </p:spPr>
      </p:sp>
      <p:sp>
        <p:nvSpPr>
          <p:cNvPr id="18" name="Text 15"/>
          <p:cNvSpPr txBox="1"/>
          <p:nvPr/>
        </p:nvSpPr>
        <p:spPr>
          <a:xfrm>
            <a:off x="548640" y="5477256"/>
            <a:ext cx="1737360" cy="320040"/>
          </a:xfrm>
          <a:prstGeom prst="rect">
            <a:avLst/>
          </a:prstGeom>
          <a:noFill/>
          <a:ln/>
        </p:spPr>
        <p:txBody>
          <a:bodyPr wrap="square" lIns="0" tIns="0" rIns="0" bIns="0" rtlCol="0" anchor="t"/>
          <a:lstStyle/>
          <a:p>
            <a:pPr marL="0" indent="0" algn="ctr">
              <a:buNone/>
            </a:pPr>
            <a:r>
              <a:rPr lang="en-US" sz="1400" b="1" dirty="0">
                <a:solidFill>
                  <a:schemeClr val="bg1"/>
                </a:solidFill>
              </a:rPr>
              <a:t>Future</a:t>
            </a:r>
            <a:endParaRPr lang="en-US" sz="1400" dirty="0"/>
          </a:p>
        </p:txBody>
      </p:sp>
      <p:sp>
        <p:nvSpPr>
          <p:cNvPr id="19" name="Text 16"/>
          <p:cNvSpPr txBox="1"/>
          <p:nvPr/>
        </p:nvSpPr>
        <p:spPr>
          <a:xfrm>
            <a:off x="2606040" y="5385816"/>
            <a:ext cx="9144000" cy="548640"/>
          </a:xfrm>
          <a:prstGeom prst="rect">
            <a:avLst/>
          </a:prstGeom>
          <a:noFill/>
          <a:ln/>
        </p:spPr>
        <p:txBody>
          <a:bodyPr wrap="square" lIns="0" tIns="0" rIns="0" bIns="0" rtlCol="0" anchor="ctr"/>
          <a:lstStyle/>
          <a:p>
            <a:pPr marL="0" indent="0">
              <a:buNone/>
            </a:pPr>
            <a:r>
              <a:rPr lang="en-US" sz="1300" dirty="0">
                <a:solidFill>
                  <a:schemeClr val="tx1"/>
                </a:solidFill>
              </a:rPr>
              <a:t>Wire controls as a gate of the build, and appoint a second reviewer: one approver is a single point of failure.</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Closing  ·  Status and decisions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ENGINEERING IS NOT THE CONSTRAINT.</a:t>
            </a:r>
            <a:endParaRPr lang="en-US" sz="3000" dirty="0"/>
          </a:p>
          <a:p>
            <a:pPr marL="0" indent="0" algn="l">
              <a:lnSpc>
                <a:spcPct val="95000"/>
              </a:lnSpc>
              <a:buNone/>
            </a:pPr>
            <a:r>
              <a:rPr lang="en-US" sz="3000" b="1" dirty="0">
                <a:solidFill>
                  <a:schemeClr val="accent1"/>
                </a:solidFill>
              </a:rPr>
              <a:t>DECISIONS ARE</a:t>
            </a:r>
            <a:endParaRPr lang="en-US" sz="3000" dirty="0"/>
          </a:p>
        </p:txBody>
      </p:sp>
      <p:sp>
        <p:nvSpPr>
          <p:cNvPr id="5" name="card"/>
          <p:cNvSpPr/>
          <p:nvPr/>
        </p:nvSpPr>
        <p:spPr>
          <a:xfrm>
            <a:off x="457200" y="2148840"/>
            <a:ext cx="274320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6" name="Text 3"/>
          <p:cNvSpPr txBox="1"/>
          <p:nvPr/>
        </p:nvSpPr>
        <p:spPr>
          <a:xfrm>
            <a:off x="685800" y="2350008"/>
            <a:ext cx="228600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RELEASE GATE</a:t>
            </a:r>
            <a:endParaRPr lang="en-US" sz="1100" dirty="0"/>
          </a:p>
        </p:txBody>
      </p:sp>
      <p:sp>
        <p:nvSpPr>
          <p:cNvPr id="7" name="Text 4"/>
          <p:cNvSpPr txBox="1"/>
          <p:nvPr/>
        </p:nvSpPr>
        <p:spPr>
          <a:xfrm>
            <a:off x="685800" y="2624328"/>
            <a:ext cx="2286000" cy="685800"/>
          </a:xfrm>
          <a:prstGeom prst="rect">
            <a:avLst/>
          </a:prstGeom>
          <a:noFill/>
          <a:ln/>
        </p:spPr>
        <p:txBody>
          <a:bodyPr wrap="square" lIns="0" tIns="0" rIns="0" bIns="0" rtlCol="0" anchor="t">
            <a:normAutofit/>
          </a:bodyPr>
          <a:lstStyle/>
          <a:p>
            <a:pPr marL="0" indent="0">
              <a:buNone/>
            </a:pPr>
            <a:r>
              <a:rPr lang="en-US" sz="4000" b="1" dirty="0">
                <a:solidFill>
                  <a:schemeClr val="accent1"/>
                </a:solidFill>
              </a:rPr>
              <a:t>NO-GO</a:t>
            </a:r>
            <a:endParaRPr lang="en-US" sz="4000" dirty="0"/>
          </a:p>
        </p:txBody>
      </p:sp>
      <p:sp>
        <p:nvSpPr>
          <p:cNvPr id="8" name="Text 5"/>
          <p:cNvSpPr txBox="1"/>
          <p:nvPr/>
        </p:nvSpPr>
        <p:spPr>
          <a:xfrm>
            <a:off x="685800" y="3319272"/>
            <a:ext cx="2286000" cy="457200"/>
          </a:xfrm>
          <a:prstGeom prst="rect">
            <a:avLst/>
          </a:prstGeom>
          <a:noFill/>
          <a:ln/>
        </p:spPr>
        <p:txBody>
          <a:bodyPr wrap="square" lIns="0" tIns="0" rIns="0" bIns="0" rtlCol="0" anchor="t"/>
          <a:lstStyle/>
          <a:p>
            <a:pPr marL="0" indent="0">
              <a:buNone/>
            </a:pPr>
            <a:r>
              <a:rPr lang="en-US" sz="1100" dirty="0">
                <a:solidFill>
                  <a:schemeClr val="tx2"/>
                </a:solidFill>
              </a:rPr>
              <a:t>0 of 40 human approvals; T-09, T-10 open</a:t>
            </a:r>
            <a:endParaRPr lang="en-US" sz="1100" dirty="0"/>
          </a:p>
        </p:txBody>
      </p:sp>
      <p:sp>
        <p:nvSpPr>
          <p:cNvPr id="9" name="card"/>
          <p:cNvSpPr/>
          <p:nvPr/>
        </p:nvSpPr>
        <p:spPr>
          <a:xfrm>
            <a:off x="457200" y="4023360"/>
            <a:ext cx="2743200" cy="1691640"/>
          </a:xfrm>
          <a:prstGeom prst="roundRect">
            <a:avLst>
              <a:gd name="adj" fmla="val 4324"/>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10" name="Text 7"/>
          <p:cNvSpPr txBox="1"/>
          <p:nvPr/>
        </p:nvSpPr>
        <p:spPr>
          <a:xfrm>
            <a:off x="685800" y="4224528"/>
            <a:ext cx="228600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ASSETS WITH AN OWNER</a:t>
            </a:r>
            <a:endParaRPr lang="en-US" sz="1100" dirty="0"/>
          </a:p>
        </p:txBody>
      </p:sp>
      <p:sp>
        <p:nvSpPr>
          <p:cNvPr id="11" name="Text 8"/>
          <p:cNvSpPr txBox="1"/>
          <p:nvPr/>
        </p:nvSpPr>
        <p:spPr>
          <a:xfrm>
            <a:off x="685800" y="4498848"/>
            <a:ext cx="2286000" cy="685800"/>
          </a:xfrm>
          <a:prstGeom prst="rect">
            <a:avLst/>
          </a:prstGeom>
          <a:noFill/>
          <a:ln/>
        </p:spPr>
        <p:txBody>
          <a:bodyPr wrap="square" lIns="0" tIns="0" rIns="0" bIns="0" rtlCol="0" anchor="t">
            <a:normAutofit/>
          </a:bodyPr>
          <a:lstStyle/>
          <a:p>
            <a:pPr marL="0" indent="0">
              <a:buNone/>
            </a:pPr>
            <a:r>
              <a:rPr lang="en-US" sz="4000" b="1" dirty="0">
                <a:solidFill>
                  <a:schemeClr val="tx1"/>
                </a:solidFill>
              </a:rPr>
              <a:t>0 / 28</a:t>
            </a:r>
            <a:endParaRPr lang="en-US" sz="4000" dirty="0"/>
          </a:p>
        </p:txBody>
      </p:sp>
      <p:sp>
        <p:nvSpPr>
          <p:cNvPr id="12" name="Text 9"/>
          <p:cNvSpPr txBox="1"/>
          <p:nvPr/>
        </p:nvSpPr>
        <p:spPr>
          <a:xfrm>
            <a:off x="685800" y="5193792"/>
            <a:ext cx="2286000" cy="457200"/>
          </a:xfrm>
          <a:prstGeom prst="rect">
            <a:avLst/>
          </a:prstGeom>
          <a:noFill/>
          <a:ln/>
        </p:spPr>
        <p:txBody>
          <a:bodyPr wrap="square" lIns="0" tIns="0" rIns="0" bIns="0" rtlCol="0" anchor="t"/>
          <a:lstStyle/>
          <a:p>
            <a:pPr marL="0" indent="0">
              <a:buNone/>
            </a:pPr>
            <a:r>
              <a:rPr lang="en-US" sz="1100" dirty="0">
                <a:solidFill>
                  <a:schemeClr val="tx2"/>
                </a:solidFill>
              </a:rPr>
              <a:t>17 of 24 accountable roles vacant</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474720" y="2148840"/>
          <a:ext cx="8257032" cy="914400"/>
        </p:xfrm>
        <a:graphic>
          <a:graphicData uri="http://schemas.openxmlformats.org/drawingml/2006/table">
            <a:tbl>
              <a:tblPr/>
              <a:tblGrid>
                <a:gridCol w="457200">
                  <a:extLst>
                    <a:ext uri="{9D8B030D-6E8A-4147-A177-3AD203B41FA5}">
                      <a16:colId xmlns:a16="http://schemas.microsoft.com/office/drawing/2014/main" val="20000"/>
                    </a:ext>
                  </a:extLst>
                </a:gridCol>
                <a:gridCol w="5239512">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603504">
                <a:tc>
                  <a:txBody>
                    <a:bodyPr/>
                    <a:lstStyle/>
                    <a:p>
                      <a:pPr marL="0" indent="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Decision needed</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Unblocks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extLst>
                  <a:ext uri="{0D108BD9-81ED-4DB2-BD59-A6C34878D82A}">
                    <a16:rowId xmlns:a16="http://schemas.microsoft.com/office/drawing/2014/main" val="10000"/>
                  </a:ext>
                </a:extLst>
              </a:tr>
              <a:tr h="603504">
                <a:tc>
                  <a:txBody>
                    <a:bodyPr/>
                    <a:lstStyle/>
                    <a:p>
                      <a:pPr marL="0" indent="0">
                        <a:buNone/>
                      </a:pPr>
                      <a:r>
                        <a:rPr lang="en-US" sz="1300" dirty="0">
                          <a:solidFill>
                            <a:srgbClr val="2B2B2B"/>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Go-ahead for a gated pilot, or stop at the sandbox</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Everything</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1"/>
                  </a:ext>
                </a:extLst>
              </a:tr>
              <a:tr h="603504">
                <a:tc>
                  <a:txBody>
                    <a:bodyPr/>
                    <a:lstStyle/>
                    <a:p>
                      <a:pPr marL="0" indent="0">
                        <a:buNone/>
                      </a:pPr>
                      <a:r>
                        <a:rPr lang="en-US" sz="1300" dirty="0">
                          <a:solidFill>
                            <a:srgbClr val="2B2B2B"/>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Define 'closed' (D-OPS / D-EVID / D-FIN) and the month-end cut-off</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Time and cost KPIs, ROI</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2"/>
                  </a:ext>
                </a:extLst>
              </a:tr>
              <a:tr h="603504">
                <a:tc>
                  <a:txBody>
                    <a:bodyPr/>
                    <a:lstStyle/>
                    <a:p>
                      <a:pPr marL="0" indent="0">
                        <a:buNone/>
                      </a:pPr>
                      <a:r>
                        <a:rPr lang="en-US" sz="1300" dirty="0">
                          <a:solidFill>
                            <a:srgbClr val="2B2B2B"/>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Name Zone H holders, or declare Zone H unused for the pilot</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Human gate, dispositions</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3"/>
                  </a:ext>
                </a:extLst>
              </a:tr>
              <a:tr h="603504">
                <a:tc>
                  <a:txBody>
                    <a:bodyPr/>
                    <a:lstStyle/>
                    <a:p>
                      <a:pPr marL="0" indent="0">
                        <a:buNone/>
                      </a:pPr>
                      <a:r>
                        <a:rPr lang="en-US" sz="1300" dirty="0">
                          <a:solidFill>
                            <a:srgbClr val="2B2B2B"/>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Define the after-window and time capture</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Measured improvement</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4"/>
                  </a:ext>
                </a:extLst>
              </a:tr>
              <a:tr h="603504">
                <a:tc>
                  <a:txBody>
                    <a:bodyPr/>
                    <a:lstStyle/>
                    <a:p>
                      <a:pPr marL="0" indent="0">
                        <a:buNone/>
                      </a:pPr>
                      <a:r>
                        <a:rPr lang="en-US" sz="1300" dirty="0">
                          <a:solidFill>
                            <a:srgbClr val="2B2B2B"/>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Confirm AI scope: advisory A1 with OpenAI / Azure OpenAI</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300" dirty="0">
                          <a:solidFill>
                            <a:srgbClr val="2B2B2B"/>
                          </a:solidFill>
                          <a:latin typeface="Arial" pitchFamily="34" charset="0"/>
                          <a:ea typeface="Arial" pitchFamily="34" charset="-122"/>
                          <a:cs typeface="Arial" pitchFamily="34" charset="-120"/>
                        </a:rPr>
                        <a:t>Assistant in pilot, RQ-1 evaluation</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Closing  ·  Next and moonshots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FROM ONE ESTATE</a:t>
            </a:r>
            <a:endParaRPr lang="en-US" sz="3000" dirty="0"/>
          </a:p>
          <a:p>
            <a:pPr marL="0" indent="0" algn="l">
              <a:lnSpc>
                <a:spcPct val="95000"/>
              </a:lnSpc>
              <a:buNone/>
            </a:pPr>
            <a:r>
              <a:rPr lang="en-US" sz="3000" b="1" dirty="0">
                <a:solidFill>
                  <a:schemeClr val="accent1"/>
                </a:solidFill>
              </a:rPr>
              <a:t>TO AN ENTERPRISE PATTERN</a:t>
            </a:r>
            <a:endParaRPr lang="en-US" sz="3000" dirty="0"/>
          </a:p>
        </p:txBody>
      </p:sp>
      <p:sp>
        <p:nvSpPr>
          <p:cNvPr id="5" name="card"/>
          <p:cNvSpPr/>
          <p:nvPr/>
        </p:nvSpPr>
        <p:spPr>
          <a:xfrm>
            <a:off x="457200" y="2148840"/>
            <a:ext cx="1325880" cy="2331720"/>
          </a:xfrm>
          <a:prstGeom prst="roundRect">
            <a:avLst>
              <a:gd name="adj" fmla="val 5517"/>
            </a:avLst>
          </a:prstGeom>
          <a:solidFill>
            <a:schemeClr val="bg1"/>
          </a:solidFill>
          <a:ln w="9525">
            <a:solidFill>
              <a:srgbClr val="E6E6E6"/>
            </a:solidFill>
            <a:prstDash val="solid"/>
          </a:ln>
        </p:spPr>
      </p:sp>
      <p:sp>
        <p:nvSpPr>
          <p:cNvPr id="6" name="Text 3"/>
          <p:cNvSpPr txBox="1"/>
          <p:nvPr/>
        </p:nvSpPr>
        <p:spPr>
          <a:xfrm>
            <a:off x="594360" y="2286000"/>
            <a:ext cx="1097280" cy="411480"/>
          </a:xfrm>
          <a:prstGeom prst="rect">
            <a:avLst/>
          </a:prstGeom>
          <a:noFill/>
          <a:ln/>
        </p:spPr>
        <p:txBody>
          <a:bodyPr wrap="square" lIns="0" tIns="0" rIns="0" bIns="0" rtlCol="0" anchor="t"/>
          <a:lstStyle/>
          <a:p>
            <a:pPr marL="0" indent="0">
              <a:buNone/>
            </a:pPr>
            <a:r>
              <a:rPr lang="en-US" sz="2000" b="1" dirty="0">
                <a:solidFill>
                  <a:schemeClr val="accent1"/>
                </a:solidFill>
              </a:rPr>
              <a:t>P0</a:t>
            </a:r>
            <a:endParaRPr lang="en-US" sz="2000" dirty="0"/>
          </a:p>
        </p:txBody>
      </p:sp>
      <p:sp>
        <p:nvSpPr>
          <p:cNvPr id="7" name="Text 4"/>
          <p:cNvSpPr txBox="1"/>
          <p:nvPr/>
        </p:nvSpPr>
        <p:spPr>
          <a:xfrm>
            <a:off x="594360" y="2697480"/>
            <a:ext cx="1097280" cy="320040"/>
          </a:xfrm>
          <a:prstGeom prst="rect">
            <a:avLst/>
          </a:prstGeom>
          <a:noFill/>
          <a:ln/>
        </p:spPr>
        <p:txBody>
          <a:bodyPr wrap="square" lIns="0" tIns="0" rIns="0" bIns="0" rtlCol="0" anchor="t"/>
          <a:lstStyle/>
          <a:p>
            <a:pPr marL="0" indent="0">
              <a:buNone/>
            </a:pPr>
            <a:r>
              <a:rPr lang="en-US" sz="1400" b="1" dirty="0">
                <a:solidFill>
                  <a:schemeClr val="tx1"/>
                </a:solidFill>
              </a:rPr>
              <a:t>Decide</a:t>
            </a:r>
            <a:endParaRPr lang="en-US" sz="1400" dirty="0"/>
          </a:p>
        </p:txBody>
      </p:sp>
      <p:sp>
        <p:nvSpPr>
          <p:cNvPr id="8" name="Text 5"/>
          <p:cNvSpPr txBox="1"/>
          <p:nvPr/>
        </p:nvSpPr>
        <p:spPr>
          <a:xfrm>
            <a:off x="594360" y="3017520"/>
            <a:ext cx="1097280" cy="274320"/>
          </a:xfrm>
          <a:prstGeom prst="rect">
            <a:avLst/>
          </a:prstGeom>
          <a:noFill/>
          <a:ln/>
        </p:spPr>
        <p:txBody>
          <a:bodyPr wrap="square" lIns="0" tIns="0" rIns="0" bIns="0" rtlCol="0" anchor="t"/>
          <a:lstStyle/>
          <a:p>
            <a:pPr marL="0" indent="0">
              <a:buNone/>
            </a:pPr>
            <a:r>
              <a:rPr lang="en-US" sz="1000" dirty="0">
                <a:solidFill>
                  <a:schemeClr val="accent3"/>
                </a:solidFill>
              </a:rPr>
              <a:t>D+0 to 14</a:t>
            </a:r>
            <a:endParaRPr lang="en-US" sz="1000" dirty="0"/>
          </a:p>
        </p:txBody>
      </p:sp>
      <p:sp>
        <p:nvSpPr>
          <p:cNvPr id="9" name="Text 6"/>
          <p:cNvSpPr txBox="1"/>
          <p:nvPr/>
        </p:nvSpPr>
        <p:spPr>
          <a:xfrm>
            <a:off x="594360" y="3310128"/>
            <a:ext cx="1097280" cy="1097280"/>
          </a:xfrm>
          <a:prstGeom prst="rect">
            <a:avLst/>
          </a:prstGeom>
          <a:noFill/>
          <a:ln/>
        </p:spPr>
        <p:txBody>
          <a:bodyPr wrap="square" lIns="0" tIns="0" rIns="0" bIns="0" rtlCol="0" anchor="t"/>
          <a:lstStyle/>
          <a:p>
            <a:pPr marL="0" indent="0">
              <a:buNone/>
            </a:pPr>
            <a:r>
              <a:rPr lang="en-US" sz="1100" dirty="0">
                <a:solidFill>
                  <a:schemeClr val="tx2"/>
                </a:solidFill>
              </a:rPr>
              <a:t>five decisions, owners, second reviewer</a:t>
            </a:r>
            <a:endParaRPr lang="en-US" sz="1100" dirty="0"/>
          </a:p>
        </p:txBody>
      </p:sp>
      <p:sp>
        <p:nvSpPr>
          <p:cNvPr id="10" name="card"/>
          <p:cNvSpPr/>
          <p:nvPr/>
        </p:nvSpPr>
        <p:spPr>
          <a:xfrm>
            <a:off x="1920240" y="2148840"/>
            <a:ext cx="1325880" cy="2331720"/>
          </a:xfrm>
          <a:prstGeom prst="roundRect">
            <a:avLst>
              <a:gd name="adj" fmla="val 5517"/>
            </a:avLst>
          </a:prstGeom>
          <a:solidFill>
            <a:schemeClr val="bg1"/>
          </a:solidFill>
          <a:ln w="9525">
            <a:solidFill>
              <a:srgbClr val="E6E6E6"/>
            </a:solidFill>
            <a:prstDash val="solid"/>
          </a:ln>
        </p:spPr>
      </p:sp>
      <p:sp>
        <p:nvSpPr>
          <p:cNvPr id="11" name="Text 8"/>
          <p:cNvSpPr txBox="1"/>
          <p:nvPr/>
        </p:nvSpPr>
        <p:spPr>
          <a:xfrm>
            <a:off x="2057400" y="2286000"/>
            <a:ext cx="1097280" cy="411480"/>
          </a:xfrm>
          <a:prstGeom prst="rect">
            <a:avLst/>
          </a:prstGeom>
          <a:noFill/>
          <a:ln/>
        </p:spPr>
        <p:txBody>
          <a:bodyPr wrap="square" lIns="0" tIns="0" rIns="0" bIns="0" rtlCol="0" anchor="t"/>
          <a:lstStyle/>
          <a:p>
            <a:pPr marL="0" indent="0">
              <a:buNone/>
            </a:pPr>
            <a:r>
              <a:rPr lang="en-US" sz="2000" b="1" dirty="0">
                <a:solidFill>
                  <a:schemeClr val="accent1"/>
                </a:solidFill>
              </a:rPr>
              <a:t>P1</a:t>
            </a:r>
            <a:endParaRPr lang="en-US" sz="2000" dirty="0"/>
          </a:p>
        </p:txBody>
      </p:sp>
      <p:sp>
        <p:nvSpPr>
          <p:cNvPr id="12" name="Text 9"/>
          <p:cNvSpPr txBox="1"/>
          <p:nvPr/>
        </p:nvSpPr>
        <p:spPr>
          <a:xfrm>
            <a:off x="2057400" y="2697480"/>
            <a:ext cx="1097280" cy="320040"/>
          </a:xfrm>
          <a:prstGeom prst="rect">
            <a:avLst/>
          </a:prstGeom>
          <a:noFill/>
          <a:ln/>
        </p:spPr>
        <p:txBody>
          <a:bodyPr wrap="square" lIns="0" tIns="0" rIns="0" bIns="0" rtlCol="0" anchor="t"/>
          <a:lstStyle/>
          <a:p>
            <a:pPr marL="0" indent="0">
              <a:buNone/>
            </a:pPr>
            <a:r>
              <a:rPr lang="en-US" sz="1400" b="1" dirty="0">
                <a:solidFill>
                  <a:schemeClr val="tx1"/>
                </a:solidFill>
              </a:rPr>
              <a:t>Make fit</a:t>
            </a:r>
            <a:endParaRPr lang="en-US" sz="1400" dirty="0"/>
          </a:p>
        </p:txBody>
      </p:sp>
      <p:sp>
        <p:nvSpPr>
          <p:cNvPr id="13" name="Text 10"/>
          <p:cNvSpPr txBox="1"/>
          <p:nvPr/>
        </p:nvSpPr>
        <p:spPr>
          <a:xfrm>
            <a:off x="2057400" y="3017520"/>
            <a:ext cx="1097280" cy="274320"/>
          </a:xfrm>
          <a:prstGeom prst="rect">
            <a:avLst/>
          </a:prstGeom>
          <a:noFill/>
          <a:ln/>
        </p:spPr>
        <p:txBody>
          <a:bodyPr wrap="square" lIns="0" tIns="0" rIns="0" bIns="0" rtlCol="0" anchor="t"/>
          <a:lstStyle/>
          <a:p>
            <a:pPr marL="0" indent="0">
              <a:buNone/>
            </a:pPr>
            <a:r>
              <a:rPr lang="en-US" sz="1000" dirty="0">
                <a:solidFill>
                  <a:schemeClr val="accent3"/>
                </a:solidFill>
              </a:rPr>
              <a:t>D+15 to 45</a:t>
            </a:r>
            <a:endParaRPr lang="en-US" sz="1000" dirty="0"/>
          </a:p>
        </p:txBody>
      </p:sp>
      <p:sp>
        <p:nvSpPr>
          <p:cNvPr id="14" name="Text 11"/>
          <p:cNvSpPr txBox="1"/>
          <p:nvPr/>
        </p:nvSpPr>
        <p:spPr>
          <a:xfrm>
            <a:off x="2057400" y="3310128"/>
            <a:ext cx="1097280" cy="1097280"/>
          </a:xfrm>
          <a:prstGeom prst="rect">
            <a:avLst/>
          </a:prstGeom>
          <a:noFill/>
          <a:ln/>
        </p:spPr>
        <p:txBody>
          <a:bodyPr wrap="square" lIns="0" tIns="0" rIns="0" bIns="0" rtlCol="0" anchor="t"/>
          <a:lstStyle/>
          <a:p>
            <a:pPr marL="0" indent="0">
              <a:buNone/>
            </a:pPr>
            <a:r>
              <a:rPr lang="en-US" sz="1100" dirty="0">
                <a:solidFill>
                  <a:schemeClr val="tx2"/>
                </a:solidFill>
              </a:rPr>
              <a:t>wire controls, time capture, Python 3.14 run</a:t>
            </a:r>
            <a:endParaRPr lang="en-US" sz="1100" dirty="0"/>
          </a:p>
        </p:txBody>
      </p:sp>
      <p:sp>
        <p:nvSpPr>
          <p:cNvPr id="15" name="card"/>
          <p:cNvSpPr/>
          <p:nvPr/>
        </p:nvSpPr>
        <p:spPr>
          <a:xfrm>
            <a:off x="3383280" y="2148840"/>
            <a:ext cx="1325880" cy="2331720"/>
          </a:xfrm>
          <a:prstGeom prst="roundRect">
            <a:avLst>
              <a:gd name="adj" fmla="val 5517"/>
            </a:avLst>
          </a:prstGeom>
          <a:solidFill>
            <a:schemeClr val="bg1"/>
          </a:solidFill>
          <a:ln w="9525">
            <a:solidFill>
              <a:srgbClr val="E6E6E6"/>
            </a:solidFill>
            <a:prstDash val="solid"/>
          </a:ln>
        </p:spPr>
      </p:sp>
      <p:sp>
        <p:nvSpPr>
          <p:cNvPr id="16" name="Text 13"/>
          <p:cNvSpPr txBox="1"/>
          <p:nvPr/>
        </p:nvSpPr>
        <p:spPr>
          <a:xfrm>
            <a:off x="3520440" y="2286000"/>
            <a:ext cx="1097280" cy="411480"/>
          </a:xfrm>
          <a:prstGeom prst="rect">
            <a:avLst/>
          </a:prstGeom>
          <a:noFill/>
          <a:ln/>
        </p:spPr>
        <p:txBody>
          <a:bodyPr wrap="square" lIns="0" tIns="0" rIns="0" bIns="0" rtlCol="0" anchor="t"/>
          <a:lstStyle/>
          <a:p>
            <a:pPr marL="0" indent="0">
              <a:buNone/>
            </a:pPr>
            <a:r>
              <a:rPr lang="en-US" sz="2000" b="1" dirty="0">
                <a:solidFill>
                  <a:schemeClr val="accent1"/>
                </a:solidFill>
              </a:rPr>
              <a:t>P2</a:t>
            </a:r>
            <a:endParaRPr lang="en-US" sz="2000" dirty="0"/>
          </a:p>
        </p:txBody>
      </p:sp>
      <p:sp>
        <p:nvSpPr>
          <p:cNvPr id="17" name="Text 14"/>
          <p:cNvSpPr txBox="1"/>
          <p:nvPr/>
        </p:nvSpPr>
        <p:spPr>
          <a:xfrm>
            <a:off x="3520440" y="2697480"/>
            <a:ext cx="1097280" cy="320040"/>
          </a:xfrm>
          <a:prstGeom prst="rect">
            <a:avLst/>
          </a:prstGeom>
          <a:noFill/>
          <a:ln/>
        </p:spPr>
        <p:txBody>
          <a:bodyPr wrap="square" lIns="0" tIns="0" rIns="0" bIns="0" rtlCol="0" anchor="t"/>
          <a:lstStyle/>
          <a:p>
            <a:pPr marL="0" indent="0">
              <a:buNone/>
            </a:pPr>
            <a:r>
              <a:rPr lang="en-US" sz="1400" b="1" dirty="0">
                <a:solidFill>
                  <a:schemeClr val="tx1"/>
                </a:solidFill>
              </a:rPr>
              <a:t>Pilot</a:t>
            </a:r>
            <a:endParaRPr lang="en-US" sz="1400" dirty="0"/>
          </a:p>
        </p:txBody>
      </p:sp>
      <p:sp>
        <p:nvSpPr>
          <p:cNvPr id="18" name="Text 15"/>
          <p:cNvSpPr txBox="1"/>
          <p:nvPr/>
        </p:nvSpPr>
        <p:spPr>
          <a:xfrm>
            <a:off x="3520440" y="3017520"/>
            <a:ext cx="1097280" cy="274320"/>
          </a:xfrm>
          <a:prstGeom prst="rect">
            <a:avLst/>
          </a:prstGeom>
          <a:noFill/>
          <a:ln/>
        </p:spPr>
        <p:txBody>
          <a:bodyPr wrap="square" lIns="0" tIns="0" rIns="0" bIns="0" rtlCol="0" anchor="t"/>
          <a:lstStyle/>
          <a:p>
            <a:pPr marL="0" indent="0">
              <a:buNone/>
            </a:pPr>
            <a:r>
              <a:rPr lang="en-US" sz="1000" dirty="0">
                <a:solidFill>
                  <a:schemeClr val="accent3"/>
                </a:solidFill>
              </a:rPr>
              <a:t>D+46 to 75</a:t>
            </a:r>
            <a:endParaRPr lang="en-US" sz="1000" dirty="0"/>
          </a:p>
        </p:txBody>
      </p:sp>
      <p:sp>
        <p:nvSpPr>
          <p:cNvPr id="19" name="Text 16"/>
          <p:cNvSpPr txBox="1"/>
          <p:nvPr/>
        </p:nvSpPr>
        <p:spPr>
          <a:xfrm>
            <a:off x="3520440" y="3310128"/>
            <a:ext cx="1097280" cy="1097280"/>
          </a:xfrm>
          <a:prstGeom prst="rect">
            <a:avLst/>
          </a:prstGeom>
          <a:noFill/>
          <a:ln/>
        </p:spPr>
        <p:txBody>
          <a:bodyPr wrap="square" lIns="0" tIns="0" rIns="0" bIns="0" rtlCol="0" anchor="t"/>
          <a:lstStyle/>
          <a:p>
            <a:pPr marL="0" indent="0">
              <a:buNone/>
            </a:pPr>
            <a:r>
              <a:rPr lang="en-US" sz="1100" dirty="0">
                <a:solidFill>
                  <a:schemeClr val="tx2"/>
                </a:solidFill>
              </a:rPr>
              <a:t>one site, real reviewers, assistant on</a:t>
            </a:r>
            <a:endParaRPr lang="en-US" sz="1100" dirty="0"/>
          </a:p>
        </p:txBody>
      </p:sp>
      <p:sp>
        <p:nvSpPr>
          <p:cNvPr id="20" name="card"/>
          <p:cNvSpPr/>
          <p:nvPr/>
        </p:nvSpPr>
        <p:spPr>
          <a:xfrm>
            <a:off x="4846320" y="2148840"/>
            <a:ext cx="1325880" cy="2331720"/>
          </a:xfrm>
          <a:prstGeom prst="roundRect">
            <a:avLst>
              <a:gd name="adj" fmla="val 5517"/>
            </a:avLst>
          </a:prstGeom>
          <a:solidFill>
            <a:schemeClr val="bg1"/>
          </a:solidFill>
          <a:ln w="9525">
            <a:solidFill>
              <a:srgbClr val="E6E6E6"/>
            </a:solidFill>
            <a:prstDash val="solid"/>
          </a:ln>
        </p:spPr>
      </p:sp>
      <p:sp>
        <p:nvSpPr>
          <p:cNvPr id="21" name="Text 18"/>
          <p:cNvSpPr txBox="1"/>
          <p:nvPr/>
        </p:nvSpPr>
        <p:spPr>
          <a:xfrm>
            <a:off x="4983480" y="2286000"/>
            <a:ext cx="1097280" cy="411480"/>
          </a:xfrm>
          <a:prstGeom prst="rect">
            <a:avLst/>
          </a:prstGeom>
          <a:noFill/>
          <a:ln/>
        </p:spPr>
        <p:txBody>
          <a:bodyPr wrap="square" lIns="0" tIns="0" rIns="0" bIns="0" rtlCol="0" anchor="t"/>
          <a:lstStyle/>
          <a:p>
            <a:pPr marL="0" indent="0">
              <a:buNone/>
            </a:pPr>
            <a:r>
              <a:rPr lang="en-US" sz="2000" b="1" dirty="0">
                <a:solidFill>
                  <a:schemeClr val="accent1"/>
                </a:solidFill>
              </a:rPr>
              <a:t>P3</a:t>
            </a:r>
            <a:endParaRPr lang="en-US" sz="2000" dirty="0"/>
          </a:p>
        </p:txBody>
      </p:sp>
      <p:sp>
        <p:nvSpPr>
          <p:cNvPr id="22" name="Text 19"/>
          <p:cNvSpPr txBox="1"/>
          <p:nvPr/>
        </p:nvSpPr>
        <p:spPr>
          <a:xfrm>
            <a:off x="4983480" y="2697480"/>
            <a:ext cx="1097280" cy="320040"/>
          </a:xfrm>
          <a:prstGeom prst="rect">
            <a:avLst/>
          </a:prstGeom>
          <a:noFill/>
          <a:ln/>
        </p:spPr>
        <p:txBody>
          <a:bodyPr wrap="square" lIns="0" tIns="0" rIns="0" bIns="0" rtlCol="0" anchor="t"/>
          <a:lstStyle/>
          <a:p>
            <a:pPr marL="0" indent="0">
              <a:buNone/>
            </a:pPr>
            <a:r>
              <a:rPr lang="en-US" sz="1400" b="1" dirty="0">
                <a:solidFill>
                  <a:schemeClr val="tx1"/>
                </a:solidFill>
              </a:rPr>
              <a:t>Evaluate</a:t>
            </a:r>
            <a:endParaRPr lang="en-US" sz="1400" dirty="0"/>
          </a:p>
        </p:txBody>
      </p:sp>
      <p:sp>
        <p:nvSpPr>
          <p:cNvPr id="23" name="Text 20"/>
          <p:cNvSpPr txBox="1"/>
          <p:nvPr/>
        </p:nvSpPr>
        <p:spPr>
          <a:xfrm>
            <a:off x="4983480" y="3017520"/>
            <a:ext cx="1097280" cy="274320"/>
          </a:xfrm>
          <a:prstGeom prst="rect">
            <a:avLst/>
          </a:prstGeom>
          <a:noFill/>
          <a:ln/>
        </p:spPr>
        <p:txBody>
          <a:bodyPr wrap="square" lIns="0" tIns="0" rIns="0" bIns="0" rtlCol="0" anchor="t"/>
          <a:lstStyle/>
          <a:p>
            <a:pPr marL="0" indent="0">
              <a:buNone/>
            </a:pPr>
            <a:r>
              <a:rPr lang="en-US" sz="1000" dirty="0">
                <a:solidFill>
                  <a:schemeClr val="accent3"/>
                </a:solidFill>
              </a:rPr>
              <a:t>D+76 to 90</a:t>
            </a:r>
            <a:endParaRPr lang="en-US" sz="1000" dirty="0"/>
          </a:p>
        </p:txBody>
      </p:sp>
      <p:sp>
        <p:nvSpPr>
          <p:cNvPr id="24" name="Text 21"/>
          <p:cNvSpPr txBox="1"/>
          <p:nvPr/>
        </p:nvSpPr>
        <p:spPr>
          <a:xfrm>
            <a:off x="4983480" y="3310128"/>
            <a:ext cx="1097280" cy="1097280"/>
          </a:xfrm>
          <a:prstGeom prst="rect">
            <a:avLst/>
          </a:prstGeom>
          <a:noFill/>
          <a:ln/>
        </p:spPr>
        <p:txBody>
          <a:bodyPr wrap="square" lIns="0" tIns="0" rIns="0" bIns="0" rtlCol="0" anchor="t"/>
          <a:lstStyle/>
          <a:p>
            <a:pPr marL="0" indent="0">
              <a:buNone/>
            </a:pPr>
            <a:r>
              <a:rPr lang="en-US" sz="1100" dirty="0">
                <a:solidFill>
                  <a:schemeClr val="tx2"/>
                </a:solidFill>
              </a:rPr>
              <a:t>re-run KPIs, ROI if computable</a:t>
            </a:r>
            <a:endParaRPr lang="en-US" sz="1100" dirty="0"/>
          </a:p>
        </p:txBody>
      </p:sp>
      <p:sp>
        <p:nvSpPr>
          <p:cNvPr id="25" name="Text 22"/>
          <p:cNvSpPr txBox="1"/>
          <p:nvPr/>
        </p:nvSpPr>
        <p:spPr>
          <a:xfrm>
            <a:off x="457200" y="4617720"/>
            <a:ext cx="566928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90-DAY GATED PLAN</a:t>
            </a:r>
            <a:endParaRPr lang="en-US" sz="1100" dirty="0"/>
          </a:p>
        </p:txBody>
      </p:sp>
      <p:sp>
        <p:nvSpPr>
          <p:cNvPr id="26" name="Text 23"/>
          <p:cNvSpPr txBox="1"/>
          <p:nvPr/>
        </p:nvSpPr>
        <p:spPr>
          <a:xfrm>
            <a:off x="457200" y="4937760"/>
            <a:ext cx="5669280" cy="822960"/>
          </a:xfrm>
          <a:prstGeom prst="rect">
            <a:avLst/>
          </a:prstGeom>
          <a:noFill/>
          <a:ln/>
        </p:spPr>
        <p:txBody>
          <a:bodyPr wrap="square" lIns="0" tIns="0" rIns="0" bIns="0" rtlCol="0" anchor="t"/>
          <a:lstStyle/>
          <a:p>
            <a:pPr marL="0" indent="0">
              <a:buNone/>
            </a:pPr>
            <a:r>
              <a:rPr lang="en-US" sz="1200" i="1" dirty="0">
                <a:solidFill>
                  <a:schemeClr val="tx2"/>
                </a:solidFill>
              </a:rPr>
              <a:t>At D+90 the honest outcome may still be 'ROI not computable' if the window is too short. A neutral result is a valid result.</a:t>
            </a:r>
            <a:endParaRPr lang="en-US" sz="1200" dirty="0"/>
          </a:p>
        </p:txBody>
      </p:sp>
      <p:sp>
        <p:nvSpPr>
          <p:cNvPr id="27" name="card"/>
          <p:cNvSpPr/>
          <p:nvPr/>
        </p:nvSpPr>
        <p:spPr>
          <a:xfrm>
            <a:off x="6446520" y="2148840"/>
            <a:ext cx="5285232" cy="868680"/>
          </a:xfrm>
          <a:prstGeom prst="roundRect">
            <a:avLst>
              <a:gd name="adj" fmla="val 8421"/>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28" name="icon-circle"/>
          <p:cNvSpPr/>
          <p:nvPr/>
        </p:nvSpPr>
        <p:spPr>
          <a:xfrm>
            <a:off x="6629400" y="2304288"/>
            <a:ext cx="548640" cy="548640"/>
          </a:xfrm>
          <a:prstGeom prst="ellipse">
            <a:avLst/>
          </a:prstGeom>
          <a:solidFill>
            <a:srgbClr val="E1251B"/>
          </a:solidFill>
          <a:ln w="12700">
            <a:solidFill>
              <a:srgbClr val="E1251B"/>
            </a:solidFill>
            <a:prstDash val="solid"/>
          </a:ln>
        </p:spPr>
      </p:sp>
      <p:pic>
        <p:nvPicPr>
          <p:cNvPr id="29" name="Image 0" descr="FaGlobe"/>
          <p:cNvPicPr>
            <a:picLocks noChangeAspect="1"/>
          </p:cNvPicPr>
          <p:nvPr/>
        </p:nvPicPr>
        <p:blipFill>
          <a:blip r:embed="rId3"/>
          <a:stretch>
            <a:fillRect/>
          </a:stretch>
        </p:blipFill>
        <p:spPr>
          <a:xfrm>
            <a:off x="6772046" y="2446934"/>
            <a:ext cx="263347" cy="263347"/>
          </a:xfrm>
          <a:prstGeom prst="rect">
            <a:avLst/>
          </a:prstGeom>
        </p:spPr>
      </p:pic>
      <p:sp>
        <p:nvSpPr>
          <p:cNvPr id="30" name="Text 26"/>
          <p:cNvSpPr txBox="1"/>
          <p:nvPr/>
        </p:nvSpPr>
        <p:spPr>
          <a:xfrm>
            <a:off x="7360920" y="2267712"/>
            <a:ext cx="4251960" cy="685800"/>
          </a:xfrm>
          <a:prstGeom prst="rect">
            <a:avLst/>
          </a:prstGeom>
          <a:noFill/>
          <a:ln/>
        </p:spPr>
        <p:txBody>
          <a:bodyPr wrap="square" lIns="0" tIns="0" rIns="0" bIns="0" rtlCol="0" anchor="t"/>
          <a:lstStyle/>
          <a:p>
            <a:pPr marL="0" indent="0">
              <a:buNone/>
            </a:pPr>
            <a:r>
              <a:rPr lang="en-US" sz="1400" b="1" dirty="0">
                <a:solidFill>
                  <a:schemeClr val="tx1"/>
                </a:solidFill>
              </a:rPr>
              <a:t>GxP context lake</a:t>
            </a:r>
            <a:endParaRPr lang="en-US" sz="1400" dirty="0"/>
          </a:p>
          <a:p>
            <a:pPr marL="0" indent="0">
              <a:buNone/>
            </a:pPr>
            <a:r>
              <a:rPr lang="en-US" sz="1100" dirty="0">
                <a:solidFill>
                  <a:schemeClr val="tx2"/>
                </a:solidFill>
              </a:rPr>
              <a:t>One semantic layer per client, reused across Birlasoft life-sciences accounts</a:t>
            </a:r>
            <a:endParaRPr lang="en-US" sz="1400" dirty="0"/>
          </a:p>
        </p:txBody>
      </p:sp>
      <p:sp>
        <p:nvSpPr>
          <p:cNvPr id="31" name="card"/>
          <p:cNvSpPr/>
          <p:nvPr/>
        </p:nvSpPr>
        <p:spPr>
          <a:xfrm>
            <a:off x="6446520" y="3136392"/>
            <a:ext cx="5285232" cy="868680"/>
          </a:xfrm>
          <a:prstGeom prst="roundRect">
            <a:avLst>
              <a:gd name="adj" fmla="val 8421"/>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32" name="icon-circle"/>
          <p:cNvSpPr/>
          <p:nvPr/>
        </p:nvSpPr>
        <p:spPr>
          <a:xfrm>
            <a:off x="6629400" y="3291840"/>
            <a:ext cx="548640" cy="548640"/>
          </a:xfrm>
          <a:prstGeom prst="ellipse">
            <a:avLst/>
          </a:prstGeom>
          <a:solidFill>
            <a:srgbClr val="E1251B"/>
          </a:solidFill>
          <a:ln w="12700">
            <a:solidFill>
              <a:srgbClr val="E1251B"/>
            </a:solidFill>
            <a:prstDash val="solid"/>
          </a:ln>
        </p:spPr>
      </p:sp>
      <p:pic>
        <p:nvPicPr>
          <p:cNvPr id="33" name="Image 1" descr="FaProjectDiagram"/>
          <p:cNvPicPr>
            <a:picLocks noChangeAspect="1"/>
          </p:cNvPicPr>
          <p:nvPr/>
        </p:nvPicPr>
        <p:blipFill>
          <a:blip r:embed="rId4"/>
          <a:stretch>
            <a:fillRect/>
          </a:stretch>
        </p:blipFill>
        <p:spPr>
          <a:xfrm>
            <a:off x="6772046" y="3434486"/>
            <a:ext cx="263347" cy="263347"/>
          </a:xfrm>
          <a:prstGeom prst="rect">
            <a:avLst/>
          </a:prstGeom>
        </p:spPr>
      </p:pic>
      <p:sp>
        <p:nvSpPr>
          <p:cNvPr id="34" name="Text 29"/>
          <p:cNvSpPr txBox="1"/>
          <p:nvPr/>
        </p:nvSpPr>
        <p:spPr>
          <a:xfrm>
            <a:off x="7360920" y="3255264"/>
            <a:ext cx="4251960" cy="685800"/>
          </a:xfrm>
          <a:prstGeom prst="rect">
            <a:avLst/>
          </a:prstGeom>
          <a:noFill/>
          <a:ln/>
        </p:spPr>
        <p:txBody>
          <a:bodyPr wrap="square" lIns="0" tIns="0" rIns="0" bIns="0" rtlCol="0" anchor="t"/>
          <a:lstStyle/>
          <a:p>
            <a:pPr marL="0" indent="0">
              <a:buNone/>
            </a:pPr>
            <a:r>
              <a:rPr lang="en-US" sz="1400" b="1" dirty="0">
                <a:solidFill>
                  <a:schemeClr val="tx1"/>
                </a:solidFill>
              </a:rPr>
              <a:t>Model-portable apps</a:t>
            </a:r>
            <a:endParaRPr lang="en-US" sz="1400" dirty="0"/>
          </a:p>
          <a:p>
            <a:pPr marL="0" indent="0">
              <a:buNone/>
            </a:pPr>
            <a:r>
              <a:rPr lang="en-US" sz="1100" dirty="0">
                <a:solidFill>
                  <a:schemeClr val="tx2"/>
                </a:solidFill>
              </a:rPr>
              <a:t>Regenerate the PRD and app from the layer on any model; compare and certify</a:t>
            </a:r>
            <a:endParaRPr lang="en-US" sz="1400" dirty="0"/>
          </a:p>
        </p:txBody>
      </p:sp>
      <p:sp>
        <p:nvSpPr>
          <p:cNvPr id="35" name="card"/>
          <p:cNvSpPr/>
          <p:nvPr/>
        </p:nvSpPr>
        <p:spPr>
          <a:xfrm>
            <a:off x="6446520" y="4123944"/>
            <a:ext cx="5285232" cy="868680"/>
          </a:xfrm>
          <a:prstGeom prst="roundRect">
            <a:avLst>
              <a:gd name="adj" fmla="val 8421"/>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36" name="icon-circle"/>
          <p:cNvSpPr/>
          <p:nvPr/>
        </p:nvSpPr>
        <p:spPr>
          <a:xfrm>
            <a:off x="6629400" y="4279392"/>
            <a:ext cx="548640" cy="548640"/>
          </a:xfrm>
          <a:prstGeom prst="ellipse">
            <a:avLst/>
          </a:prstGeom>
          <a:solidFill>
            <a:srgbClr val="4D4D4D"/>
          </a:solidFill>
          <a:ln w="12700">
            <a:solidFill>
              <a:srgbClr val="4D4D4D"/>
            </a:solidFill>
            <a:prstDash val="solid"/>
          </a:ln>
        </p:spPr>
      </p:sp>
      <p:pic>
        <p:nvPicPr>
          <p:cNvPr id="37" name="Image 2" descr="FaClipboardCheck"/>
          <p:cNvPicPr>
            <a:picLocks noChangeAspect="1"/>
          </p:cNvPicPr>
          <p:nvPr/>
        </p:nvPicPr>
        <p:blipFill>
          <a:blip r:embed="rId5"/>
          <a:stretch>
            <a:fillRect/>
          </a:stretch>
        </p:blipFill>
        <p:spPr>
          <a:xfrm>
            <a:off x="6772046" y="4422038"/>
            <a:ext cx="263347" cy="263347"/>
          </a:xfrm>
          <a:prstGeom prst="rect">
            <a:avLst/>
          </a:prstGeom>
        </p:spPr>
      </p:pic>
      <p:sp>
        <p:nvSpPr>
          <p:cNvPr id="38" name="Text 32"/>
          <p:cNvSpPr txBox="1"/>
          <p:nvPr/>
        </p:nvSpPr>
        <p:spPr>
          <a:xfrm>
            <a:off x="7360920" y="4242816"/>
            <a:ext cx="4251960" cy="685800"/>
          </a:xfrm>
          <a:prstGeom prst="rect">
            <a:avLst/>
          </a:prstGeom>
          <a:noFill/>
          <a:ln/>
        </p:spPr>
        <p:txBody>
          <a:bodyPr wrap="square" lIns="0" tIns="0" rIns="0" bIns="0" rtlCol="0" anchor="t"/>
          <a:lstStyle/>
          <a:p>
            <a:pPr marL="0" indent="0">
              <a:buNone/>
            </a:pPr>
            <a:r>
              <a:rPr lang="en-US" sz="1400" b="1" dirty="0">
                <a:solidFill>
                  <a:schemeClr val="tx1"/>
                </a:solidFill>
              </a:rPr>
              <a:t>Evidence-pack agent (A2)</a:t>
            </a:r>
            <a:endParaRPr lang="en-US" sz="1400" dirty="0"/>
          </a:p>
          <a:p>
            <a:pPr marL="0" indent="0">
              <a:buNone/>
            </a:pPr>
            <a:r>
              <a:rPr lang="en-US" sz="1100" dirty="0">
                <a:solidFill>
                  <a:schemeClr val="tx2"/>
                </a:solidFill>
              </a:rPr>
              <a:t>Agents draft the disposition evidence pack; a named human reviews and signs</a:t>
            </a:r>
            <a:endParaRPr lang="en-US" sz="1400" dirty="0"/>
          </a:p>
        </p:txBody>
      </p:sp>
      <p:sp>
        <p:nvSpPr>
          <p:cNvPr id="39" name="card"/>
          <p:cNvSpPr/>
          <p:nvPr/>
        </p:nvSpPr>
        <p:spPr>
          <a:xfrm>
            <a:off x="6446520" y="5111496"/>
            <a:ext cx="5285232" cy="868680"/>
          </a:xfrm>
          <a:prstGeom prst="roundRect">
            <a:avLst>
              <a:gd name="adj" fmla="val 8421"/>
            </a:avLst>
          </a:prstGeom>
          <a:solidFill>
            <a:schemeClr val="bg1"/>
          </a:solidFill>
          <a:ln w="9525">
            <a:solidFill>
              <a:srgbClr val="E6E6E6"/>
            </a:solidFill>
            <a:prstDash val="solid"/>
          </a:ln>
          <a:effectLst>
            <a:outerShdw blurRad="76200" dist="19050" dir="5400000" algn="bl" rotWithShape="0">
              <a:srgbClr val="000000">
                <a:alpha val="8000"/>
              </a:srgbClr>
            </a:outerShdw>
          </a:effectLst>
        </p:spPr>
      </p:sp>
      <p:sp>
        <p:nvSpPr>
          <p:cNvPr id="40" name="icon-circle"/>
          <p:cNvSpPr/>
          <p:nvPr/>
        </p:nvSpPr>
        <p:spPr>
          <a:xfrm>
            <a:off x="6629400" y="5266944"/>
            <a:ext cx="548640" cy="548640"/>
          </a:xfrm>
          <a:prstGeom prst="ellipse">
            <a:avLst/>
          </a:prstGeom>
          <a:solidFill>
            <a:srgbClr val="E1251B"/>
          </a:solidFill>
          <a:ln w="12700">
            <a:solidFill>
              <a:srgbClr val="E1251B"/>
            </a:solidFill>
            <a:prstDash val="solid"/>
          </a:ln>
        </p:spPr>
      </p:sp>
      <p:pic>
        <p:nvPicPr>
          <p:cNvPr id="41" name="Image 3" descr="FaMicroscope"/>
          <p:cNvPicPr>
            <a:picLocks noChangeAspect="1"/>
          </p:cNvPicPr>
          <p:nvPr/>
        </p:nvPicPr>
        <p:blipFill>
          <a:blip r:embed="rId6"/>
          <a:stretch>
            <a:fillRect/>
          </a:stretch>
        </p:blipFill>
        <p:spPr>
          <a:xfrm>
            <a:off x="6772046" y="5409590"/>
            <a:ext cx="263347" cy="263347"/>
          </a:xfrm>
          <a:prstGeom prst="rect">
            <a:avLst/>
          </a:prstGeom>
        </p:spPr>
      </p:pic>
      <p:sp>
        <p:nvSpPr>
          <p:cNvPr id="42" name="Text 35"/>
          <p:cNvSpPr txBox="1"/>
          <p:nvPr/>
        </p:nvSpPr>
        <p:spPr>
          <a:xfrm>
            <a:off x="7360920" y="5230368"/>
            <a:ext cx="4251960" cy="685800"/>
          </a:xfrm>
          <a:prstGeom prst="rect">
            <a:avLst/>
          </a:prstGeom>
          <a:noFill/>
          <a:ln/>
        </p:spPr>
        <p:txBody>
          <a:bodyPr wrap="square" lIns="0" tIns="0" rIns="0" bIns="0" rtlCol="0" anchor="t"/>
          <a:lstStyle/>
          <a:p>
            <a:pPr marL="0" indent="0">
              <a:buNone/>
            </a:pPr>
            <a:r>
              <a:rPr lang="en-US" sz="1400" b="1" dirty="0">
                <a:solidFill>
                  <a:schemeClr val="tx1"/>
                </a:solidFill>
              </a:rPr>
              <a:t>Audit copilot</a:t>
            </a:r>
            <a:endParaRPr lang="en-US" sz="1400" dirty="0"/>
          </a:p>
          <a:p>
            <a:pPr marL="0" indent="0">
              <a:buNone/>
            </a:pPr>
            <a:r>
              <a:rPr lang="en-US" sz="1100" dirty="0">
                <a:solidFill>
                  <a:schemeClr val="tx2"/>
                </a:solidFill>
              </a:rPr>
              <a:t>Answer an inspector's question from hash-chained events, with citations</a:t>
            </a:r>
            <a:endParaRPr lang="en-US" sz="1400" dirty="0"/>
          </a:p>
        </p:txBody>
      </p:sp>
      <p:sp>
        <p:nvSpPr>
          <p:cNvPr id="4"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377440"/>
            <a:ext cx="5486400" cy="365760"/>
          </a:xfrm>
          <a:prstGeom prst="rect">
            <a:avLst/>
          </a:prstGeom>
          <a:noFill/>
          <a:ln/>
        </p:spPr>
        <p:txBody>
          <a:bodyPr wrap="square" lIns="0" tIns="0" rIns="0" bIns="0" rtlCol="0" anchor="t"/>
          <a:lstStyle/>
          <a:p>
            <a:pPr marL="0" indent="0">
              <a:buNone/>
            </a:pPr>
            <a:r>
              <a:rPr lang="en-US" sz="1600" b="1" kern="0" spc="300" dirty="0">
                <a:solidFill>
                  <a:schemeClr val="accent1"/>
                </a:solidFill>
              </a:rPr>
              <a:t>THANK YOU  ·  QUESTIONS</a:t>
            </a:r>
            <a:endParaRPr lang="en-US" sz="1600" dirty="0"/>
          </a:p>
        </p:txBody>
      </p:sp>
      <p:sp>
        <p:nvSpPr>
          <p:cNvPr id="3" name="Text 0"/>
          <p:cNvSpPr>
            <a:spLocks noGrp="1"/>
          </p:cNvSpPr>
          <p:nvPr>
            <p:ph type="title" idx="102" hasCustomPrompt="1"/>
          </p:nvPr>
        </p:nvSpPr>
        <p:spPr>
          <a:xfrm>
            <a:off x="548640" y="2971800"/>
            <a:ext cx="10515600" cy="1463040"/>
          </a:xfrm>
          <a:prstGeom prst="rect">
            <a:avLst/>
          </a:prstGeom>
          <a:noFill/>
          <a:ln/>
        </p:spPr>
        <p:txBody>
          <a:bodyPr wrap="square" lIns="0" tIns="0" rIns="0" bIns="0" rtlCol="0" anchor="t"/>
          <a:lstStyle/>
          <a:p>
            <a:pPr marL="0" indent="0" algn="l">
              <a:buNone/>
            </a:pPr>
            <a:r>
              <a:rPr lang="en-US" sz="4000" b="1" dirty="0">
                <a:solidFill>
                  <a:schemeClr val="bg1"/>
                </a:solidFill>
              </a:rPr>
              <a:t>One estate. One truth.</a:t>
            </a:r>
            <a:endParaRPr lang="en-US" sz="4000" dirty="0"/>
          </a:p>
          <a:p>
            <a:pPr marL="0" indent="0" algn="l">
              <a:buNone/>
            </a:pPr>
            <a:r>
              <a:rPr lang="en-US" sz="4000" b="1" dirty="0">
                <a:solidFill>
                  <a:schemeClr val="accent1"/>
                </a:solidFill>
              </a:rPr>
              <a:t>Humans decide.</a:t>
            </a:r>
            <a:endParaRPr lang="en-US" sz="4000" dirty="0"/>
          </a:p>
        </p:txBody>
      </p:sp>
      <p:sp>
        <p:nvSpPr>
          <p:cNvPr id="4" name="Text 0"/>
          <p:cNvSpPr>
            <a:spLocks noGrp="1"/>
          </p:cNvSpPr>
          <p:nvPr>
            <p:ph type="body" idx="103" hasCustomPrompt="1"/>
          </p:nvPr>
        </p:nvSpPr>
        <p:spPr>
          <a:xfrm>
            <a:off x="548640" y="4572000"/>
            <a:ext cx="9601200" cy="914400"/>
          </a:xfrm>
          <a:prstGeom prst="rect">
            <a:avLst/>
          </a:prstGeom>
          <a:noFill/>
          <a:ln/>
        </p:spPr>
        <p:txBody>
          <a:bodyPr wrap="square" lIns="0" tIns="0" rIns="0" bIns="0" rtlCol="0" anchor="t"/>
          <a:lstStyle/>
          <a:p>
            <a:pPr marL="0" indent="0" algn="l">
              <a:buNone/>
            </a:pPr>
            <a:r>
              <a:rPr lang="en-US" sz="1600" dirty="0">
                <a:solidFill>
                  <a:schemeClr val="accent6"/>
                </a:solidFill>
              </a:rPr>
              <a:t>We diagnosed why a GxP quality estate cannot agree on its own numbers, rebuilt its core so every figure carries its definition and every decision its owner, and added an AI that explains but never decides. The next step is five decisions and a 90-day pilot.</a:t>
            </a:r>
            <a:endParaRPr lang="en-US" sz="1600" dirty="0"/>
          </a:p>
        </p:txBody>
      </p:sp>
      <p:sp>
        <p:nvSpPr>
          <p:cNvPr id="6" name="Text 0"/>
          <p:cNvSpPr>
            <a:spLocks noGrp="1"/>
          </p:cNvSpPr>
          <p:nvPr>
            <p:ph type="body" idx="101" hasCustomPrompt="1"/>
          </p:nvPr>
        </p:nvSpPr>
        <p:spPr>
          <a:xfrm>
            <a:off x="548640" y="2011680"/>
            <a:ext cx="3657600" cy="914400"/>
          </a:xfrm>
          <a:prstGeom prst="rect">
            <a:avLst/>
          </a:prstGeom>
          <a:noFill/>
          <a:ln/>
        </p:spPr>
        <p:txBody>
          <a:bodyPr wrap="square" lIns="0" tIns="0" rIns="0" bIns="0" rtlCol="0"/>
          <a:lstStyle/>
          <a:p>
            <a:pPr marL="0" indent="0" algn="l">
              <a:buNone/>
            </a:pPr>
            <a:endParaRPr lang="en-US" sz="60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a:spLocks noGrp="1"/>
          </p:cNvSpPr>
          <p:nvPr>
            <p:ph type="body" idx="103" hasCustomPrompt="1"/>
          </p:nvPr>
        </p:nvSpPr>
        <p:spPr>
          <a:xfrm>
            <a:off x="6245352" y="292608"/>
            <a:ext cx="5486400" cy="274320"/>
          </a:xfrm>
          <a:prstGeom prst="rect">
            <a:avLst/>
          </a:prstGeom>
          <a:noFill/>
          <a:ln/>
        </p:spPr>
        <p:txBody>
          <a:bodyPr wrap="square" lIns="0" tIns="0" rIns="0" bIns="0" rtlCol="0"/>
          <a:lstStyle/>
          <a:p>
            <a:pPr marL="0" indent="0" algn="r">
              <a:buNone/>
            </a:pPr>
            <a:r>
              <a:rPr lang="en-US" sz="1000" b="1" dirty="0">
                <a:solidFill>
                  <a:schemeClr val="accent1"/>
                </a:solidFill>
              </a:rPr>
              <a:t>Appendix  ·  Hard questions</a:t>
            </a:r>
            <a:endParaRPr lang="en-US" sz="1000" dirty="0"/>
          </a:p>
        </p:txBody>
      </p:sp>
      <p:sp>
        <p:nvSpPr>
          <p:cNvPr id="3" name="Text 2"/>
          <p:cNvSpPr>
            <a:spLocks noGrp="1"/>
          </p:cNvSpPr>
          <p:nvPr>
            <p:ph type="title" idx="104" hasCustomPrompt="1"/>
          </p:nvPr>
        </p:nvSpPr>
        <p:spPr>
          <a:xfrm>
            <a:off x="457200" y="896112"/>
            <a:ext cx="11274552" cy="1097280"/>
          </a:xfrm>
          <a:prstGeom prst="rect">
            <a:avLst/>
          </a:prstGeom>
          <a:noFill/>
          <a:ln/>
        </p:spPr>
        <p:txBody>
          <a:bodyPr wrap="square" lIns="0" tIns="0" rIns="0" bIns="0" rtlCol="0" anchor="t"/>
          <a:lstStyle/>
          <a:p>
            <a:pPr marL="0" indent="0" algn="l">
              <a:lnSpc>
                <a:spcPct val="95000"/>
              </a:lnSpc>
              <a:buNone/>
            </a:pPr>
            <a:r>
              <a:rPr lang="en-US" sz="3000" b="1" dirty="0">
                <a:solidFill>
                  <a:schemeClr val="tx2"/>
                </a:solidFill>
              </a:rPr>
              <a:t>PREPARED ANSWERS</a:t>
            </a:r>
            <a:endParaRPr lang="en-US" sz="3000" dirty="0"/>
          </a:p>
          <a:p>
            <a:pPr marL="0" indent="0" algn="l">
              <a:lnSpc>
                <a:spcPct val="95000"/>
              </a:lnSpc>
              <a:buNone/>
            </a:pPr>
            <a:r>
              <a:rPr lang="en-US" sz="3000" b="1" dirty="0">
                <a:solidFill>
                  <a:schemeClr val="accent1"/>
                </a:solidFill>
              </a:rPr>
              <a:t>FOR THE Q&amp;A</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11274552" cy="914400"/>
        </p:xfrm>
        <a:graphic>
          <a:graphicData uri="http://schemas.openxmlformats.org/drawingml/2006/table">
            <a:tbl>
              <a:tblPr/>
              <a:tblGrid>
                <a:gridCol w="2926080">
                  <a:extLst>
                    <a:ext uri="{9D8B030D-6E8A-4147-A177-3AD203B41FA5}">
                      <a16:colId xmlns:a16="http://schemas.microsoft.com/office/drawing/2014/main" val="20000"/>
                    </a:ext>
                  </a:extLst>
                </a:gridCol>
                <a:gridCol w="8348472">
                  <a:extLst>
                    <a:ext uri="{9D8B030D-6E8A-4147-A177-3AD203B41FA5}">
                      <a16:colId xmlns:a16="http://schemas.microsoft.com/office/drawing/2014/main" val="20001"/>
                    </a:ext>
                  </a:extLst>
                </a:gridCol>
              </a:tblGrid>
              <a:tr h="566928">
                <a:tc>
                  <a:txBody>
                    <a:bodyPr/>
                    <a:lstStyle/>
                    <a:p>
                      <a:pPr marL="0" indent="0">
                        <a:buNone/>
                      </a:pPr>
                      <a:r>
                        <a:rPr lang="en-US" sz="1100" b="1" dirty="0">
                          <a:solidFill>
                            <a:srgbClr val="FFFFFF"/>
                          </a:solidFill>
                          <a:latin typeface="Arial" pitchFamily="34" charset="0"/>
                          <a:ea typeface="Arial" pitchFamily="34" charset="-122"/>
                          <a:cs typeface="Arial" pitchFamily="34" charset="-120"/>
                        </a:rPr>
                        <a:t>Question</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Answer</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2B2B2B"/>
                          </a:solidFill>
                          <a:latin typeface="Arial" pitchFamily="34" charset="0"/>
                          <a:ea typeface="Arial" pitchFamily="34" charset="-122"/>
                          <a:cs typeface="Arial" pitchFamily="34" charset="-120"/>
                        </a:rPr>
                        <a:t>What is the ROI?</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Not computable: no after-window, no volumes, no labour rate. We will not offer a number.</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200" dirty="0">
                          <a:solidFill>
                            <a:srgbClr val="2B2B2B"/>
                          </a:solidFill>
                          <a:latin typeface="Arial" pitchFamily="34" charset="0"/>
                          <a:ea typeface="Arial" pitchFamily="34" charset="-122"/>
                          <a:cs typeface="Arial" pitchFamily="34" charset="-120"/>
                        </a:rPr>
                        <a:t>Who is using it?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Nobody yet. It runs in a sandbox; adoption is 0 of 125 cases.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200" dirty="0">
                          <a:solidFill>
                            <a:srgbClr val="2B2B2B"/>
                          </a:solidFill>
                          <a:latin typeface="Arial" pitchFamily="34" charset="0"/>
                          <a:ea typeface="Arial" pitchFamily="34" charset="-122"/>
                          <a:cs typeface="Arial" pitchFamily="34" charset="-120"/>
                        </a:rPr>
                        <a:t>Why not let AI decide?</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The root causes are missing owners, keys and records. AI cannot supply an owner, and an LLM reading feed data carries an injection risk (86 rows).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200" dirty="0">
                          <a:solidFill>
                            <a:srgbClr val="2B2B2B"/>
                          </a:solidFill>
                          <a:latin typeface="Arial" pitchFamily="34" charset="0"/>
                          <a:ea typeface="Arial" pitchFamily="34" charset="-122"/>
                          <a:cs typeface="Arial" pitchFamily="34" charset="-120"/>
                        </a:rPr>
                        <a:t>Is it GxP / Part 11 compliant?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We make no compliance claim. Part 11 is framing only.</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200" dirty="0">
                          <a:solidFill>
                            <a:srgbClr val="2B2B2B"/>
                          </a:solidFill>
                          <a:latin typeface="Arial" pitchFamily="34" charset="0"/>
                          <a:ea typeface="Arial" pitchFamily="34" charset="-122"/>
                          <a:cs typeface="Arial" pitchFamily="34" charset="-120"/>
                        </a:rPr>
                        <a:t>Is it secure?</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For synthetic data on loopback in shadow mode. No TLS, no second factor, no external penetration test yet.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200" dirty="0">
                          <a:solidFill>
                            <a:srgbClr val="2B2B2B"/>
                          </a:solidFill>
                          <a:latin typeface="Arial" pitchFamily="34" charset="0"/>
                          <a:ea typeface="Arial" pitchFamily="34" charset="-122"/>
                          <a:cs typeface="Arial" pitchFamily="34" charset="-120"/>
                        </a:rPr>
                        <a:t>What does the AI cost?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marL="0" indent="0">
                        <a:buNone/>
                      </a:pPr>
                      <a:r>
                        <a:rPr lang="en-US" sz="1200" dirty="0">
                          <a:solidFill>
                            <a:srgbClr val="2B2B2B"/>
                          </a:solidFill>
                          <a:latin typeface="Arial" pitchFamily="34" charset="0"/>
                          <a:ea typeface="Arial" pitchFamily="34" charset="-122"/>
                          <a:cs typeface="Arial" pitchFamily="34" charset="-120"/>
                        </a:rPr>
                        <a:t>Zero without a key. With a key, one chat call per question; spend is set by the configured model.</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E9E9E"/>
                </a:solidFill>
              </a:defRPr>
            </a:lvl1pPr>
          </a:lstStyle>
          <a:p>
            <a:pPr algn="r"/>
            <a:fld id="{F7021451-1387-4CA6-816F-3879F97B5CBC}" type="slidenum">
              <a:rPr lang="en-US" b="0"/>
              <a:t>31</a:t>
            </a:fld>
            <a:endParaRPr lang="en-US"/>
          </a:p>
        </p:txBody>
      </p:sp>
    </p:spTree>
  </p:cSld>
  <p:clrMapOvr>
    <a:masterClrMapping/>
  </p:clrMapOvr>
</p:sld>
</file>

<file path=ppt/theme/theme1.xml><?xml version="1.0" encoding="utf-8"?>
<a:theme xmlns:a="http://schemas.openxmlformats.org/drawingml/2006/main" name="Birlasoft Capstone">
  <a:themeElements>
    <a:clrScheme name="Birlasoft Capstone">
      <a:dk1>
        <a:srgbClr val="2B2B2B"/>
      </a:dk1>
      <a:lt1>
        <a:srgbClr val="FFFFFF"/>
      </a:lt1>
      <a:dk2>
        <a:srgbClr val="4D4D4D"/>
      </a:dk2>
      <a:lt2>
        <a:srgbClr val="F4F4F4"/>
      </a:lt2>
      <a:accent1>
        <a:srgbClr val="E1251B"/>
      </a:accent1>
      <a:accent2>
        <a:srgbClr val="7A1410"/>
      </a:accent2>
      <a:accent3>
        <a:srgbClr val="9E9E9E"/>
      </a:accent3>
      <a:accent4>
        <a:srgbClr val="2E7D4F"/>
      </a:accent4>
      <a:accent5>
        <a:srgbClr val="B26A00"/>
      </a:accent5>
      <a:accent6>
        <a:srgbClr val="C9C9C9"/>
      </a:accent6>
      <a:hlink>
        <a:srgbClr val="E1251B"/>
      </a:hlink>
      <a:folHlink>
        <a:srgbClr val="7A1410"/>
      </a:folHlink>
    </a:clrScheme>
    <a:fontScheme name="Birlasoft Capston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5461</Words>
  <Application>Microsoft Office PowerPoint</Application>
  <PresentationFormat>Widescreen</PresentationFormat>
  <Paragraphs>731</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Courier New</vt:lpstr>
      <vt:lpstr>Birlasoft Capstone</vt:lpstr>
      <vt:lpstr>PowerPoint Presentation</vt:lpstr>
      <vt:lpstr>THE ANSWER FIRST WHAT WE DID, WHAT IS PROVEN, WHAT WE NEED</vt:lpstr>
      <vt:lpstr>THE ESTATE CANNOT AGREE ON ITS OWN NUMBERS</vt:lpstr>
      <vt:lpstr>WHO FEELS IT, AND WHO MUST DECIDE</vt:lpstr>
      <vt:lpstr>EIGHT ROOT CAUSES, CONFIRMED IN CODE AND SCHEMA</vt:lpstr>
      <vt:lpstr>What we built, and how it works</vt:lpstr>
      <vt:lpstr>FIVE PRINCIPLES THAT SHAPED EVERY LINE OF CODE</vt:lpstr>
      <vt:lpstr>FROM PARTNER FEED TO A DEFENSIBLE DECISION</vt:lpstr>
      <vt:lpstr>BEFORE: WHAT THE REPO HAD FIVE CODEBASES, THREE RULE COPIES</vt:lpstr>
      <vt:lpstr>NOW: ONE GOVERNED HUB BESIDE THE UNTOUCHED ESTATE</vt:lpstr>
      <vt:lpstr>A MODULAR MONOLITH BESIDE THE LEGACY ESTATE</vt:lpstr>
      <vt:lpstr>INSIDE THE HUB: 24 PACKAGES, ONE RESPONSIBILITY EACH</vt:lpstr>
      <vt:lpstr>WHAT CHANGED IN THE ENGINEERING</vt:lpstr>
      <vt:lpstr>OPENAI, BEHIND FIVE GUARDRAILS</vt:lpstr>
      <vt:lpstr>SIX DECISIONS AND WHAT EACH ONE COST</vt:lpstr>
      <vt:lpstr>THE 42-STAGE FDE SPINE, ADAPTED, NOT FOLLOWED BLINDLY</vt:lpstr>
      <vt:lpstr>Show, don't tell</vt:lpstr>
      <vt:lpstr>THE COMMAND CENTRE: ONE VIEW, EVERY DEFINITION VISIBLE</vt:lpstr>
      <vt:lpstr>ONE NUMBER, ONE SOURCE</vt:lpstr>
      <vt:lpstr>8,567 FEED ROWS, CLASSIFIED BY THE HUB'S OWN RULES</vt:lpstr>
      <vt:lpstr>TEN ACTIONS NO MACHINE MAY TAKE</vt:lpstr>
      <vt:lpstr>TESTED LIKE IT WILL BE AUDITED</vt:lpstr>
      <vt:lpstr>WHAT MOVED, AND WHAT WE REFUSE TO CLAIM</vt:lpstr>
      <vt:lpstr>WHICH GAINS CAME FROM AI, AND WHICH FROM ENGINEERING</vt:lpstr>
      <vt:lpstr>WHAT AI CAN DO HERE, AND WHAT IT MUST NEVER DO</vt:lpstr>
      <vt:lpstr>WHAT A LEADER CAN TAKE FROM THIS TODAY</vt:lpstr>
      <vt:lpstr>FIVE LESSONS AND WHAT SURPRISED US</vt:lpstr>
      <vt:lpstr>ENGINEERING IS NOT THE CONSTRAINT. DECISIONS ARE</vt:lpstr>
      <vt:lpstr>FROM ONE ESTATE TO AN ENTERPRISE PATTERN</vt:lpstr>
      <vt:lpstr>One estate. One truth. Humans decide.</vt:lpstr>
      <vt:lpstr>PREPARED ANSWERS FOR THE Q&amp;A</vt:lpstr>
    </vt:vector>
  </TitlesOfParts>
  <Company>Birlasoft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GxP Quality Hub: AI FDE Capstone</dc:title>
  <dc:subject>Executive presentation to the CTO</dc:subject>
  <dc:creator>Dinesh Naik</dc:creator>
  <cp:lastModifiedBy>Dinesh Naik</cp:lastModifiedBy>
  <cp:revision>2</cp:revision>
  <dcterms:created xsi:type="dcterms:W3CDTF">2026-10-25T17:44:20Z</dcterms:created>
  <dcterms:modified xsi:type="dcterms:W3CDTF">2026-10-26T01:34:27Z</dcterms:modified>
</cp:coreProperties>
</file>