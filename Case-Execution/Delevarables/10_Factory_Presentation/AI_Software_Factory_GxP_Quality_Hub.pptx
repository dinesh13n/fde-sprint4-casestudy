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Stages</c:v>
                </c:pt>
              </c:strCache>
            </c:strRef>
          </c:tx>
          <c:spPr>
            <a:solidFill>
              <a:srgbClr val="0FA3A3"/>
            </a:solidFill>
            <a:effectLst/>
          </c:spPr>
          <c:invertIfNegative val="0"/>
          <c:dLbls>
            <c:numFmt formatCode="#,##0" sourceLinked="0"/>
            <c:txPr>
              <a:bodyPr/>
              <a:lstStyle/>
              <a:p>
                <a:pPr>
                  <a:defRPr b="0" i="0" strike="noStrike" sz="1200" u="none">
                    <a:solidFill>
                      <a:srgbClr val="1B2733"/>
                    </a:solidFill>
                    <a:latin typeface="Calibri"/>
                  </a:defRPr>
                </a:pPr>
              </a:p>
            </c:txPr>
            <c:showLegendKey val="0"/>
            <c:showVal val="1"/>
            <c:showCatName val="0"/>
            <c:showSerName val="0"/>
            <c:showPercent val="0"/>
            <c:showBubbleSize val="0"/>
            <c:showLeaderLines val="0"/>
          </c:dLbls>
          <c:dPt>
            <c:idx val="0"/>
            <c:invertIfNegative val="0"/>
            <c:bubble3D val="0"/>
            <c:spPr>
              <a:solidFill>
                <a:srgbClr val="0FA3A3"/>
              </a:solidFill>
              <a:effectLst/>
            </c:spPr>
          </c:dPt>
          <c:dPt>
            <c:idx val="1"/>
            <c:invertIfNegative val="0"/>
            <c:bubble3D val="0"/>
            <c:spPr>
              <a:solidFill>
                <a:srgbClr val="E39A1F"/>
              </a:solidFill>
              <a:effectLst/>
            </c:spPr>
          </c:dPt>
          <c:dPt>
            <c:idx val="2"/>
            <c:invertIfNegative val="0"/>
            <c:bubble3D val="0"/>
            <c:spPr>
              <a:solidFill>
                <a:srgbClr val="C0392B"/>
              </a:solidFill>
              <a:effectLst/>
            </c:spPr>
          </c:dPt>
          <c:cat>
            <c:multiLvlStrRef>
              <c:f>Sheet1!$A$2:$A$4</c:f>
              <c:multiLvlStrCache>
                <c:ptCount val="3"/>
                <c:lvl>
                  <c:pt idx="0">
                    <c:v>PASS</c:v>
                  </c:pt>
                  <c:pt idx="1">
                    <c:v>CONDITIONAL PASS</c:v>
                  </c:pt>
                  <c:pt idx="2">
                    <c:v>BLOCKED</c:v>
                  </c:pt>
                </c:lvl>
              </c:multiLvlStrCache>
            </c:multiLvlStrRef>
          </c:cat>
          <c:val>
            <c:numRef>
              <c:f>Sheet1!$B$2:$B$4</c:f>
              <c:numCache>
                <c:formatCode>General</c:formatCode>
                <c:ptCount val="3"/>
                <c:pt idx="0">
                  <c:v>40</c:v>
                </c:pt>
                <c:pt idx="1">
                  <c:v>4</c:v>
                </c:pt>
                <c:pt idx="2">
                  <c:v>2</c:v>
                </c:pt>
              </c:numCache>
            </c:numRef>
          </c:val>
        </c:ser>
        <c:dLbls>
          <c:numFmt formatCode="#,##0" sourceLinked="0"/>
          <c:txPr>
            <a:bodyPr/>
            <a:lstStyle/>
            <a:p>
              <a:pPr>
                <a:defRPr b="0" i="0" strike="noStrike" sz="1200" u="none">
                  <a:solidFill>
                    <a:srgbClr val="1B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scope: this deck shows how the GxP Quality Hub brownfield repository was turned into an AI Software Factory. Three things are demonstrated with real artifacts from the repository: the runbooks that drive the work, the Context Lake that holds governed project knowledge, and the Ontology and Knowledge Graph built on top of it. Every number on the slides comes from the repository or the generated artifacts. All data is synthetic and unvalidated. One framing point to state early: the shipped hub is No-AI by decision OD-08; the AI Agent works in the delivery factory, not inside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brownfield repository is the input: legacy Java, JavaScript and batch code, plus the application, with synthetic data (125 cases, 8,567 partner feed rows). Forty-six stage runbooks drive the AI Agent through the work. Their outputs form the Context Lake: 543 Markdown documents under docs, the orchestrator decisions and the semantic layer. The Ontology and Knowledge Graph give that context structure. The governed outputs are the hub itself and its release gate. State the honest framing here: the hub is No-AI by decision OD-08, and the release verdict today is NO-GO. The factory is the delivery process, and it is working as designed because it reports that verdict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has one self-contained runbook, written as a system prompt, run in order. The stage numbers match the docs folder each stage writes to. The ten phase groupings are our own presentation grouping of the 46 stages; the stage names are exactly as in the repository. The point: the AI Agent never improvises the process. It follows the same production line for every stage, from orientation to executive defence, and each line ends in artifacts and a quality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every runbook has the same sections, so the agent behaves predictably. The prompt is built from a template and an anatomy of eight components, with production additions. Middle: the five operating modes limit what the agent may touch at each stage. Right: the recorded outcome of the 46 stage runs from the evidence workbook: 40 PASS, 4 CONDITIONAL PASS and 2 BLOCKED. The BLOCKED and CONDITIONAL results are the factory working as designed: the completion gate refuses to pass what the evidence does 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family of runbooks operates the delivered hub. The operational runbook has RB-00 to RB-11, one for each alert family plus the routine evaluation and how to read a trace, and RB-12 states honestly what the runbook cannot do. Each runbook entry is a numbered procedure with severity. The right side lists the executable tooling that the runbooks and the release decision use. Be explicit about limits: no paging, no on-call and no automatic remediation exist; monitoring is manual for the shadow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generic workflow applied to a question we actually ran: is the hub releasable. The agent selects the Stage 30 release runbook, loads the governed context, identifies the relevant concepts in the Ontology, checks the deviation register in the semantic layer and graph, plans the evaluation, executes it in a sandbox copy, validates with the regression run, records the evidence and produces the verdict. The verdict is NO-GO: 17 of 20 technical criteria pass and 0 of 40 sign-offs are recorded. The runbook produced an honest answer rather than a comfortable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Lake is not a document dump. It is the set of governed, version-controlled artifacts the runbooks produce and consume. The tree shows the real locations: the stage folders under docs hold 543 Markdown artifacts, .fde holds the engagement context, the orchestrator decisions and the stage prompts, the semantic layer holds the YAML definitions and generated JSON, contracts hold machine-readable data contracts, and exports hold the graph. Each is human-readable and machine-consumable. Open the folder live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what separates this from a folder of files. Every artifact carries a header with stage, version, date, author, status, evidence sources and what it supersedes. Claims are classified as Verified Fact, Inference, Assumption or Unknown, so unknowns are recorded instead of guessed. Decisions are numbered and traceable: the orchestrator decisions file holds forty. Untrusted text is a particular risk: planted instruction strings were found in 86 feed rows, 22 document bodies and 9 evidence payloads, so the rule is that such text is only ever displayed as escaped leaf content and never used as an instruction, label, query or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turns the prose in the lake into definitions that code can check. Its rule: Markdown explains, YAML defines, JSON Schema validates, tests protect, generated JSON serves. The tiles are counts from the YAML files: 34 entities, 36 relationships, 56 status vocabularies holding 255 values, 40 metrics, 49 business rules, 7 workflows, 6 roles and 10 human-only Zone H actions. The vocabulary design choice matters: the label CLOSED appears in five vocabularies with different meanings, and the layer deliberately maps none of them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is generated from the semantic layer into OWL 2 and SKOS Turtle: 34 classes in nine categories, 36 object properties, data properties from the attributes, and the 56 vocabularies as SKOS concept schemes. The picture is the explorer built from it; clusters are the categories. Synthetic instance data is loaded as a second Turtle file. Eleven SPARQL queries were run with rdflib. Be precise about status: the syntax and queries were verified; no OWL reasoner or SHACL validation was run. The Ontology defines meaning; the Knowledge Graph stores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is built by graph/model.py from the legacy and enterprise databases, read-only, with free-text columns deliberately not projected. The export has 13,244 nodes and 17,529 edges, in eleven node labels and eleven relationship types, with a FalkorDB loader, starter Cypher queries and GraphML, CSV, JSON and HTML exports. The diagram shows a real path from the data: batch BT00000048, made at US-TX from material M0000010 sourced at IN-BLR, with one lab result, a critical deviation and its overdue CAPA. Honest limit: the enterprise side has 4,166 untyped relates-to links that are isolated pairs, so no typed enterprise graph exists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advantages, each visible in the artifacts. Right: three real questions with the answers produced from our data. The first uses the Knowledge Graph: two critical deviations have overdue CAPAs, DEV00000048 at US-TX and DEV00000084 at DE-BY. The second uses the Ontology: five relationships exist in the model but have no key in the legacy estate. The third shows an honest gap: zero cases are linked to batches, deviations or CAPAs, because those links can only be a human decision. A model that shows its gaps is more useful than one that hides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live flow, about ten minutes. Open each artifact on screen in this order. Step 1 shows the runbook list, step 2 a single runbook, step 3 the Context Lake folders, step 4 the semantic layer, step 5 the ontology explorer, step 6 the graph query, step 7 the release verdict. Keep returning to one idea: every answer points back to a governed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is done and what is not. Done: the runbooks, the Context Lake, the semantic layer, the Ontology and the Knowledge Graph exist and were exercised. Not done: the release verdict is NO-GO until all 20 criteria pass and every named approval is recorded; the Ontology has not been reasoner-checked; and the assistant evaluation set and second-model portability run remain open. The next steps are proposals, not commitments. Close with: from AI-assisted coding to a governed AI Software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3" name="Text 1"/>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1</a:t>
            </a:r>
            <a:endParaRPr lang="en-US" sz="900" dirty="0"/>
          </a:p>
        </p:txBody>
      </p:sp>
      <p:sp>
        <p:nvSpPr>
          <p:cNvPr id="5" name="Text 2"/>
          <p:cNvSpPr txBox="1"/>
          <p:nvPr/>
        </p:nvSpPr>
        <p:spPr>
          <a:xfrm>
            <a:off x="548640" y="68580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AI Software Factory</a:t>
            </a:r>
            <a:endParaRPr lang="en-US" sz="4400" dirty="0"/>
          </a:p>
        </p:txBody>
      </p:sp>
      <p:sp>
        <p:nvSpPr>
          <p:cNvPr id="6" name="Text 3"/>
          <p:cNvSpPr txBox="1"/>
          <p:nvPr/>
        </p:nvSpPr>
        <p:spPr>
          <a:xfrm>
            <a:off x="548640" y="1508760"/>
            <a:ext cx="8046720" cy="457200"/>
          </a:xfrm>
          <a:prstGeom prst="rect">
            <a:avLst/>
          </a:prstGeom>
          <a:noFill/>
          <a:ln/>
        </p:spPr>
        <p:txBody>
          <a:bodyPr wrap="square" lIns="0" tIns="0" rIns="0" bIns="0" rtlCol="0" anchor="ctr"/>
          <a:lstStyle/>
          <a:p>
            <a:pPr indent="0" marL="0">
              <a:buNone/>
            </a:pPr>
            <a:r>
              <a:rPr lang="en-US" sz="2200" dirty="0">
                <a:solidFill>
                  <a:srgbClr val="BFE9E6"/>
                </a:solidFill>
                <a:latin typeface="Calibri" pitchFamily="34" charset="0"/>
                <a:ea typeface="Calibri" pitchFamily="34" charset="-122"/>
                <a:cs typeface="Calibri" pitchFamily="34" charset="-120"/>
              </a:rPr>
              <a:t>Runbooks, Context Lake, Ontology and Knowledge Graph</a:t>
            </a:r>
            <a:endParaRPr lang="en-US" sz="2200" dirty="0"/>
          </a:p>
        </p:txBody>
      </p:sp>
      <p:sp>
        <p:nvSpPr>
          <p:cNvPr id="7" name="Text 4"/>
          <p:cNvSpPr txBox="1"/>
          <p:nvPr/>
        </p:nvSpPr>
        <p:spPr>
          <a:xfrm>
            <a:off x="548640" y="2011680"/>
            <a:ext cx="7680960" cy="548640"/>
          </a:xfrm>
          <a:prstGeom prst="rect">
            <a:avLst/>
          </a:prstGeom>
          <a:noFill/>
          <a:ln/>
        </p:spPr>
        <p:txBody>
          <a:bodyPr wrap="square" lIns="0" tIns="0" rIns="0" bIns="0" rtlCol="0" anchor="ctr"/>
          <a:lstStyle/>
          <a:p>
            <a:pPr indent="0" marL="0">
              <a:buNone/>
            </a:pPr>
            <a:r>
              <a:rPr lang="en-US" sz="1600" dirty="0">
                <a:solidFill>
                  <a:srgbClr val="BFD3E6"/>
                </a:solidFill>
                <a:latin typeface="Calibri" pitchFamily="34" charset="0"/>
                <a:ea typeface="Calibri" pitchFamily="34" charset="-122"/>
                <a:cs typeface="Calibri" pitchFamily="34" charset="-120"/>
              </a:rPr>
              <a:t>How the GxP Quality Hub brownfield repository became a governed, repeatable AI delivery factory</a:t>
            </a:r>
            <a:endParaRPr lang="en-US" sz="1600" dirty="0"/>
          </a:p>
        </p:txBody>
      </p:sp>
      <p:sp>
        <p:nvSpPr>
          <p:cNvPr id="8" name="Shape 5"/>
          <p:cNvSpPr/>
          <p:nvPr/>
        </p:nvSpPr>
        <p:spPr>
          <a:xfrm>
            <a:off x="548640" y="3017520"/>
            <a:ext cx="1828800" cy="1051560"/>
          </a:xfrm>
          <a:prstGeom prst="roundRect">
            <a:avLst>
              <a:gd name="adj" fmla="val 6087"/>
            </a:avLst>
          </a:prstGeom>
          <a:solidFill>
            <a:srgbClr val="15325A"/>
          </a:solidFill>
          <a:ln w="12700">
            <a:solidFill>
              <a:srgbClr val="3B5B85"/>
            </a:solidFill>
            <a:prstDash val="solid"/>
          </a:ln>
        </p:spPr>
      </p:sp>
      <p:sp>
        <p:nvSpPr>
          <p:cNvPr id="9" name="Text 6"/>
          <p:cNvSpPr txBox="1"/>
          <p:nvPr/>
        </p:nvSpPr>
        <p:spPr>
          <a:xfrm>
            <a:off x="548640" y="3108960"/>
            <a:ext cx="1828800" cy="548640"/>
          </a:xfrm>
          <a:prstGeom prst="rect">
            <a:avLst/>
          </a:prstGeom>
          <a:noFill/>
          <a:ln/>
        </p:spPr>
        <p:txBody>
          <a:bodyPr wrap="square" lIns="0" tIns="0" rIns="0" bIns="0" rtlCol="0" anchor="ctr"/>
          <a:lstStyle/>
          <a:p>
            <a:pPr algn="ctr" indent="0" marL="0">
              <a:buNone/>
            </a:pPr>
            <a:r>
              <a:rPr lang="en-US" sz="2800" b="1" dirty="0">
                <a:solidFill>
                  <a:srgbClr val="5FD6D0"/>
                </a:solidFill>
                <a:latin typeface="Cambria" pitchFamily="34" charset="0"/>
                <a:ea typeface="Cambria" pitchFamily="34" charset="-122"/>
                <a:cs typeface="Cambria" pitchFamily="34" charset="-120"/>
              </a:rPr>
              <a:t>46</a:t>
            </a:r>
            <a:endParaRPr lang="en-US" sz="2800" dirty="0"/>
          </a:p>
        </p:txBody>
      </p:sp>
      <p:sp>
        <p:nvSpPr>
          <p:cNvPr id="10" name="Text 7"/>
          <p:cNvSpPr txBox="1"/>
          <p:nvPr/>
        </p:nvSpPr>
        <p:spPr>
          <a:xfrm>
            <a:off x="548640" y="3657600"/>
            <a:ext cx="1828800" cy="320040"/>
          </a:xfrm>
          <a:prstGeom prst="rect">
            <a:avLst/>
          </a:prstGeom>
          <a:noFill/>
          <a:ln/>
        </p:spPr>
        <p:txBody>
          <a:bodyPr wrap="square" lIns="0" tIns="0" rIns="0" bIns="0" rtlCol="0" anchor="ctr"/>
          <a:lstStyle/>
          <a:p>
            <a:pPr algn="ctr" indent="0" marL="0">
              <a:buNone/>
            </a:pPr>
            <a:r>
              <a:rPr lang="en-US" sz="1200" dirty="0">
                <a:solidFill>
                  <a:srgbClr val="BFD3E6"/>
                </a:solidFill>
                <a:latin typeface="Calibri" pitchFamily="34" charset="0"/>
                <a:ea typeface="Calibri" pitchFamily="34" charset="-122"/>
                <a:cs typeface="Calibri" pitchFamily="34" charset="-120"/>
              </a:rPr>
              <a:t>stage runbooks</a:t>
            </a:r>
            <a:endParaRPr lang="en-US" sz="1200" dirty="0"/>
          </a:p>
        </p:txBody>
      </p:sp>
      <p:sp>
        <p:nvSpPr>
          <p:cNvPr id="11" name="Shape 8"/>
          <p:cNvSpPr/>
          <p:nvPr/>
        </p:nvSpPr>
        <p:spPr>
          <a:xfrm>
            <a:off x="2560320" y="3017520"/>
            <a:ext cx="1828800" cy="1051560"/>
          </a:xfrm>
          <a:prstGeom prst="roundRect">
            <a:avLst>
              <a:gd name="adj" fmla="val 6087"/>
            </a:avLst>
          </a:prstGeom>
          <a:solidFill>
            <a:srgbClr val="15325A"/>
          </a:solidFill>
          <a:ln w="12700">
            <a:solidFill>
              <a:srgbClr val="3B5B85"/>
            </a:solidFill>
            <a:prstDash val="solid"/>
          </a:ln>
        </p:spPr>
      </p:sp>
      <p:sp>
        <p:nvSpPr>
          <p:cNvPr id="12" name="Text 9"/>
          <p:cNvSpPr txBox="1"/>
          <p:nvPr/>
        </p:nvSpPr>
        <p:spPr>
          <a:xfrm>
            <a:off x="2560320" y="3108960"/>
            <a:ext cx="1828800" cy="548640"/>
          </a:xfrm>
          <a:prstGeom prst="rect">
            <a:avLst/>
          </a:prstGeom>
          <a:noFill/>
          <a:ln/>
        </p:spPr>
        <p:txBody>
          <a:bodyPr wrap="square" lIns="0" tIns="0" rIns="0" bIns="0" rtlCol="0" anchor="ctr"/>
          <a:lstStyle/>
          <a:p>
            <a:pPr algn="ctr" indent="0" marL="0">
              <a:buNone/>
            </a:pPr>
            <a:r>
              <a:rPr lang="en-US" sz="2800" b="1" dirty="0">
                <a:solidFill>
                  <a:srgbClr val="5FD6D0"/>
                </a:solidFill>
                <a:latin typeface="Cambria" pitchFamily="34" charset="0"/>
                <a:ea typeface="Cambria" pitchFamily="34" charset="-122"/>
                <a:cs typeface="Cambria" pitchFamily="34" charset="-120"/>
              </a:rPr>
              <a:t>543</a:t>
            </a:r>
            <a:endParaRPr lang="en-US" sz="2800" dirty="0"/>
          </a:p>
        </p:txBody>
      </p:sp>
      <p:sp>
        <p:nvSpPr>
          <p:cNvPr id="13" name="Text 10"/>
          <p:cNvSpPr txBox="1"/>
          <p:nvPr/>
        </p:nvSpPr>
        <p:spPr>
          <a:xfrm>
            <a:off x="2560320" y="3657600"/>
            <a:ext cx="1828800" cy="320040"/>
          </a:xfrm>
          <a:prstGeom prst="rect">
            <a:avLst/>
          </a:prstGeom>
          <a:noFill/>
          <a:ln/>
        </p:spPr>
        <p:txBody>
          <a:bodyPr wrap="square" lIns="0" tIns="0" rIns="0" bIns="0" rtlCol="0" anchor="ctr"/>
          <a:lstStyle/>
          <a:p>
            <a:pPr algn="ctr" indent="0" marL="0">
              <a:buNone/>
            </a:pPr>
            <a:r>
              <a:rPr lang="en-US" sz="1200" dirty="0">
                <a:solidFill>
                  <a:srgbClr val="BFD3E6"/>
                </a:solidFill>
                <a:latin typeface="Calibri" pitchFamily="34" charset="0"/>
                <a:ea typeface="Calibri" pitchFamily="34" charset="-122"/>
                <a:cs typeface="Calibri" pitchFamily="34" charset="-120"/>
              </a:rPr>
              <a:t>context documents</a:t>
            </a:r>
            <a:endParaRPr lang="en-US" sz="1200" dirty="0"/>
          </a:p>
        </p:txBody>
      </p:sp>
      <p:sp>
        <p:nvSpPr>
          <p:cNvPr id="14" name="Shape 11"/>
          <p:cNvSpPr/>
          <p:nvPr/>
        </p:nvSpPr>
        <p:spPr>
          <a:xfrm>
            <a:off x="4572000" y="3017520"/>
            <a:ext cx="1828800" cy="1051560"/>
          </a:xfrm>
          <a:prstGeom prst="roundRect">
            <a:avLst>
              <a:gd name="adj" fmla="val 6087"/>
            </a:avLst>
          </a:prstGeom>
          <a:solidFill>
            <a:srgbClr val="15325A"/>
          </a:solidFill>
          <a:ln w="12700">
            <a:solidFill>
              <a:srgbClr val="3B5B85"/>
            </a:solidFill>
            <a:prstDash val="solid"/>
          </a:ln>
        </p:spPr>
      </p:sp>
      <p:sp>
        <p:nvSpPr>
          <p:cNvPr id="15" name="Text 12"/>
          <p:cNvSpPr txBox="1"/>
          <p:nvPr/>
        </p:nvSpPr>
        <p:spPr>
          <a:xfrm>
            <a:off x="4572000" y="3108960"/>
            <a:ext cx="1828800" cy="548640"/>
          </a:xfrm>
          <a:prstGeom prst="rect">
            <a:avLst/>
          </a:prstGeom>
          <a:noFill/>
          <a:ln/>
        </p:spPr>
        <p:txBody>
          <a:bodyPr wrap="square" lIns="0" tIns="0" rIns="0" bIns="0" rtlCol="0" anchor="ctr"/>
          <a:lstStyle/>
          <a:p>
            <a:pPr algn="ctr" indent="0" marL="0">
              <a:buNone/>
            </a:pPr>
            <a:r>
              <a:rPr lang="en-US" sz="2800" b="1" dirty="0">
                <a:solidFill>
                  <a:srgbClr val="5FD6D0"/>
                </a:solidFill>
                <a:latin typeface="Cambria" pitchFamily="34" charset="0"/>
                <a:ea typeface="Cambria" pitchFamily="34" charset="-122"/>
                <a:cs typeface="Cambria" pitchFamily="34" charset="-120"/>
              </a:rPr>
              <a:t>34</a:t>
            </a:r>
            <a:endParaRPr lang="en-US" sz="2800" dirty="0"/>
          </a:p>
        </p:txBody>
      </p:sp>
      <p:sp>
        <p:nvSpPr>
          <p:cNvPr id="16" name="Text 13"/>
          <p:cNvSpPr txBox="1"/>
          <p:nvPr/>
        </p:nvSpPr>
        <p:spPr>
          <a:xfrm>
            <a:off x="4572000" y="3657600"/>
            <a:ext cx="1828800" cy="320040"/>
          </a:xfrm>
          <a:prstGeom prst="rect">
            <a:avLst/>
          </a:prstGeom>
          <a:noFill/>
          <a:ln/>
        </p:spPr>
        <p:txBody>
          <a:bodyPr wrap="square" lIns="0" tIns="0" rIns="0" bIns="0" rtlCol="0" anchor="ctr"/>
          <a:lstStyle/>
          <a:p>
            <a:pPr algn="ctr" indent="0" marL="0">
              <a:buNone/>
            </a:pPr>
            <a:r>
              <a:rPr lang="en-US" sz="1200" dirty="0">
                <a:solidFill>
                  <a:srgbClr val="BFD3E6"/>
                </a:solidFill>
                <a:latin typeface="Calibri" pitchFamily="34" charset="0"/>
                <a:ea typeface="Calibri" pitchFamily="34" charset="-122"/>
                <a:cs typeface="Calibri" pitchFamily="34" charset="-120"/>
              </a:rPr>
              <a:t>ontology classes</a:t>
            </a:r>
            <a:endParaRPr lang="en-US" sz="1200" dirty="0"/>
          </a:p>
        </p:txBody>
      </p:sp>
      <p:sp>
        <p:nvSpPr>
          <p:cNvPr id="17" name="Shape 14"/>
          <p:cNvSpPr/>
          <p:nvPr/>
        </p:nvSpPr>
        <p:spPr>
          <a:xfrm>
            <a:off x="6583680" y="3017520"/>
            <a:ext cx="1828800" cy="1051560"/>
          </a:xfrm>
          <a:prstGeom prst="roundRect">
            <a:avLst>
              <a:gd name="adj" fmla="val 6087"/>
            </a:avLst>
          </a:prstGeom>
          <a:solidFill>
            <a:srgbClr val="15325A"/>
          </a:solidFill>
          <a:ln w="12700">
            <a:solidFill>
              <a:srgbClr val="3B5B85"/>
            </a:solidFill>
            <a:prstDash val="solid"/>
          </a:ln>
        </p:spPr>
      </p:sp>
      <p:sp>
        <p:nvSpPr>
          <p:cNvPr id="18" name="Text 15"/>
          <p:cNvSpPr txBox="1"/>
          <p:nvPr/>
        </p:nvSpPr>
        <p:spPr>
          <a:xfrm>
            <a:off x="6583680" y="3108960"/>
            <a:ext cx="1828800" cy="548640"/>
          </a:xfrm>
          <a:prstGeom prst="rect">
            <a:avLst/>
          </a:prstGeom>
          <a:noFill/>
          <a:ln/>
        </p:spPr>
        <p:txBody>
          <a:bodyPr wrap="square" lIns="0" tIns="0" rIns="0" bIns="0" rtlCol="0" anchor="ctr"/>
          <a:lstStyle/>
          <a:p>
            <a:pPr algn="ctr" indent="0" marL="0">
              <a:buNone/>
            </a:pPr>
            <a:r>
              <a:rPr lang="en-US" sz="2800" b="1" dirty="0">
                <a:solidFill>
                  <a:srgbClr val="5FD6D0"/>
                </a:solidFill>
                <a:latin typeface="Cambria" pitchFamily="34" charset="0"/>
                <a:ea typeface="Cambria" pitchFamily="34" charset="-122"/>
                <a:cs typeface="Cambria" pitchFamily="34" charset="-120"/>
              </a:rPr>
              <a:t>13,244</a:t>
            </a:r>
            <a:endParaRPr lang="en-US" sz="2800" dirty="0"/>
          </a:p>
        </p:txBody>
      </p:sp>
      <p:sp>
        <p:nvSpPr>
          <p:cNvPr id="19" name="Text 16"/>
          <p:cNvSpPr txBox="1"/>
          <p:nvPr/>
        </p:nvSpPr>
        <p:spPr>
          <a:xfrm>
            <a:off x="6583680" y="3657600"/>
            <a:ext cx="1828800" cy="320040"/>
          </a:xfrm>
          <a:prstGeom prst="rect">
            <a:avLst/>
          </a:prstGeom>
          <a:noFill/>
          <a:ln/>
        </p:spPr>
        <p:txBody>
          <a:bodyPr wrap="square" lIns="0" tIns="0" rIns="0" bIns="0" rtlCol="0" anchor="ctr"/>
          <a:lstStyle/>
          <a:p>
            <a:pPr algn="ctr" indent="0" marL="0">
              <a:buNone/>
            </a:pPr>
            <a:r>
              <a:rPr lang="en-US" sz="1200" dirty="0">
                <a:solidFill>
                  <a:srgbClr val="BFD3E6"/>
                </a:solidFill>
                <a:latin typeface="Calibri" pitchFamily="34" charset="0"/>
                <a:ea typeface="Calibri" pitchFamily="34" charset="-122"/>
                <a:cs typeface="Calibri" pitchFamily="34" charset="-120"/>
              </a:rPr>
              <a:t>knowledge graph nodes</a:t>
            </a:r>
            <a:endParaRPr lang="en-US" sz="1200" dirty="0"/>
          </a:p>
        </p:txBody>
      </p:sp>
      <p:sp>
        <p:nvSpPr>
          <p:cNvPr id="20" name="Text 17"/>
          <p:cNvSpPr txBox="1"/>
          <p:nvPr/>
        </p:nvSpPr>
        <p:spPr>
          <a:xfrm>
            <a:off x="548640" y="4343400"/>
            <a:ext cx="7315200" cy="27432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Team Delta · AI FDE Capstone · Birlasoft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The factory at a glance: from brownfield repository to governed outputs</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
        <p:nvSpPr>
          <p:cNvPr id="7" name="Text 4"/>
          <p:cNvSpPr txBox="1"/>
          <p:nvPr/>
        </p:nvSpPr>
        <p:spPr>
          <a:xfrm>
            <a:off x="457200" y="1234440"/>
            <a:ext cx="1481328" cy="1417320"/>
          </a:xfrm>
          <a:prstGeom prst="roundRect">
            <a:avLst>
              <a:gd name="adj" fmla="val 4516"/>
            </a:avLst>
          </a:prstGeom>
          <a:solidFill>
            <a:srgbClr val="6E7F94"/>
          </a:solidFill>
          <a:ln/>
        </p:spPr>
        <p:txBody>
          <a:bodyPr wrap="square" lIns="762" tIns="762" rIns="762" bIns="762" rtlCol="0" anchor="ctr"/>
          <a:lstStyle/>
          <a:p>
            <a:pPr algn="ctr" indent="0" marL="0">
              <a:buNone/>
            </a:pPr>
            <a:endParaRPr lang="en-US" sz="1200" dirty="0"/>
          </a:p>
        </p:txBody>
      </p:sp>
      <p:sp>
        <p:nvSpPr>
          <p:cNvPr id="8" name="Text 5"/>
          <p:cNvSpPr txBox="1"/>
          <p:nvPr/>
        </p:nvSpPr>
        <p:spPr>
          <a:xfrm>
            <a:off x="502920"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Brownfield repository</a:t>
            </a:r>
            <a:endParaRPr lang="en-US" sz="1300" dirty="0"/>
          </a:p>
        </p:txBody>
      </p:sp>
      <p:sp>
        <p:nvSpPr>
          <p:cNvPr id="9" name="Text 6"/>
          <p:cNvSpPr txBox="1"/>
          <p:nvPr/>
        </p:nvSpPr>
        <p:spPr>
          <a:xfrm>
            <a:off x="530352" y="1874520"/>
            <a:ext cx="1335024" cy="731520"/>
          </a:xfrm>
          <a:prstGeom prst="rect">
            <a:avLst/>
          </a:prstGeom>
          <a:noFill/>
          <a:ln/>
        </p:spPr>
        <p:txBody>
          <a:bodyPr wrap="square" lIns="0" tIns="0" rIns="0" bIns="0" rtlCol="0" anchor="t"/>
          <a:lstStyle/>
          <a:p>
            <a:pPr algn="ctr" indent="0" marL="0">
              <a:buNone/>
            </a:pPr>
            <a:r>
              <a:rPr lang="en-US" sz="1100" dirty="0">
                <a:solidFill>
                  <a:srgbClr val="E6F1F8"/>
                </a:solidFill>
                <a:latin typeface="Calibri" pitchFamily="34" charset="0"/>
                <a:ea typeface="Calibri" pitchFamily="34" charset="-122"/>
                <a:cs typeface="Calibri" pitchFamily="34" charset="-120"/>
              </a:rPr>
              <a:t>legacy Java, JS, batch + app · 125 cases · 8,567 feed rows</a:t>
            </a:r>
            <a:endParaRPr lang="en-US" sz="1100" dirty="0"/>
          </a:p>
        </p:txBody>
      </p:sp>
      <p:sp>
        <p:nvSpPr>
          <p:cNvPr id="10" name="Shape 7"/>
          <p:cNvSpPr/>
          <p:nvPr/>
        </p:nvSpPr>
        <p:spPr>
          <a:xfrm>
            <a:off x="1938528" y="1938528"/>
            <a:ext cx="201168" cy="0"/>
          </a:xfrm>
          <a:prstGeom prst="line">
            <a:avLst/>
          </a:prstGeom>
          <a:noFill/>
          <a:ln w="22225">
            <a:solidFill>
              <a:srgbClr val="0B1F3A"/>
            </a:solidFill>
            <a:prstDash val="solid"/>
            <a:tailEnd type="triangle"/>
          </a:ln>
        </p:spPr>
      </p:sp>
      <p:sp>
        <p:nvSpPr>
          <p:cNvPr id="11" name="Text 8"/>
          <p:cNvSpPr txBox="1"/>
          <p:nvPr/>
        </p:nvSpPr>
        <p:spPr>
          <a:xfrm>
            <a:off x="2139696" y="1234440"/>
            <a:ext cx="1481328" cy="1417320"/>
          </a:xfrm>
          <a:prstGeom prst="roundRect">
            <a:avLst>
              <a:gd name="adj" fmla="val 4516"/>
            </a:avLst>
          </a:prstGeom>
          <a:solidFill>
            <a:srgbClr val="1E7FA8"/>
          </a:solidFill>
          <a:ln/>
        </p:spPr>
        <p:txBody>
          <a:bodyPr wrap="square" lIns="762" tIns="762" rIns="762" bIns="762" rtlCol="0" anchor="ctr"/>
          <a:lstStyle/>
          <a:p>
            <a:pPr algn="ctr" indent="0" marL="0">
              <a:buNone/>
            </a:pPr>
            <a:endParaRPr lang="en-US" sz="1200" dirty="0"/>
          </a:p>
        </p:txBody>
      </p:sp>
      <p:sp>
        <p:nvSpPr>
          <p:cNvPr id="12" name="Text 9"/>
          <p:cNvSpPr txBox="1"/>
          <p:nvPr/>
        </p:nvSpPr>
        <p:spPr>
          <a:xfrm>
            <a:off x="2185416"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 stage runbooks</a:t>
            </a:r>
            <a:endParaRPr lang="en-US" sz="1300" dirty="0"/>
          </a:p>
        </p:txBody>
      </p:sp>
      <p:sp>
        <p:nvSpPr>
          <p:cNvPr id="13" name="Text 10"/>
          <p:cNvSpPr txBox="1"/>
          <p:nvPr/>
        </p:nvSpPr>
        <p:spPr>
          <a:xfrm>
            <a:off x="2212848" y="1874520"/>
            <a:ext cx="1335024" cy="731520"/>
          </a:xfrm>
          <a:prstGeom prst="rect">
            <a:avLst/>
          </a:prstGeom>
          <a:noFill/>
          <a:ln/>
        </p:spPr>
        <p:txBody>
          <a:bodyPr wrap="square" lIns="0" tIns="0" rIns="0" bIns="0" rtlCol="0" anchor="t"/>
          <a:lstStyle/>
          <a:p>
            <a:pPr algn="ctr" indent="0" marL="0">
              <a:buNone/>
            </a:pPr>
            <a:r>
              <a:rPr lang="en-US" sz="1100" dirty="0">
                <a:solidFill>
                  <a:srgbClr val="E6F1F8"/>
                </a:solidFill>
                <a:latin typeface="Calibri" pitchFamily="34" charset="0"/>
                <a:ea typeface="Calibri" pitchFamily="34" charset="-122"/>
                <a:cs typeface="Calibri" pitchFamily="34" charset="-120"/>
              </a:rPr>
              <a:t>one system prompt per stage</a:t>
            </a:r>
            <a:endParaRPr lang="en-US" sz="1100" dirty="0"/>
          </a:p>
        </p:txBody>
      </p:sp>
      <p:sp>
        <p:nvSpPr>
          <p:cNvPr id="14" name="Shape 11"/>
          <p:cNvSpPr/>
          <p:nvPr/>
        </p:nvSpPr>
        <p:spPr>
          <a:xfrm>
            <a:off x="3621024" y="1938528"/>
            <a:ext cx="201168" cy="0"/>
          </a:xfrm>
          <a:prstGeom prst="line">
            <a:avLst/>
          </a:prstGeom>
          <a:noFill/>
          <a:ln w="22225">
            <a:solidFill>
              <a:srgbClr val="0B1F3A"/>
            </a:solidFill>
            <a:prstDash val="solid"/>
            <a:tailEnd type="triangle"/>
          </a:ln>
        </p:spPr>
      </p:sp>
      <p:sp>
        <p:nvSpPr>
          <p:cNvPr id="15" name="Text 12"/>
          <p:cNvSpPr txBox="1"/>
          <p:nvPr/>
        </p:nvSpPr>
        <p:spPr>
          <a:xfrm>
            <a:off x="3822192" y="1234440"/>
            <a:ext cx="1481328" cy="1417320"/>
          </a:xfrm>
          <a:prstGeom prst="roundRect">
            <a:avLst>
              <a:gd name="adj" fmla="val 4516"/>
            </a:avLst>
          </a:prstGeom>
          <a:solidFill>
            <a:srgbClr val="0FA3A3"/>
          </a:solidFill>
          <a:ln/>
        </p:spPr>
        <p:txBody>
          <a:bodyPr wrap="square" lIns="762" tIns="762" rIns="762" bIns="762" rtlCol="0" anchor="ctr"/>
          <a:lstStyle/>
          <a:p>
            <a:pPr algn="ctr" indent="0" marL="0">
              <a:buNone/>
            </a:pPr>
            <a:endParaRPr lang="en-US" sz="1200" dirty="0"/>
          </a:p>
        </p:txBody>
      </p:sp>
      <p:sp>
        <p:nvSpPr>
          <p:cNvPr id="16" name="Text 13"/>
          <p:cNvSpPr txBox="1"/>
          <p:nvPr/>
        </p:nvSpPr>
        <p:spPr>
          <a:xfrm>
            <a:off x="3867912"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Context Lake</a:t>
            </a:r>
            <a:endParaRPr lang="en-US" sz="1300" dirty="0"/>
          </a:p>
        </p:txBody>
      </p:sp>
      <p:sp>
        <p:nvSpPr>
          <p:cNvPr id="17" name="Text 14"/>
          <p:cNvSpPr txBox="1"/>
          <p:nvPr/>
        </p:nvSpPr>
        <p:spPr>
          <a:xfrm>
            <a:off x="3895344" y="1874520"/>
            <a:ext cx="1335024" cy="731520"/>
          </a:xfrm>
          <a:prstGeom prst="rect">
            <a:avLst/>
          </a:prstGeom>
          <a:noFill/>
          <a:ln/>
        </p:spPr>
        <p:txBody>
          <a:bodyPr wrap="square" lIns="0" tIns="0" rIns="0" bIns="0" rtlCol="0" anchor="t"/>
          <a:lstStyle/>
          <a:p>
            <a:pPr algn="ctr" indent="0" marL="0">
              <a:buNone/>
            </a:pPr>
            <a:r>
              <a:rPr lang="en-US" sz="1100" dirty="0">
                <a:solidFill>
                  <a:srgbClr val="E6F1F8"/>
                </a:solidFill>
                <a:latin typeface="Calibri" pitchFamily="34" charset="0"/>
                <a:ea typeface="Calibri" pitchFamily="34" charset="-122"/>
                <a:cs typeface="Calibri" pitchFamily="34" charset="-120"/>
              </a:rPr>
              <a:t>543 docs · decisions · semantic layer</a:t>
            </a:r>
            <a:endParaRPr lang="en-US" sz="1100" dirty="0"/>
          </a:p>
        </p:txBody>
      </p:sp>
      <p:sp>
        <p:nvSpPr>
          <p:cNvPr id="18" name="Shape 15"/>
          <p:cNvSpPr/>
          <p:nvPr/>
        </p:nvSpPr>
        <p:spPr>
          <a:xfrm>
            <a:off x="5303520" y="1938528"/>
            <a:ext cx="201168" cy="0"/>
          </a:xfrm>
          <a:prstGeom prst="line">
            <a:avLst/>
          </a:prstGeom>
          <a:noFill/>
          <a:ln w="22225">
            <a:solidFill>
              <a:srgbClr val="0B1F3A"/>
            </a:solidFill>
            <a:prstDash val="solid"/>
            <a:tailEnd type="triangle"/>
          </a:ln>
        </p:spPr>
      </p:sp>
      <p:sp>
        <p:nvSpPr>
          <p:cNvPr id="19" name="Text 16"/>
          <p:cNvSpPr txBox="1"/>
          <p:nvPr/>
        </p:nvSpPr>
        <p:spPr>
          <a:xfrm>
            <a:off x="5504688" y="1234440"/>
            <a:ext cx="1481328" cy="1417320"/>
          </a:xfrm>
          <a:prstGeom prst="roundRect">
            <a:avLst>
              <a:gd name="adj" fmla="val 4516"/>
            </a:avLst>
          </a:prstGeom>
          <a:solidFill>
            <a:srgbClr val="15325A"/>
          </a:solidFill>
          <a:ln/>
        </p:spPr>
        <p:txBody>
          <a:bodyPr wrap="square" lIns="762" tIns="762" rIns="762" bIns="762" rtlCol="0" anchor="ctr"/>
          <a:lstStyle/>
          <a:p>
            <a:pPr algn="ctr" indent="0" marL="0">
              <a:buNone/>
            </a:pPr>
            <a:endParaRPr lang="en-US" sz="1200" dirty="0"/>
          </a:p>
        </p:txBody>
      </p:sp>
      <p:sp>
        <p:nvSpPr>
          <p:cNvPr id="20" name="Text 17"/>
          <p:cNvSpPr txBox="1"/>
          <p:nvPr/>
        </p:nvSpPr>
        <p:spPr>
          <a:xfrm>
            <a:off x="5550408"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Ontology + Knowledge Graph</a:t>
            </a:r>
            <a:endParaRPr lang="en-US" sz="1300" dirty="0"/>
          </a:p>
        </p:txBody>
      </p:sp>
      <p:sp>
        <p:nvSpPr>
          <p:cNvPr id="21" name="Text 18"/>
          <p:cNvSpPr txBox="1"/>
          <p:nvPr/>
        </p:nvSpPr>
        <p:spPr>
          <a:xfrm>
            <a:off x="5577840" y="1874520"/>
            <a:ext cx="1335024" cy="731520"/>
          </a:xfrm>
          <a:prstGeom prst="rect">
            <a:avLst/>
          </a:prstGeom>
          <a:noFill/>
          <a:ln/>
        </p:spPr>
        <p:txBody>
          <a:bodyPr wrap="square" lIns="0" tIns="0" rIns="0" bIns="0" rtlCol="0" anchor="t"/>
          <a:lstStyle/>
          <a:p>
            <a:pPr algn="ctr" indent="0" marL="0">
              <a:buNone/>
            </a:pPr>
            <a:r>
              <a:rPr lang="en-US" sz="1100" dirty="0">
                <a:solidFill>
                  <a:srgbClr val="E6F1F8"/>
                </a:solidFill>
                <a:latin typeface="Calibri" pitchFamily="34" charset="0"/>
                <a:ea typeface="Calibri" pitchFamily="34" charset="-122"/>
                <a:cs typeface="Calibri" pitchFamily="34" charset="-120"/>
              </a:rPr>
              <a:t>34 classes · 13,244 nodes</a:t>
            </a:r>
            <a:endParaRPr lang="en-US" sz="1100" dirty="0"/>
          </a:p>
        </p:txBody>
      </p:sp>
      <p:sp>
        <p:nvSpPr>
          <p:cNvPr id="22" name="Shape 19"/>
          <p:cNvSpPr/>
          <p:nvPr/>
        </p:nvSpPr>
        <p:spPr>
          <a:xfrm>
            <a:off x="6986016" y="1938528"/>
            <a:ext cx="201168" cy="0"/>
          </a:xfrm>
          <a:prstGeom prst="line">
            <a:avLst/>
          </a:prstGeom>
          <a:noFill/>
          <a:ln w="22225">
            <a:solidFill>
              <a:srgbClr val="0B1F3A"/>
            </a:solidFill>
            <a:prstDash val="solid"/>
            <a:tailEnd type="triangle"/>
          </a:ln>
        </p:spPr>
      </p:sp>
      <p:sp>
        <p:nvSpPr>
          <p:cNvPr id="23" name="Text 20"/>
          <p:cNvSpPr txBox="1"/>
          <p:nvPr/>
        </p:nvSpPr>
        <p:spPr>
          <a:xfrm>
            <a:off x="7187184" y="1234440"/>
            <a:ext cx="1481328" cy="1417320"/>
          </a:xfrm>
          <a:prstGeom prst="roundRect">
            <a:avLst>
              <a:gd name="adj" fmla="val 4516"/>
            </a:avLst>
          </a:prstGeom>
          <a:solidFill>
            <a:srgbClr val="E39A1F"/>
          </a:solidFill>
          <a:ln/>
        </p:spPr>
        <p:txBody>
          <a:bodyPr wrap="square" lIns="762" tIns="762" rIns="762" bIns="762" rtlCol="0" anchor="ctr"/>
          <a:lstStyle/>
          <a:p>
            <a:pPr algn="ctr" indent="0" marL="0">
              <a:buNone/>
            </a:pPr>
            <a:endParaRPr lang="en-US" sz="1200" dirty="0"/>
          </a:p>
        </p:txBody>
      </p:sp>
      <p:sp>
        <p:nvSpPr>
          <p:cNvPr id="24" name="Text 21"/>
          <p:cNvSpPr txBox="1"/>
          <p:nvPr/>
        </p:nvSpPr>
        <p:spPr>
          <a:xfrm>
            <a:off x="7232904" y="1280160"/>
            <a:ext cx="1389888" cy="56692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Governed outputs</a:t>
            </a:r>
            <a:endParaRPr lang="en-US" sz="1300" dirty="0"/>
          </a:p>
        </p:txBody>
      </p:sp>
      <p:sp>
        <p:nvSpPr>
          <p:cNvPr id="25" name="Text 22"/>
          <p:cNvSpPr txBox="1"/>
          <p:nvPr/>
        </p:nvSpPr>
        <p:spPr>
          <a:xfrm>
            <a:off x="7260336" y="1874520"/>
            <a:ext cx="1335024" cy="731520"/>
          </a:xfrm>
          <a:prstGeom prst="rect">
            <a:avLst/>
          </a:prstGeom>
          <a:noFill/>
          <a:ln/>
        </p:spPr>
        <p:txBody>
          <a:bodyPr wrap="square" lIns="0" tIns="0" rIns="0" bIns="0" rtlCol="0" anchor="t"/>
          <a:lstStyle/>
          <a:p>
            <a:pPr algn="ctr" indent="0" marL="0">
              <a:buNone/>
            </a:pPr>
            <a:r>
              <a:rPr lang="en-US" sz="1100" dirty="0">
                <a:solidFill>
                  <a:srgbClr val="0B1F3A"/>
                </a:solidFill>
                <a:latin typeface="Calibri" pitchFamily="34" charset="0"/>
                <a:ea typeface="Calibri" pitchFamily="34" charset="-122"/>
                <a:cs typeface="Calibri" pitchFamily="34" charset="-120"/>
              </a:rPr>
              <a:t>hub: 204 Python files · 48 API operations · release gate</a:t>
            </a:r>
            <a:endParaRPr lang="en-US" sz="1100" dirty="0"/>
          </a:p>
        </p:txBody>
      </p:sp>
      <p:sp>
        <p:nvSpPr>
          <p:cNvPr id="26" name="Shape 23"/>
          <p:cNvSpPr/>
          <p:nvPr/>
        </p:nvSpPr>
        <p:spPr>
          <a:xfrm>
            <a:off x="457200" y="2926080"/>
            <a:ext cx="2651760" cy="960120"/>
          </a:xfrm>
          <a:prstGeom prst="roundRect">
            <a:avLst>
              <a:gd name="adj" fmla="val 6667"/>
            </a:avLst>
          </a:prstGeom>
          <a:solidFill>
            <a:srgbClr val="DDF3F2"/>
          </a:solidFill>
          <a:ln w="9525">
            <a:solidFill>
              <a:srgbClr val="C9D3DE"/>
            </a:solidFill>
            <a:prstDash val="solid"/>
          </a:ln>
        </p:spPr>
      </p:sp>
      <p:sp>
        <p:nvSpPr>
          <p:cNvPr id="27" name="Text 24"/>
          <p:cNvSpPr txBox="1"/>
          <p:nvPr/>
        </p:nvSpPr>
        <p:spPr>
          <a:xfrm>
            <a:off x="566928" y="3108960"/>
            <a:ext cx="365760" cy="365760"/>
          </a:xfrm>
          <a:prstGeom prst="ellipse">
            <a:avLst/>
          </a:prstGeom>
          <a:solidFill>
            <a:srgbClr val="0FA3A3"/>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8" name="Text 25"/>
          <p:cNvSpPr txBox="1"/>
          <p:nvPr/>
        </p:nvSpPr>
        <p:spPr>
          <a:xfrm>
            <a:off x="1051560" y="2999232"/>
            <a:ext cx="201168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Runbooks</a:t>
            </a:r>
            <a:endParaRPr lang="en-US" sz="1300" dirty="0"/>
          </a:p>
        </p:txBody>
      </p:sp>
      <p:sp>
        <p:nvSpPr>
          <p:cNvPr id="29" name="Text 26"/>
          <p:cNvSpPr txBox="1"/>
          <p:nvPr/>
        </p:nvSpPr>
        <p:spPr>
          <a:xfrm>
            <a:off x="1051560" y="3337560"/>
            <a:ext cx="2011680" cy="502920"/>
          </a:xfrm>
          <a:prstGeom prst="rect">
            <a:avLst/>
          </a:prstGeom>
          <a:noFill/>
          <a:ln/>
        </p:spPr>
        <p:txBody>
          <a:bodyPr wrap="square" lIns="0" tIns="0" rIns="0" bIns="0" rtlCol="0" anchor="t"/>
          <a:lstStyle/>
          <a:p>
            <a:pPr indent="0" marL="0">
              <a:buNone/>
            </a:pPr>
            <a:r>
              <a:rPr lang="en-US" sz="1100" dirty="0">
                <a:solidFill>
                  <a:srgbClr val="5B6B7C"/>
                </a:solidFill>
                <a:latin typeface="Calibri" pitchFamily="34" charset="0"/>
                <a:ea typeface="Calibri" pitchFamily="34" charset="-122"/>
                <a:cs typeface="Calibri" pitchFamily="34" charset="-120"/>
              </a:rPr>
              <a:t>The repeatable production lines that drive the AI Agent</a:t>
            </a:r>
            <a:endParaRPr lang="en-US" sz="1100" dirty="0"/>
          </a:p>
        </p:txBody>
      </p:sp>
      <p:sp>
        <p:nvSpPr>
          <p:cNvPr id="30" name="Shape 27"/>
          <p:cNvSpPr/>
          <p:nvPr/>
        </p:nvSpPr>
        <p:spPr>
          <a:xfrm>
            <a:off x="3246120" y="2926080"/>
            <a:ext cx="2651760" cy="960120"/>
          </a:xfrm>
          <a:prstGeom prst="roundRect">
            <a:avLst>
              <a:gd name="adj" fmla="val 6667"/>
            </a:avLst>
          </a:prstGeom>
          <a:solidFill>
            <a:srgbClr val="DDF3F2"/>
          </a:solidFill>
          <a:ln w="9525">
            <a:solidFill>
              <a:srgbClr val="C9D3DE"/>
            </a:solidFill>
            <a:prstDash val="solid"/>
          </a:ln>
        </p:spPr>
      </p:sp>
      <p:sp>
        <p:nvSpPr>
          <p:cNvPr id="31" name="Text 28"/>
          <p:cNvSpPr txBox="1"/>
          <p:nvPr/>
        </p:nvSpPr>
        <p:spPr>
          <a:xfrm>
            <a:off x="3355848" y="3108960"/>
            <a:ext cx="365760" cy="365760"/>
          </a:xfrm>
          <a:prstGeom prst="ellipse">
            <a:avLst/>
          </a:prstGeom>
          <a:solidFill>
            <a:srgbClr val="0FA3A3"/>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2" name="Text 29"/>
          <p:cNvSpPr txBox="1"/>
          <p:nvPr/>
        </p:nvSpPr>
        <p:spPr>
          <a:xfrm>
            <a:off x="3840480" y="2999232"/>
            <a:ext cx="201168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Context Lake</a:t>
            </a:r>
            <a:endParaRPr lang="en-US" sz="1300" dirty="0"/>
          </a:p>
        </p:txBody>
      </p:sp>
      <p:sp>
        <p:nvSpPr>
          <p:cNvPr id="33" name="Text 30"/>
          <p:cNvSpPr txBox="1"/>
          <p:nvPr/>
        </p:nvSpPr>
        <p:spPr>
          <a:xfrm>
            <a:off x="3840480" y="3337560"/>
            <a:ext cx="2011680" cy="502920"/>
          </a:xfrm>
          <a:prstGeom prst="rect">
            <a:avLst/>
          </a:prstGeom>
          <a:noFill/>
          <a:ln/>
        </p:spPr>
        <p:txBody>
          <a:bodyPr wrap="square" lIns="0" tIns="0" rIns="0" bIns="0" rtlCol="0" anchor="t"/>
          <a:lstStyle/>
          <a:p>
            <a:pPr indent="0" marL="0">
              <a:buNone/>
            </a:pPr>
            <a:r>
              <a:rPr lang="en-US" sz="1100" dirty="0">
                <a:solidFill>
                  <a:srgbClr val="5B6B7C"/>
                </a:solidFill>
                <a:latin typeface="Calibri" pitchFamily="34" charset="0"/>
                <a:ea typeface="Calibri" pitchFamily="34" charset="-122"/>
                <a:cs typeface="Calibri" pitchFamily="34" charset="-120"/>
              </a:rPr>
              <a:t>Governed, version-controlled project knowledge</a:t>
            </a:r>
            <a:endParaRPr lang="en-US" sz="1100" dirty="0"/>
          </a:p>
        </p:txBody>
      </p:sp>
      <p:sp>
        <p:nvSpPr>
          <p:cNvPr id="34" name="Shape 31"/>
          <p:cNvSpPr/>
          <p:nvPr/>
        </p:nvSpPr>
        <p:spPr>
          <a:xfrm>
            <a:off x="6035040" y="2926080"/>
            <a:ext cx="2651760" cy="960120"/>
          </a:xfrm>
          <a:prstGeom prst="roundRect">
            <a:avLst>
              <a:gd name="adj" fmla="val 6667"/>
            </a:avLst>
          </a:prstGeom>
          <a:solidFill>
            <a:srgbClr val="DDF3F2"/>
          </a:solidFill>
          <a:ln w="9525">
            <a:solidFill>
              <a:srgbClr val="C9D3DE"/>
            </a:solidFill>
            <a:prstDash val="solid"/>
          </a:ln>
        </p:spPr>
      </p:sp>
      <p:sp>
        <p:nvSpPr>
          <p:cNvPr id="35" name="Text 32"/>
          <p:cNvSpPr txBox="1"/>
          <p:nvPr/>
        </p:nvSpPr>
        <p:spPr>
          <a:xfrm>
            <a:off x="6144768" y="3108960"/>
            <a:ext cx="365760" cy="365760"/>
          </a:xfrm>
          <a:prstGeom prst="ellipse">
            <a:avLst/>
          </a:prstGeom>
          <a:solidFill>
            <a:srgbClr val="0FA3A3"/>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6" name="Text 33"/>
          <p:cNvSpPr txBox="1"/>
          <p:nvPr/>
        </p:nvSpPr>
        <p:spPr>
          <a:xfrm>
            <a:off x="6629400" y="2999232"/>
            <a:ext cx="201168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Ontology + Knowledge Graph</a:t>
            </a:r>
            <a:endParaRPr lang="en-US" sz="1300" dirty="0"/>
          </a:p>
        </p:txBody>
      </p:sp>
      <p:sp>
        <p:nvSpPr>
          <p:cNvPr id="37" name="Text 34"/>
          <p:cNvSpPr txBox="1"/>
          <p:nvPr/>
        </p:nvSpPr>
        <p:spPr>
          <a:xfrm>
            <a:off x="6629400" y="3337560"/>
            <a:ext cx="2011680" cy="502920"/>
          </a:xfrm>
          <a:prstGeom prst="rect">
            <a:avLst/>
          </a:prstGeom>
          <a:noFill/>
          <a:ln/>
        </p:spPr>
        <p:txBody>
          <a:bodyPr wrap="square" lIns="0" tIns="0" rIns="0" bIns="0" rtlCol="0" anchor="t"/>
          <a:lstStyle/>
          <a:p>
            <a:pPr indent="0" marL="0">
              <a:buNone/>
            </a:pPr>
            <a:r>
              <a:rPr lang="en-US" sz="1100" dirty="0">
                <a:solidFill>
                  <a:srgbClr val="5B6B7C"/>
                </a:solidFill>
                <a:latin typeface="Calibri" pitchFamily="34" charset="0"/>
                <a:ea typeface="Calibri" pitchFamily="34" charset="-122"/>
                <a:cs typeface="Calibri" pitchFamily="34" charset="-120"/>
              </a:rPr>
              <a:t>Shared meaning and connected project facts</a:t>
            </a:r>
            <a:endParaRPr lang="en-US" sz="1100" dirty="0"/>
          </a:p>
        </p:txBody>
      </p:sp>
      <p:sp>
        <p:nvSpPr>
          <p:cNvPr id="38" name="Text 35"/>
          <p:cNvSpPr txBox="1"/>
          <p:nvPr/>
        </p:nvSpPr>
        <p:spPr>
          <a:xfrm>
            <a:off x="457200" y="4023360"/>
            <a:ext cx="8229600" cy="640080"/>
          </a:xfrm>
          <a:prstGeom prst="roundRect">
            <a:avLst>
              <a:gd name="adj" fmla="val 10000"/>
            </a:avLst>
          </a:prstGeom>
          <a:solidFill>
            <a:srgbClr val="0B1F3A"/>
          </a:solidFill>
          <a:ln/>
        </p:spPr>
        <p:txBody>
          <a:bodyPr wrap="square" lIns="762" tIns="762" rIns="762" bIns="762"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shipped hub is No-AI by decision (OD-08). The AI Agent works in the delivery factory, under runbooks.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46 stage runbooks: production lines for brownfield delivery</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
        <p:nvSpPr>
          <p:cNvPr id="7" name="Text 4"/>
          <p:cNvSpPr txBox="1"/>
          <p:nvPr/>
        </p:nvSpPr>
        <p:spPr>
          <a:xfrm>
            <a:off x="457200" y="1143000"/>
            <a:ext cx="1481328" cy="1600200"/>
          </a:xfrm>
          <a:prstGeom prst="roundRect">
            <a:avLst>
              <a:gd name="adj" fmla="val 4321"/>
            </a:avLst>
          </a:prstGeom>
          <a:solidFill>
            <a:srgbClr val="6E7F94"/>
          </a:solidFill>
          <a:ln/>
        </p:spPr>
        <p:txBody>
          <a:bodyPr wrap="square" lIns="762" tIns="762" rIns="762" bIns="762" rtlCol="0" anchor="ctr"/>
          <a:lstStyle/>
          <a:p>
            <a:pPr algn="ctr" indent="0" marL="0">
              <a:buNone/>
            </a:pPr>
            <a:endParaRPr lang="en-US" sz="1200" dirty="0"/>
          </a:p>
        </p:txBody>
      </p:sp>
      <p:sp>
        <p:nvSpPr>
          <p:cNvPr id="8" name="Text 5"/>
          <p:cNvSpPr txBox="1"/>
          <p:nvPr/>
        </p:nvSpPr>
        <p:spPr>
          <a:xfrm>
            <a:off x="502920"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Orient</a:t>
            </a:r>
            <a:endParaRPr lang="en-US" sz="1200" dirty="0"/>
          </a:p>
        </p:txBody>
      </p:sp>
      <p:sp>
        <p:nvSpPr>
          <p:cNvPr id="9" name="Text 6"/>
          <p:cNvSpPr txBox="1"/>
          <p:nvPr/>
        </p:nvSpPr>
        <p:spPr>
          <a:xfrm>
            <a:off x="502920" y="160020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0A–0C</a:t>
            </a:r>
            <a:endParaRPr lang="en-US" sz="1100" dirty="0"/>
          </a:p>
        </p:txBody>
      </p:sp>
      <p:sp>
        <p:nvSpPr>
          <p:cNvPr id="10" name="Text 7"/>
          <p:cNvSpPr txBox="1"/>
          <p:nvPr/>
        </p:nvSpPr>
        <p:spPr>
          <a:xfrm>
            <a:off x="530352" y="189280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pre-flight, operating contract, AI economics</a:t>
            </a:r>
            <a:endParaRPr lang="en-US" sz="1000" dirty="0"/>
          </a:p>
        </p:txBody>
      </p:sp>
      <p:sp>
        <p:nvSpPr>
          <p:cNvPr id="11" name="Shape 8"/>
          <p:cNvSpPr/>
          <p:nvPr/>
        </p:nvSpPr>
        <p:spPr>
          <a:xfrm>
            <a:off x="1938528" y="1938528"/>
            <a:ext cx="201168" cy="0"/>
          </a:xfrm>
          <a:prstGeom prst="line">
            <a:avLst/>
          </a:prstGeom>
          <a:noFill/>
          <a:ln w="22225">
            <a:solidFill>
              <a:srgbClr val="0B1F3A"/>
            </a:solidFill>
            <a:prstDash val="solid"/>
            <a:tailEnd type="triangle"/>
          </a:ln>
        </p:spPr>
      </p:sp>
      <p:sp>
        <p:nvSpPr>
          <p:cNvPr id="12" name="Text 9"/>
          <p:cNvSpPr txBox="1"/>
          <p:nvPr/>
        </p:nvSpPr>
        <p:spPr>
          <a:xfrm>
            <a:off x="2139696" y="1143000"/>
            <a:ext cx="1481328" cy="1600200"/>
          </a:xfrm>
          <a:prstGeom prst="roundRect">
            <a:avLst>
              <a:gd name="adj" fmla="val 4321"/>
            </a:avLst>
          </a:prstGeom>
          <a:solidFill>
            <a:srgbClr val="1E7FA8"/>
          </a:solidFill>
          <a:ln/>
        </p:spPr>
        <p:txBody>
          <a:bodyPr wrap="square" lIns="762" tIns="762" rIns="762" bIns="762" rtlCol="0" anchor="ctr"/>
          <a:lstStyle/>
          <a:p>
            <a:pPr algn="ctr" indent="0" marL="0">
              <a:buNone/>
            </a:pPr>
            <a:endParaRPr lang="en-US" sz="1200" dirty="0"/>
          </a:p>
        </p:txBody>
      </p:sp>
      <p:sp>
        <p:nvSpPr>
          <p:cNvPr id="13" name="Text 10"/>
          <p:cNvSpPr txBox="1"/>
          <p:nvPr/>
        </p:nvSpPr>
        <p:spPr>
          <a:xfrm>
            <a:off x="2185416"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Engage and frame</a:t>
            </a:r>
            <a:endParaRPr lang="en-US" sz="1200" dirty="0"/>
          </a:p>
        </p:txBody>
      </p:sp>
      <p:sp>
        <p:nvSpPr>
          <p:cNvPr id="14" name="Text 11"/>
          <p:cNvSpPr txBox="1"/>
          <p:nvPr/>
        </p:nvSpPr>
        <p:spPr>
          <a:xfrm>
            <a:off x="2185416" y="160020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1–4</a:t>
            </a:r>
            <a:endParaRPr lang="en-US" sz="1100" dirty="0"/>
          </a:p>
        </p:txBody>
      </p:sp>
      <p:sp>
        <p:nvSpPr>
          <p:cNvPr id="15" name="Text 12"/>
          <p:cNvSpPr txBox="1"/>
          <p:nvPr/>
        </p:nvSpPr>
        <p:spPr>
          <a:xfrm>
            <a:off x="2212848" y="189280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engage, stakeholders, problem and value, baseline KPIs</a:t>
            </a:r>
            <a:endParaRPr lang="en-US" sz="1000" dirty="0"/>
          </a:p>
        </p:txBody>
      </p:sp>
      <p:sp>
        <p:nvSpPr>
          <p:cNvPr id="16" name="Shape 13"/>
          <p:cNvSpPr/>
          <p:nvPr/>
        </p:nvSpPr>
        <p:spPr>
          <a:xfrm>
            <a:off x="3621024" y="1938528"/>
            <a:ext cx="201168" cy="0"/>
          </a:xfrm>
          <a:prstGeom prst="line">
            <a:avLst/>
          </a:prstGeom>
          <a:noFill/>
          <a:ln w="22225">
            <a:solidFill>
              <a:srgbClr val="0B1F3A"/>
            </a:solidFill>
            <a:prstDash val="solid"/>
            <a:tailEnd type="triangle"/>
          </a:ln>
        </p:spPr>
      </p:sp>
      <p:sp>
        <p:nvSpPr>
          <p:cNvPr id="17" name="Text 14"/>
          <p:cNvSpPr txBox="1"/>
          <p:nvPr/>
        </p:nvSpPr>
        <p:spPr>
          <a:xfrm>
            <a:off x="3822192" y="1143000"/>
            <a:ext cx="1481328" cy="1600200"/>
          </a:xfrm>
          <a:prstGeom prst="roundRect">
            <a:avLst>
              <a:gd name="adj" fmla="val 4321"/>
            </a:avLst>
          </a:prstGeom>
          <a:solidFill>
            <a:srgbClr val="1E7FA8"/>
          </a:solidFill>
          <a:ln/>
        </p:spPr>
        <p:txBody>
          <a:bodyPr wrap="square" lIns="762" tIns="762" rIns="762" bIns="762" rtlCol="0" anchor="ctr"/>
          <a:lstStyle/>
          <a:p>
            <a:pPr algn="ctr" indent="0" marL="0">
              <a:buNone/>
            </a:pPr>
            <a:endParaRPr lang="en-US" sz="1200" dirty="0"/>
          </a:p>
        </p:txBody>
      </p:sp>
      <p:sp>
        <p:nvSpPr>
          <p:cNvPr id="18" name="Text 15"/>
          <p:cNvSpPr txBox="1"/>
          <p:nvPr/>
        </p:nvSpPr>
        <p:spPr>
          <a:xfrm>
            <a:off x="3867912"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Understand</a:t>
            </a:r>
            <a:endParaRPr lang="en-US" sz="1200" dirty="0"/>
          </a:p>
        </p:txBody>
      </p:sp>
      <p:sp>
        <p:nvSpPr>
          <p:cNvPr id="19" name="Text 16"/>
          <p:cNvSpPr txBox="1"/>
          <p:nvPr/>
        </p:nvSpPr>
        <p:spPr>
          <a:xfrm>
            <a:off x="3867912" y="160020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5–8</a:t>
            </a:r>
            <a:endParaRPr lang="en-US" sz="1100" dirty="0"/>
          </a:p>
        </p:txBody>
      </p:sp>
      <p:sp>
        <p:nvSpPr>
          <p:cNvPr id="20" name="Text 17"/>
          <p:cNvSpPr txBox="1"/>
          <p:nvPr/>
        </p:nvSpPr>
        <p:spPr>
          <a:xfrm>
            <a:off x="3895344" y="189280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current process, root cause, repo assessment, AI vs No-AI</a:t>
            </a:r>
            <a:endParaRPr lang="en-US" sz="1000" dirty="0"/>
          </a:p>
        </p:txBody>
      </p:sp>
      <p:sp>
        <p:nvSpPr>
          <p:cNvPr id="21" name="Shape 18"/>
          <p:cNvSpPr/>
          <p:nvPr/>
        </p:nvSpPr>
        <p:spPr>
          <a:xfrm>
            <a:off x="5303520" y="1938528"/>
            <a:ext cx="201168" cy="0"/>
          </a:xfrm>
          <a:prstGeom prst="line">
            <a:avLst/>
          </a:prstGeom>
          <a:noFill/>
          <a:ln w="22225">
            <a:solidFill>
              <a:srgbClr val="0B1F3A"/>
            </a:solidFill>
            <a:prstDash val="solid"/>
            <a:tailEnd type="triangle"/>
          </a:ln>
        </p:spPr>
      </p:sp>
      <p:sp>
        <p:nvSpPr>
          <p:cNvPr id="22" name="Text 19"/>
          <p:cNvSpPr txBox="1"/>
          <p:nvPr/>
        </p:nvSpPr>
        <p:spPr>
          <a:xfrm>
            <a:off x="5504688" y="1143000"/>
            <a:ext cx="1481328" cy="1600200"/>
          </a:xfrm>
          <a:prstGeom prst="roundRect">
            <a:avLst>
              <a:gd name="adj" fmla="val 4321"/>
            </a:avLst>
          </a:prstGeom>
          <a:solidFill>
            <a:srgbClr val="0FA3A3"/>
          </a:solidFill>
          <a:ln/>
        </p:spPr>
        <p:txBody>
          <a:bodyPr wrap="square" lIns="762" tIns="762" rIns="762" bIns="762" rtlCol="0" anchor="ctr"/>
          <a:lstStyle/>
          <a:p>
            <a:pPr algn="ctr" indent="0" marL="0">
              <a:buNone/>
            </a:pPr>
            <a:endParaRPr lang="en-US" sz="1200" dirty="0"/>
          </a:p>
        </p:txBody>
      </p:sp>
      <p:sp>
        <p:nvSpPr>
          <p:cNvPr id="23" name="Text 20"/>
          <p:cNvSpPr txBox="1"/>
          <p:nvPr/>
        </p:nvSpPr>
        <p:spPr>
          <a:xfrm>
            <a:off x="5550408"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Define and design</a:t>
            </a:r>
            <a:endParaRPr lang="en-US" sz="1200" dirty="0"/>
          </a:p>
        </p:txBody>
      </p:sp>
      <p:sp>
        <p:nvSpPr>
          <p:cNvPr id="24" name="Text 21"/>
          <p:cNvSpPr txBox="1"/>
          <p:nvPr/>
        </p:nvSpPr>
        <p:spPr>
          <a:xfrm>
            <a:off x="5550408" y="160020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9–14</a:t>
            </a:r>
            <a:endParaRPr lang="en-US" sz="1100" dirty="0"/>
          </a:p>
        </p:txBody>
      </p:sp>
      <p:sp>
        <p:nvSpPr>
          <p:cNvPr id="25" name="Text 22"/>
          <p:cNvSpPr txBox="1"/>
          <p:nvPr/>
        </p:nvSpPr>
        <p:spPr>
          <a:xfrm>
            <a:off x="5577840" y="189280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PRD, architecture, data and context, specs, traceability, migration</a:t>
            </a:r>
            <a:endParaRPr lang="en-US" sz="1000" dirty="0"/>
          </a:p>
        </p:txBody>
      </p:sp>
      <p:sp>
        <p:nvSpPr>
          <p:cNvPr id="26" name="Shape 23"/>
          <p:cNvSpPr/>
          <p:nvPr/>
        </p:nvSpPr>
        <p:spPr>
          <a:xfrm>
            <a:off x="6986016" y="1938528"/>
            <a:ext cx="201168" cy="0"/>
          </a:xfrm>
          <a:prstGeom prst="line">
            <a:avLst/>
          </a:prstGeom>
          <a:noFill/>
          <a:ln w="22225">
            <a:solidFill>
              <a:srgbClr val="0B1F3A"/>
            </a:solidFill>
            <a:prstDash val="solid"/>
            <a:tailEnd type="triangle"/>
          </a:ln>
        </p:spPr>
      </p:sp>
      <p:sp>
        <p:nvSpPr>
          <p:cNvPr id="27" name="Text 24"/>
          <p:cNvSpPr txBox="1"/>
          <p:nvPr/>
        </p:nvSpPr>
        <p:spPr>
          <a:xfrm>
            <a:off x="7187184" y="1143000"/>
            <a:ext cx="1481328" cy="1600200"/>
          </a:xfrm>
          <a:prstGeom prst="roundRect">
            <a:avLst>
              <a:gd name="adj" fmla="val 4321"/>
            </a:avLst>
          </a:prstGeom>
          <a:solidFill>
            <a:srgbClr val="0FA3A3"/>
          </a:solidFill>
          <a:ln/>
        </p:spPr>
        <p:txBody>
          <a:bodyPr wrap="square" lIns="762" tIns="762" rIns="762" bIns="762" rtlCol="0" anchor="ctr"/>
          <a:lstStyle/>
          <a:p>
            <a:pPr algn="ctr" indent="0" marL="0">
              <a:buNone/>
            </a:pPr>
            <a:endParaRPr lang="en-US" sz="1200" dirty="0"/>
          </a:p>
        </p:txBody>
      </p:sp>
      <p:sp>
        <p:nvSpPr>
          <p:cNvPr id="28" name="Text 25"/>
          <p:cNvSpPr txBox="1"/>
          <p:nvPr/>
        </p:nvSpPr>
        <p:spPr>
          <a:xfrm>
            <a:off x="7232904"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Build and validate</a:t>
            </a:r>
            <a:endParaRPr lang="en-US" sz="1200" dirty="0"/>
          </a:p>
        </p:txBody>
      </p:sp>
      <p:sp>
        <p:nvSpPr>
          <p:cNvPr id="29" name="Text 26"/>
          <p:cNvSpPr txBox="1"/>
          <p:nvPr/>
        </p:nvSpPr>
        <p:spPr>
          <a:xfrm>
            <a:off x="7232904" y="160020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15–22</a:t>
            </a:r>
            <a:endParaRPr lang="en-US" sz="1100" dirty="0"/>
          </a:p>
        </p:txBody>
      </p:sp>
      <p:sp>
        <p:nvSpPr>
          <p:cNvPr id="30" name="Text 27"/>
          <p:cNvSpPr txBox="1"/>
          <p:nvPr/>
        </p:nvSpPr>
        <p:spPr>
          <a:xfrm>
            <a:off x="7260336" y="189280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transform repo, validate, delivery, intelligence, services, integration, agent harness</a:t>
            </a:r>
            <a:endParaRPr lang="en-US" sz="1000" dirty="0"/>
          </a:p>
        </p:txBody>
      </p:sp>
      <p:sp>
        <p:nvSpPr>
          <p:cNvPr id="31" name="Text 28"/>
          <p:cNvSpPr txBox="1"/>
          <p:nvPr/>
        </p:nvSpPr>
        <p:spPr>
          <a:xfrm>
            <a:off x="457200" y="2926080"/>
            <a:ext cx="1481328" cy="1600200"/>
          </a:xfrm>
          <a:prstGeom prst="roundRect">
            <a:avLst>
              <a:gd name="adj" fmla="val 4321"/>
            </a:avLst>
          </a:prstGeom>
          <a:solidFill>
            <a:srgbClr val="15325A"/>
          </a:solidFill>
          <a:ln/>
        </p:spPr>
        <p:txBody>
          <a:bodyPr wrap="square" lIns="762" tIns="762" rIns="762" bIns="762" rtlCol="0" anchor="ctr"/>
          <a:lstStyle/>
          <a:p>
            <a:pPr algn="ctr" indent="0" marL="0">
              <a:buNone/>
            </a:pPr>
            <a:endParaRPr lang="en-US" sz="1200" dirty="0"/>
          </a:p>
        </p:txBody>
      </p:sp>
      <p:sp>
        <p:nvSpPr>
          <p:cNvPr id="32" name="Text 29"/>
          <p:cNvSpPr txBox="1"/>
          <p:nvPr/>
        </p:nvSpPr>
        <p:spPr>
          <a:xfrm>
            <a:off x="502920"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Control and protect</a:t>
            </a:r>
            <a:endParaRPr lang="en-US" sz="1200" dirty="0"/>
          </a:p>
        </p:txBody>
      </p:sp>
      <p:sp>
        <p:nvSpPr>
          <p:cNvPr id="33" name="Text 30"/>
          <p:cNvSpPr txBox="1"/>
          <p:nvPr/>
        </p:nvSpPr>
        <p:spPr>
          <a:xfrm>
            <a:off x="502920" y="338328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23–26</a:t>
            </a:r>
            <a:endParaRPr lang="en-US" sz="1100" dirty="0"/>
          </a:p>
        </p:txBody>
      </p:sp>
      <p:sp>
        <p:nvSpPr>
          <p:cNvPr id="34" name="Text 31"/>
          <p:cNvSpPr txBox="1"/>
          <p:nvPr/>
        </p:nvSpPr>
        <p:spPr>
          <a:xfrm>
            <a:off x="530352" y="367588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HITL control, security and privacy, governance, TEVV and red teaming</a:t>
            </a:r>
            <a:endParaRPr lang="en-US" sz="1000" dirty="0"/>
          </a:p>
        </p:txBody>
      </p:sp>
      <p:sp>
        <p:nvSpPr>
          <p:cNvPr id="35" name="Shape 32"/>
          <p:cNvSpPr/>
          <p:nvPr/>
        </p:nvSpPr>
        <p:spPr>
          <a:xfrm>
            <a:off x="1938528" y="3721608"/>
            <a:ext cx="201168" cy="0"/>
          </a:xfrm>
          <a:prstGeom prst="line">
            <a:avLst/>
          </a:prstGeom>
          <a:noFill/>
          <a:ln w="22225">
            <a:solidFill>
              <a:srgbClr val="0B1F3A"/>
            </a:solidFill>
            <a:prstDash val="solid"/>
            <a:tailEnd type="triangle"/>
          </a:ln>
        </p:spPr>
      </p:sp>
      <p:sp>
        <p:nvSpPr>
          <p:cNvPr id="36" name="Text 33"/>
          <p:cNvSpPr txBox="1"/>
          <p:nvPr/>
        </p:nvSpPr>
        <p:spPr>
          <a:xfrm>
            <a:off x="2139696" y="2926080"/>
            <a:ext cx="1481328" cy="1600200"/>
          </a:xfrm>
          <a:prstGeom prst="roundRect">
            <a:avLst>
              <a:gd name="adj" fmla="val 4321"/>
            </a:avLst>
          </a:prstGeom>
          <a:solidFill>
            <a:srgbClr val="15325A"/>
          </a:solidFill>
          <a:ln/>
        </p:spPr>
        <p:txBody>
          <a:bodyPr wrap="square" lIns="762" tIns="762" rIns="762" bIns="762" rtlCol="0" anchor="ctr"/>
          <a:lstStyle/>
          <a:p>
            <a:pPr algn="ctr" indent="0" marL="0">
              <a:buNone/>
            </a:pPr>
            <a:endParaRPr lang="en-US" sz="1200" dirty="0"/>
          </a:p>
        </p:txBody>
      </p:sp>
      <p:sp>
        <p:nvSpPr>
          <p:cNvPr id="37" name="Text 34"/>
          <p:cNvSpPr txBox="1"/>
          <p:nvPr/>
        </p:nvSpPr>
        <p:spPr>
          <a:xfrm>
            <a:off x="2185416"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Harden and release</a:t>
            </a:r>
            <a:endParaRPr lang="en-US" sz="1200" dirty="0"/>
          </a:p>
        </p:txBody>
      </p:sp>
      <p:sp>
        <p:nvSpPr>
          <p:cNvPr id="38" name="Text 35"/>
          <p:cNvSpPr txBox="1"/>
          <p:nvPr/>
        </p:nvSpPr>
        <p:spPr>
          <a:xfrm>
            <a:off x="2185416" y="338328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27–31</a:t>
            </a:r>
            <a:endParaRPr lang="en-US" sz="1100" dirty="0"/>
          </a:p>
        </p:txBody>
      </p:sp>
      <p:sp>
        <p:nvSpPr>
          <p:cNvPr id="39" name="Text 36"/>
          <p:cNvSpPr txBox="1"/>
          <p:nvPr/>
        </p:nvSpPr>
        <p:spPr>
          <a:xfrm>
            <a:off x="2212848" y="367588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hardening, reliability, incident and BC-DR, release, observability</a:t>
            </a:r>
            <a:endParaRPr lang="en-US" sz="1000" dirty="0"/>
          </a:p>
        </p:txBody>
      </p:sp>
      <p:sp>
        <p:nvSpPr>
          <p:cNvPr id="40" name="Shape 37"/>
          <p:cNvSpPr/>
          <p:nvPr/>
        </p:nvSpPr>
        <p:spPr>
          <a:xfrm>
            <a:off x="3621024" y="3721608"/>
            <a:ext cx="201168" cy="0"/>
          </a:xfrm>
          <a:prstGeom prst="line">
            <a:avLst/>
          </a:prstGeom>
          <a:noFill/>
          <a:ln w="22225">
            <a:solidFill>
              <a:srgbClr val="0B1F3A"/>
            </a:solidFill>
            <a:prstDash val="solid"/>
            <a:tailEnd type="triangle"/>
          </a:ln>
        </p:spPr>
      </p:sp>
      <p:sp>
        <p:nvSpPr>
          <p:cNvPr id="41" name="Text 38"/>
          <p:cNvSpPr txBox="1"/>
          <p:nvPr/>
        </p:nvSpPr>
        <p:spPr>
          <a:xfrm>
            <a:off x="3822192" y="2926080"/>
            <a:ext cx="1481328" cy="1600200"/>
          </a:xfrm>
          <a:prstGeom prst="roundRect">
            <a:avLst>
              <a:gd name="adj" fmla="val 4321"/>
            </a:avLst>
          </a:prstGeom>
          <a:solidFill>
            <a:srgbClr val="1E7FA8"/>
          </a:solidFill>
          <a:ln/>
        </p:spPr>
        <p:txBody>
          <a:bodyPr wrap="square" lIns="762" tIns="762" rIns="762" bIns="762" rtlCol="0" anchor="ctr"/>
          <a:lstStyle/>
          <a:p>
            <a:pPr algn="ctr" indent="0" marL="0">
              <a:buNone/>
            </a:pPr>
            <a:endParaRPr lang="en-US" sz="1200" dirty="0"/>
          </a:p>
        </p:txBody>
      </p:sp>
      <p:sp>
        <p:nvSpPr>
          <p:cNvPr id="42" name="Text 39"/>
          <p:cNvSpPr txBox="1"/>
          <p:nvPr/>
        </p:nvSpPr>
        <p:spPr>
          <a:xfrm>
            <a:off x="3867912"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Economics</a:t>
            </a:r>
            <a:endParaRPr lang="en-US" sz="1200" dirty="0"/>
          </a:p>
        </p:txBody>
      </p:sp>
      <p:sp>
        <p:nvSpPr>
          <p:cNvPr id="43" name="Text 40"/>
          <p:cNvSpPr txBox="1"/>
          <p:nvPr/>
        </p:nvSpPr>
        <p:spPr>
          <a:xfrm>
            <a:off x="3867912" y="338328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32–36</a:t>
            </a:r>
            <a:endParaRPr lang="en-US" sz="1100" dirty="0"/>
          </a:p>
        </p:txBody>
      </p:sp>
      <p:sp>
        <p:nvSpPr>
          <p:cNvPr id="44" name="Text 41"/>
          <p:cNvSpPr txBox="1"/>
          <p:nvPr/>
        </p:nvSpPr>
        <p:spPr>
          <a:xfrm>
            <a:off x="3895344" y="367588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FinOps, vendor risk, measure after, variance, ROI</a:t>
            </a:r>
            <a:endParaRPr lang="en-US" sz="1000" dirty="0"/>
          </a:p>
        </p:txBody>
      </p:sp>
      <p:sp>
        <p:nvSpPr>
          <p:cNvPr id="45" name="Shape 42"/>
          <p:cNvSpPr/>
          <p:nvPr/>
        </p:nvSpPr>
        <p:spPr>
          <a:xfrm>
            <a:off x="5303520" y="3721608"/>
            <a:ext cx="201168" cy="0"/>
          </a:xfrm>
          <a:prstGeom prst="line">
            <a:avLst/>
          </a:prstGeom>
          <a:noFill/>
          <a:ln w="22225">
            <a:solidFill>
              <a:srgbClr val="0B1F3A"/>
            </a:solidFill>
            <a:prstDash val="solid"/>
            <a:tailEnd type="triangle"/>
          </a:ln>
        </p:spPr>
      </p:sp>
      <p:sp>
        <p:nvSpPr>
          <p:cNvPr id="46" name="Text 43"/>
          <p:cNvSpPr txBox="1"/>
          <p:nvPr/>
        </p:nvSpPr>
        <p:spPr>
          <a:xfrm>
            <a:off x="5504688" y="2926080"/>
            <a:ext cx="1481328" cy="1600200"/>
          </a:xfrm>
          <a:prstGeom prst="roundRect">
            <a:avLst>
              <a:gd name="adj" fmla="val 4321"/>
            </a:avLst>
          </a:prstGeom>
          <a:solidFill>
            <a:srgbClr val="0FA3A3"/>
          </a:solidFill>
          <a:ln/>
        </p:spPr>
        <p:txBody>
          <a:bodyPr wrap="square" lIns="762" tIns="762" rIns="762" bIns="762" rtlCol="0" anchor="ctr"/>
          <a:lstStyle/>
          <a:p>
            <a:pPr algn="ctr" indent="0" marL="0">
              <a:buNone/>
            </a:pPr>
            <a:endParaRPr lang="en-US" sz="1200" dirty="0"/>
          </a:p>
        </p:txBody>
      </p:sp>
      <p:sp>
        <p:nvSpPr>
          <p:cNvPr id="47" name="Text 44"/>
          <p:cNvSpPr txBox="1"/>
          <p:nvPr/>
        </p:nvSpPr>
        <p:spPr>
          <a:xfrm>
            <a:off x="5550408"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Own and scale</a:t>
            </a:r>
            <a:endParaRPr lang="en-US" sz="1200" dirty="0"/>
          </a:p>
        </p:txBody>
      </p:sp>
      <p:sp>
        <p:nvSpPr>
          <p:cNvPr id="48" name="Text 45"/>
          <p:cNvSpPr txBox="1"/>
          <p:nvPr/>
        </p:nvSpPr>
        <p:spPr>
          <a:xfrm>
            <a:off x="5550408" y="3383280"/>
            <a:ext cx="1389888" cy="256032"/>
          </a:xfrm>
          <a:prstGeom prst="rect">
            <a:avLst/>
          </a:prstGeom>
          <a:noFill/>
          <a:ln/>
        </p:spPr>
        <p:txBody>
          <a:bodyPr wrap="square" lIns="0" tIns="0" rIns="0" bIns="0" rtlCol="0" anchor="ctr"/>
          <a:lstStyle/>
          <a:p>
            <a:pPr algn="ctr" indent="0" marL="0">
              <a:buNone/>
            </a:pPr>
            <a:r>
              <a:rPr lang="en-US" sz="1100" b="1" dirty="0">
                <a:solidFill>
                  <a:srgbClr val="BFE9E6"/>
                </a:solidFill>
                <a:latin typeface="Calibri" pitchFamily="34" charset="0"/>
                <a:ea typeface="Calibri" pitchFamily="34" charset="-122"/>
                <a:cs typeface="Calibri" pitchFamily="34" charset="-120"/>
              </a:rPr>
              <a:t>Stages 37–42</a:t>
            </a:r>
            <a:endParaRPr lang="en-US" sz="1100" dirty="0"/>
          </a:p>
        </p:txBody>
      </p:sp>
      <p:sp>
        <p:nvSpPr>
          <p:cNvPr id="49" name="Text 46"/>
          <p:cNvSpPr txBox="1"/>
          <p:nvPr/>
        </p:nvSpPr>
        <p:spPr>
          <a:xfrm>
            <a:off x="5577840" y="3675888"/>
            <a:ext cx="1335024" cy="804672"/>
          </a:xfrm>
          <a:prstGeom prst="rect">
            <a:avLst/>
          </a:prstGeom>
          <a:noFill/>
          <a:ln/>
        </p:spPr>
        <p:txBody>
          <a:bodyPr wrap="square" lIns="0" tIns="0" rIns="0" bIns="0" rtlCol="0" anchor="t"/>
          <a:lstStyle/>
          <a:p>
            <a:pPr algn="ctr" indent="0" marL="0">
              <a:buNone/>
            </a:pPr>
            <a:r>
              <a:rPr lang="en-US" sz="1000" dirty="0">
                <a:solidFill>
                  <a:srgbClr val="E6F1F8"/>
                </a:solidFill>
                <a:latin typeface="Calibri" pitchFamily="34" charset="0"/>
                <a:ea typeface="Calibri" pitchFamily="34" charset="-122"/>
                <a:cs typeface="Calibri" pitchFamily="34" charset="-120"/>
              </a:rPr>
              <a:t>operating model, handover, drift, 90-day scale, retirement, executive defence</a:t>
            </a:r>
            <a:endParaRPr lang="en-US" sz="1000" dirty="0"/>
          </a:p>
        </p:txBody>
      </p:sp>
      <p:sp>
        <p:nvSpPr>
          <p:cNvPr id="50" name="Shape 47"/>
          <p:cNvSpPr/>
          <p:nvPr/>
        </p:nvSpPr>
        <p:spPr>
          <a:xfrm>
            <a:off x="6986016" y="3721608"/>
            <a:ext cx="201168" cy="0"/>
          </a:xfrm>
          <a:prstGeom prst="line">
            <a:avLst/>
          </a:prstGeom>
          <a:noFill/>
          <a:ln w="22225">
            <a:solidFill>
              <a:srgbClr val="0B1F3A"/>
            </a:solidFill>
            <a:prstDash val="solid"/>
            <a:tailEnd type="triangle"/>
          </a:ln>
        </p:spPr>
      </p:sp>
      <p:sp>
        <p:nvSpPr>
          <p:cNvPr id="51" name="Text 48"/>
          <p:cNvSpPr txBox="1"/>
          <p:nvPr/>
        </p:nvSpPr>
        <p:spPr>
          <a:xfrm>
            <a:off x="7187184" y="2926080"/>
            <a:ext cx="1481328" cy="1600200"/>
          </a:xfrm>
          <a:prstGeom prst="roundRect">
            <a:avLst>
              <a:gd name="adj" fmla="val 4321"/>
            </a:avLst>
          </a:prstGeom>
          <a:solidFill>
            <a:srgbClr val="E39A1F"/>
          </a:solidFill>
          <a:ln/>
        </p:spPr>
        <p:txBody>
          <a:bodyPr wrap="square" lIns="762" tIns="762" rIns="762" bIns="762" rtlCol="0" anchor="ctr"/>
          <a:lstStyle/>
          <a:p>
            <a:pPr algn="ctr" indent="0" marL="0">
              <a:buNone/>
            </a:pPr>
            <a:endParaRPr lang="en-US" sz="1200" dirty="0"/>
          </a:p>
        </p:txBody>
      </p:sp>
      <p:sp>
        <p:nvSpPr>
          <p:cNvPr id="52" name="Text 49"/>
          <p:cNvSpPr txBox="1"/>
          <p:nvPr/>
        </p:nvSpPr>
        <p:spPr>
          <a:xfrm>
            <a:off x="7232904" y="2980944"/>
            <a:ext cx="138988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Final</a:t>
            </a:r>
            <a:endParaRPr lang="en-US" sz="1200" dirty="0"/>
          </a:p>
        </p:txBody>
      </p:sp>
      <p:sp>
        <p:nvSpPr>
          <p:cNvPr id="53" name="Text 50"/>
          <p:cNvSpPr txBox="1"/>
          <p:nvPr/>
        </p:nvSpPr>
        <p:spPr>
          <a:xfrm>
            <a:off x="7232904" y="3383280"/>
            <a:ext cx="1389888" cy="256032"/>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Stages FINAL</a:t>
            </a:r>
            <a:endParaRPr lang="en-US" sz="1100" dirty="0"/>
          </a:p>
        </p:txBody>
      </p:sp>
      <p:sp>
        <p:nvSpPr>
          <p:cNvPr id="54" name="Text 51"/>
          <p:cNvSpPr txBox="1"/>
          <p:nvPr/>
        </p:nvSpPr>
        <p:spPr>
          <a:xfrm>
            <a:off x="7260336" y="3675888"/>
            <a:ext cx="1335024" cy="804672"/>
          </a:xfrm>
          <a:prstGeom prst="rect">
            <a:avLst/>
          </a:prstGeom>
          <a:noFill/>
          <a:ln/>
        </p:spPr>
        <p:txBody>
          <a:bodyPr wrap="square" lIns="0" tIns="0" rIns="0" bIns="0" rtlCol="0" anchor="t"/>
          <a:lstStyle/>
          <a:p>
            <a:pPr algn="ctr" indent="0" marL="0">
              <a:buNone/>
            </a:pPr>
            <a:r>
              <a:rPr lang="en-US" sz="1000" dirty="0">
                <a:solidFill>
                  <a:srgbClr val="0B1F3A"/>
                </a:solidFill>
                <a:latin typeface="Calibri" pitchFamily="34" charset="0"/>
                <a:ea typeface="Calibri" pitchFamily="34" charset="-122"/>
                <a:cs typeface="Calibri" pitchFamily="34" charset="-120"/>
              </a:rPr>
              <a:t>authoritative as-built PRD</a:t>
            </a:r>
            <a:endParaRPr lang="en-US" sz="1000" dirty="0"/>
          </a:p>
        </p:txBody>
      </p:sp>
      <p:sp>
        <p:nvSpPr>
          <p:cNvPr id="55" name="Text 52"/>
          <p:cNvSpPr txBox="1"/>
          <p:nvPr/>
        </p:nvSpPr>
        <p:spPr>
          <a:xfrm>
            <a:off x="457200" y="4572000"/>
            <a:ext cx="8229600" cy="201168"/>
          </a:xfrm>
          <a:prstGeom prst="rect">
            <a:avLst/>
          </a:prstGeom>
          <a:noFill/>
          <a:ln/>
        </p:spPr>
        <p:txBody>
          <a:bodyPr wrap="square" lIns="0" tIns="0" rIns="0" bIns="0" rtlCol="0" anchor="ctr"/>
          <a:lstStyle/>
          <a:p>
            <a:pPr indent="0" marL="0">
              <a:buNone/>
            </a:pPr>
            <a:r>
              <a:rPr lang="en-US" sz="1000" i="1" dirty="0">
                <a:solidFill>
                  <a:srgbClr val="5B6B7C"/>
                </a:solidFill>
                <a:latin typeface="Calibri" pitchFamily="34" charset="0"/>
                <a:ea typeface="Calibri" pitchFamily="34" charset="-122"/>
                <a:cs typeface="Calibri" pitchFamily="34" charset="-120"/>
              </a:rPr>
              <a:t>Source: .fde/stage-prompts (46 files: 0A, 0B, 0C, 1–42, FINAL). Phase grouping is for presentation.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Anatomy of a runbook, and what the 46 runs produced</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
        <p:nvSpPr>
          <p:cNvPr id="7" name="Text 4"/>
          <p:cNvSpPr txBox="1"/>
          <p:nvPr/>
        </p:nvSpPr>
        <p:spPr>
          <a:xfrm>
            <a:off x="457200" y="1051560"/>
            <a:ext cx="27432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Every runbook defines</a:t>
            </a:r>
            <a:endParaRPr lang="en-US" sz="1400" dirty="0"/>
          </a:p>
        </p:txBody>
      </p:sp>
      <p:sp>
        <p:nvSpPr>
          <p:cNvPr id="8" name="Text 5"/>
          <p:cNvSpPr txBox="1"/>
          <p:nvPr/>
        </p:nvSpPr>
        <p:spPr>
          <a:xfrm>
            <a:off x="457200" y="1371600"/>
            <a:ext cx="2651760" cy="347472"/>
          </a:xfrm>
          <a:prstGeom prst="roundRect">
            <a:avLst>
              <a:gd name="adj" fmla="val 18421"/>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1  Action / mission</a:t>
            </a:r>
            <a:endParaRPr lang="en-US" sz="1200" dirty="0"/>
          </a:p>
        </p:txBody>
      </p:sp>
      <p:sp>
        <p:nvSpPr>
          <p:cNvPr id="9" name="Text 6"/>
          <p:cNvSpPr txBox="1"/>
          <p:nvPr/>
        </p:nvSpPr>
        <p:spPr>
          <a:xfrm>
            <a:off x="457200" y="1783080"/>
            <a:ext cx="2651760" cy="347472"/>
          </a:xfrm>
          <a:prstGeom prst="roundRect">
            <a:avLst>
              <a:gd name="adj" fmla="val 18421"/>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2  Scope and objects</a:t>
            </a:r>
            <a:endParaRPr lang="en-US" sz="1200" dirty="0"/>
          </a:p>
        </p:txBody>
      </p:sp>
      <p:sp>
        <p:nvSpPr>
          <p:cNvPr id="10" name="Text 7"/>
          <p:cNvSpPr txBox="1"/>
          <p:nvPr/>
        </p:nvSpPr>
        <p:spPr>
          <a:xfrm>
            <a:off x="457200" y="2194560"/>
            <a:ext cx="2651760" cy="347472"/>
          </a:xfrm>
          <a:prstGeom prst="roundRect">
            <a:avLst>
              <a:gd name="adj" fmla="val 18421"/>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3  Constraints and guardrails</a:t>
            </a:r>
            <a:endParaRPr lang="en-US" sz="1200" dirty="0"/>
          </a:p>
        </p:txBody>
      </p:sp>
      <p:sp>
        <p:nvSpPr>
          <p:cNvPr id="11" name="Text 8"/>
          <p:cNvSpPr txBox="1"/>
          <p:nvPr/>
        </p:nvSpPr>
        <p:spPr>
          <a:xfrm>
            <a:off x="457200" y="2606040"/>
            <a:ext cx="2651760" cy="347472"/>
          </a:xfrm>
          <a:prstGeom prst="roundRect">
            <a:avLst>
              <a:gd name="adj" fmla="val 18421"/>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4  Analysis dimensions</a:t>
            </a:r>
            <a:endParaRPr lang="en-US" sz="1200" dirty="0"/>
          </a:p>
        </p:txBody>
      </p:sp>
      <p:sp>
        <p:nvSpPr>
          <p:cNvPr id="12" name="Text 9"/>
          <p:cNvSpPr txBox="1"/>
          <p:nvPr/>
        </p:nvSpPr>
        <p:spPr>
          <a:xfrm>
            <a:off x="457200" y="3017520"/>
            <a:ext cx="2651760" cy="347472"/>
          </a:xfrm>
          <a:prstGeom prst="roundRect">
            <a:avLst>
              <a:gd name="adj" fmla="val 18421"/>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5  Evidence rules</a:t>
            </a:r>
            <a:endParaRPr lang="en-US" sz="1200" dirty="0"/>
          </a:p>
        </p:txBody>
      </p:sp>
      <p:sp>
        <p:nvSpPr>
          <p:cNvPr id="13" name="Text 10"/>
          <p:cNvSpPr txBox="1"/>
          <p:nvPr/>
        </p:nvSpPr>
        <p:spPr>
          <a:xfrm>
            <a:off x="457200" y="3429000"/>
            <a:ext cx="2651760" cy="347472"/>
          </a:xfrm>
          <a:prstGeom prst="roundRect">
            <a:avLst>
              <a:gd name="adj" fmla="val 18421"/>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6  Artifact generation</a:t>
            </a:r>
            <a:endParaRPr lang="en-US" sz="1200" dirty="0"/>
          </a:p>
        </p:txBody>
      </p:sp>
      <p:sp>
        <p:nvSpPr>
          <p:cNvPr id="14" name="Text 11"/>
          <p:cNvSpPr txBox="1"/>
          <p:nvPr/>
        </p:nvSpPr>
        <p:spPr>
          <a:xfrm>
            <a:off x="457200" y="3840480"/>
            <a:ext cx="2651760" cy="347472"/>
          </a:xfrm>
          <a:prstGeom prst="roundRect">
            <a:avLst>
              <a:gd name="adj" fmla="val 18421"/>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7  Completion / quality gate</a:t>
            </a:r>
            <a:endParaRPr lang="en-US" sz="1200" dirty="0"/>
          </a:p>
        </p:txBody>
      </p:sp>
      <p:sp>
        <p:nvSpPr>
          <p:cNvPr id="15" name="Text 12"/>
          <p:cNvSpPr txBox="1"/>
          <p:nvPr/>
        </p:nvSpPr>
        <p:spPr>
          <a:xfrm>
            <a:off x="457200" y="4251960"/>
            <a:ext cx="2651760" cy="347472"/>
          </a:xfrm>
          <a:prstGeom prst="roundRect">
            <a:avLst>
              <a:gd name="adj" fmla="val 18421"/>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8  Lifecycle linkage</a:t>
            </a:r>
            <a:endParaRPr lang="en-US" sz="1200" dirty="0"/>
          </a:p>
        </p:txBody>
      </p:sp>
      <p:sp>
        <p:nvSpPr>
          <p:cNvPr id="16" name="Text 13"/>
          <p:cNvSpPr txBox="1"/>
          <p:nvPr/>
        </p:nvSpPr>
        <p:spPr>
          <a:xfrm>
            <a:off x="3337560" y="1051560"/>
            <a:ext cx="237744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Operating modes</a:t>
            </a:r>
            <a:endParaRPr lang="en-US" sz="1400" dirty="0"/>
          </a:p>
        </p:txBody>
      </p:sp>
      <p:sp>
        <p:nvSpPr>
          <p:cNvPr id="17" name="Text 14"/>
          <p:cNvSpPr txBox="1"/>
          <p:nvPr/>
        </p:nvSpPr>
        <p:spPr>
          <a:xfrm>
            <a:off x="3337560" y="1371600"/>
            <a:ext cx="20116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Read-only</a:t>
            </a:r>
            <a:endParaRPr lang="en-US" sz="1200" dirty="0"/>
          </a:p>
        </p:txBody>
      </p:sp>
      <p:sp>
        <p:nvSpPr>
          <p:cNvPr id="18" name="Text 15"/>
          <p:cNvSpPr txBox="1"/>
          <p:nvPr/>
        </p:nvSpPr>
        <p:spPr>
          <a:xfrm>
            <a:off x="3337560" y="1783080"/>
            <a:ext cx="20116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Docs-only</a:t>
            </a:r>
            <a:endParaRPr lang="en-US" sz="1200" dirty="0"/>
          </a:p>
        </p:txBody>
      </p:sp>
      <p:sp>
        <p:nvSpPr>
          <p:cNvPr id="19" name="Text 16"/>
          <p:cNvSpPr txBox="1"/>
          <p:nvPr/>
        </p:nvSpPr>
        <p:spPr>
          <a:xfrm>
            <a:off x="3337560" y="2194560"/>
            <a:ext cx="20116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Scoped-write</a:t>
            </a:r>
            <a:endParaRPr lang="en-US" sz="1200" dirty="0"/>
          </a:p>
        </p:txBody>
      </p:sp>
      <p:sp>
        <p:nvSpPr>
          <p:cNvPr id="20" name="Text 17"/>
          <p:cNvSpPr txBox="1"/>
          <p:nvPr/>
        </p:nvSpPr>
        <p:spPr>
          <a:xfrm>
            <a:off x="3337560" y="2606040"/>
            <a:ext cx="20116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a:t>
            </a:r>
            <a:endParaRPr lang="en-US" sz="1200" dirty="0"/>
          </a:p>
        </p:txBody>
      </p:sp>
      <p:sp>
        <p:nvSpPr>
          <p:cNvPr id="21" name="Text 18"/>
          <p:cNvSpPr txBox="1"/>
          <p:nvPr/>
        </p:nvSpPr>
        <p:spPr>
          <a:xfrm>
            <a:off x="3337560" y="3017520"/>
            <a:ext cx="20116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Operate</a:t>
            </a:r>
            <a:endParaRPr lang="en-US" sz="1200" dirty="0"/>
          </a:p>
        </p:txBody>
      </p:sp>
      <p:sp>
        <p:nvSpPr>
          <p:cNvPr id="22" name="Text 19"/>
          <p:cNvSpPr txBox="1"/>
          <p:nvPr/>
        </p:nvSpPr>
        <p:spPr>
          <a:xfrm>
            <a:off x="3337560" y="3474720"/>
            <a:ext cx="237744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Evidence classes</a:t>
            </a:r>
            <a:endParaRPr lang="en-US" sz="1400" dirty="0"/>
          </a:p>
        </p:txBody>
      </p:sp>
      <p:sp>
        <p:nvSpPr>
          <p:cNvPr id="23" name="Text 20"/>
          <p:cNvSpPr txBox="1"/>
          <p:nvPr/>
        </p:nvSpPr>
        <p:spPr>
          <a:xfrm>
            <a:off x="3337560" y="3767328"/>
            <a:ext cx="201168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Verified Fact · Inference · Assumption · Unknown</a:t>
            </a:r>
            <a:endParaRPr lang="en-US" sz="1100" dirty="0"/>
          </a:p>
        </p:txBody>
      </p:sp>
      <p:sp>
        <p:nvSpPr>
          <p:cNvPr id="24" name="Text 21"/>
          <p:cNvSpPr txBox="1"/>
          <p:nvPr/>
        </p:nvSpPr>
        <p:spPr>
          <a:xfrm>
            <a:off x="5577840" y="1051560"/>
            <a:ext cx="310896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Completion gate results (46 stages)</a:t>
            </a:r>
            <a:endParaRPr lang="en-US" sz="1400" dirty="0"/>
          </a:p>
        </p:txBody>
      </p:sp>
      <p:graphicFrame>
        <p:nvGraphicFramePr>
          <p:cNvPr id="25" name="Chart 0" descr=""/>
          <p:cNvGraphicFramePr/>
          <p:nvPr/>
        </p:nvGraphicFramePr>
        <p:xfrm>
          <a:off x="5486400" y="1371600"/>
          <a:ext cx="3200400" cy="2651760"/>
        </p:xfrm>
        <a:graphic xmlns:a="http://schemas.openxmlformats.org/drawingml/2006/main">
          <a:graphicData uri="http://schemas.openxmlformats.org/drawingml/2006/chart">
            <c:chart xmlns:c="http://schemas.openxmlformats.org/drawingml/2006/chart" r:id="rId1"/>
          </a:graphicData>
        </a:graphic>
      </p:graphicFrame>
      <p:sp>
        <p:nvSpPr>
          <p:cNvPr id="26" name="Text 22"/>
          <p:cNvSpPr txBox="1"/>
          <p:nvPr/>
        </p:nvSpPr>
        <p:spPr>
          <a:xfrm>
            <a:off x="5577840" y="4069080"/>
            <a:ext cx="3108960" cy="365760"/>
          </a:xfrm>
          <a:prstGeom prst="rect">
            <a:avLst/>
          </a:prstGeom>
          <a:noFill/>
          <a:ln/>
        </p:spPr>
        <p:txBody>
          <a:bodyPr wrap="square" lIns="0" tIns="0" rIns="0" bIns="0" rtlCol="0" anchor="ctr"/>
          <a:lstStyle/>
          <a:p>
            <a:pPr indent="0" marL="0">
              <a:buNone/>
            </a:pPr>
            <a:r>
              <a:rPr lang="en-US" sz="1000" i="1" dirty="0">
                <a:solidFill>
                  <a:srgbClr val="5B6B7C"/>
                </a:solidFill>
                <a:latin typeface="Calibri" pitchFamily="34" charset="0"/>
                <a:ea typeface="Calibri" pitchFamily="34" charset="-122"/>
                <a:cs typeface="Calibri" pitchFamily="34" charset="-120"/>
              </a:rPr>
              <a:t>Source: Stage_Evidence_Before_After_46_Prompts.xlsx</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Runbooks that operate the delivered system</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
        <p:nvSpPr>
          <p:cNvPr id="7" name="Text 4"/>
          <p:cNvSpPr txBox="1"/>
          <p:nvPr/>
        </p:nvSpPr>
        <p:spPr>
          <a:xfrm>
            <a:off x="457200" y="1051560"/>
            <a:ext cx="45720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Operational runbook (docs/31-observability)</a:t>
            </a:r>
            <a:endParaRPr lang="en-US" sz="1400" dirty="0"/>
          </a:p>
        </p:txBody>
      </p:sp>
      <p:sp>
        <p:nvSpPr>
          <p:cNvPr id="8" name="Text 5"/>
          <p:cNvSpPr txBox="1"/>
          <p:nvPr/>
        </p:nvSpPr>
        <p:spPr>
          <a:xfrm>
            <a:off x="457200" y="137160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RB-00</a:t>
            </a:r>
            <a:endParaRPr lang="en-US" sz="1100" dirty="0"/>
          </a:p>
        </p:txBody>
      </p:sp>
      <p:sp>
        <p:nvSpPr>
          <p:cNvPr id="9" name="Text 6"/>
          <p:cNvSpPr txBox="1"/>
          <p:nvPr/>
        </p:nvSpPr>
        <p:spPr>
          <a:xfrm>
            <a:off x="1143000" y="137160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Routine evaluation</a:t>
            </a:r>
            <a:endParaRPr lang="en-US" sz="1000" dirty="0"/>
          </a:p>
        </p:txBody>
      </p:sp>
      <p:sp>
        <p:nvSpPr>
          <p:cNvPr id="10" name="Text 7"/>
          <p:cNvSpPr txBox="1"/>
          <p:nvPr/>
        </p:nvSpPr>
        <p:spPr>
          <a:xfrm>
            <a:off x="2971800" y="137160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RB-01</a:t>
            </a:r>
            <a:endParaRPr lang="en-US" sz="1100" dirty="0"/>
          </a:p>
        </p:txBody>
      </p:sp>
      <p:sp>
        <p:nvSpPr>
          <p:cNvPr id="11" name="Text 8"/>
          <p:cNvSpPr txBox="1"/>
          <p:nvPr/>
        </p:nvSpPr>
        <p:spPr>
          <a:xfrm>
            <a:off x="3657600" y="137160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Model call recorded · SEV-B</a:t>
            </a:r>
            <a:endParaRPr lang="en-US" sz="1000" dirty="0"/>
          </a:p>
        </p:txBody>
      </p:sp>
      <p:sp>
        <p:nvSpPr>
          <p:cNvPr id="12" name="Text 9"/>
          <p:cNvSpPr txBox="1"/>
          <p:nvPr/>
        </p:nvSpPr>
        <p:spPr>
          <a:xfrm>
            <a:off x="457200" y="178308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RB-02</a:t>
            </a:r>
            <a:endParaRPr lang="en-US" sz="1100" dirty="0"/>
          </a:p>
        </p:txBody>
      </p:sp>
      <p:sp>
        <p:nvSpPr>
          <p:cNvPr id="13" name="Text 10"/>
          <p:cNvSpPr txBox="1"/>
          <p:nvPr/>
        </p:nvSpPr>
        <p:spPr>
          <a:xfrm>
            <a:off x="1143000" y="178308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Egress attempt · SEV-B</a:t>
            </a:r>
            <a:endParaRPr lang="en-US" sz="1000" dirty="0"/>
          </a:p>
        </p:txBody>
      </p:sp>
      <p:sp>
        <p:nvSpPr>
          <p:cNvPr id="14" name="Text 11"/>
          <p:cNvSpPr txBox="1"/>
          <p:nvPr/>
        </p:nvSpPr>
        <p:spPr>
          <a:xfrm>
            <a:off x="2971800" y="1783080"/>
            <a:ext cx="640080" cy="347472"/>
          </a:xfrm>
          <a:prstGeom prst="roundRect">
            <a:avLst>
              <a:gd name="adj" fmla="val 18421"/>
            </a:avLst>
          </a:prstGeom>
          <a:solidFill>
            <a:srgbClr val="C0392B"/>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RB-03</a:t>
            </a:r>
            <a:endParaRPr lang="en-US" sz="1100" dirty="0"/>
          </a:p>
        </p:txBody>
      </p:sp>
      <p:sp>
        <p:nvSpPr>
          <p:cNvPr id="15" name="Text 12"/>
          <p:cNvSpPr txBox="1"/>
          <p:nvPr/>
        </p:nvSpPr>
        <p:spPr>
          <a:xfrm>
            <a:off x="3657600" y="178308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Zone H act, non-human · SEV-A</a:t>
            </a:r>
            <a:endParaRPr lang="en-US" sz="1000" dirty="0"/>
          </a:p>
        </p:txBody>
      </p:sp>
      <p:sp>
        <p:nvSpPr>
          <p:cNvPr id="16" name="Text 13"/>
          <p:cNvSpPr txBox="1"/>
          <p:nvPr/>
        </p:nvSpPr>
        <p:spPr>
          <a:xfrm>
            <a:off x="457200" y="2194560"/>
            <a:ext cx="640080" cy="347472"/>
          </a:xfrm>
          <a:prstGeom prst="roundRect">
            <a:avLst>
              <a:gd name="adj" fmla="val 18421"/>
            </a:avLst>
          </a:prstGeom>
          <a:solidFill>
            <a:srgbClr val="C0392B"/>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RB-04</a:t>
            </a:r>
            <a:endParaRPr lang="en-US" sz="1100" dirty="0"/>
          </a:p>
        </p:txBody>
      </p:sp>
      <p:sp>
        <p:nvSpPr>
          <p:cNvPr id="17" name="Text 14"/>
          <p:cNvSpPr txBox="1"/>
          <p:nvPr/>
        </p:nvSpPr>
        <p:spPr>
          <a:xfrm>
            <a:off x="1143000" y="219456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Audit chain / projection integrity · SEV-A/B</a:t>
            </a:r>
            <a:endParaRPr lang="en-US" sz="1000" dirty="0"/>
          </a:p>
        </p:txBody>
      </p:sp>
      <p:sp>
        <p:nvSpPr>
          <p:cNvPr id="18" name="Text 15"/>
          <p:cNvSpPr txBox="1"/>
          <p:nvPr/>
        </p:nvSpPr>
        <p:spPr>
          <a:xfrm>
            <a:off x="2971800" y="219456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RB-05</a:t>
            </a:r>
            <a:endParaRPr lang="en-US" sz="1100" dirty="0"/>
          </a:p>
        </p:txBody>
      </p:sp>
      <p:sp>
        <p:nvSpPr>
          <p:cNvPr id="19" name="Text 16"/>
          <p:cNvSpPr txBox="1"/>
          <p:nvPr/>
        </p:nvSpPr>
        <p:spPr>
          <a:xfrm>
            <a:off x="3657600" y="219456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Server errors · SEV-C</a:t>
            </a:r>
            <a:endParaRPr lang="en-US" sz="1000" dirty="0"/>
          </a:p>
        </p:txBody>
      </p:sp>
      <p:sp>
        <p:nvSpPr>
          <p:cNvPr id="20" name="Text 17"/>
          <p:cNvSpPr txBox="1"/>
          <p:nvPr/>
        </p:nvSpPr>
        <p:spPr>
          <a:xfrm>
            <a:off x="457200" y="260604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RB-06</a:t>
            </a:r>
            <a:endParaRPr lang="en-US" sz="1100" dirty="0"/>
          </a:p>
        </p:txBody>
      </p:sp>
      <p:sp>
        <p:nvSpPr>
          <p:cNvPr id="21" name="Text 18"/>
          <p:cNvSpPr txBox="1"/>
          <p:nvPr/>
        </p:nvSpPr>
        <p:spPr>
          <a:xfrm>
            <a:off x="1143000" y="260604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Failed logins, rate limiting · SEV-C</a:t>
            </a:r>
            <a:endParaRPr lang="en-US" sz="1000" dirty="0"/>
          </a:p>
        </p:txBody>
      </p:sp>
      <p:sp>
        <p:nvSpPr>
          <p:cNvPr id="22" name="Text 19"/>
          <p:cNvSpPr txBox="1"/>
          <p:nvPr/>
        </p:nvSpPr>
        <p:spPr>
          <a:xfrm>
            <a:off x="2971800" y="260604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RB-07</a:t>
            </a:r>
            <a:endParaRPr lang="en-US" sz="1100" dirty="0"/>
          </a:p>
        </p:txBody>
      </p:sp>
      <p:sp>
        <p:nvSpPr>
          <p:cNvPr id="23" name="Text 20"/>
          <p:cNvSpPr txBox="1"/>
          <p:nvPr/>
        </p:nvSpPr>
        <p:spPr>
          <a:xfrm>
            <a:off x="3657600" y="260604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Scheduled run missed · SEV-C</a:t>
            </a:r>
            <a:endParaRPr lang="en-US" sz="1000" dirty="0"/>
          </a:p>
        </p:txBody>
      </p:sp>
      <p:sp>
        <p:nvSpPr>
          <p:cNvPr id="24" name="Text 21"/>
          <p:cNvSpPr txBox="1"/>
          <p:nvPr/>
        </p:nvSpPr>
        <p:spPr>
          <a:xfrm>
            <a:off x="457200" y="301752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RB-08</a:t>
            </a:r>
            <a:endParaRPr lang="en-US" sz="1100" dirty="0"/>
          </a:p>
        </p:txBody>
      </p:sp>
      <p:sp>
        <p:nvSpPr>
          <p:cNvPr id="25" name="Text 22"/>
          <p:cNvSpPr txBox="1"/>
          <p:nvPr/>
        </p:nvSpPr>
        <p:spPr>
          <a:xfrm>
            <a:off x="1143000" y="301752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Breaker open, retry budget · SEV-C</a:t>
            </a:r>
            <a:endParaRPr lang="en-US" sz="1000" dirty="0"/>
          </a:p>
        </p:txBody>
      </p:sp>
      <p:sp>
        <p:nvSpPr>
          <p:cNvPr id="26" name="Text 23"/>
          <p:cNvSpPr txBox="1"/>
          <p:nvPr/>
        </p:nvSpPr>
        <p:spPr>
          <a:xfrm>
            <a:off x="2971800" y="301752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RB-09</a:t>
            </a:r>
            <a:endParaRPr lang="en-US" sz="1100" dirty="0"/>
          </a:p>
        </p:txBody>
      </p:sp>
      <p:sp>
        <p:nvSpPr>
          <p:cNvPr id="27" name="Text 24"/>
          <p:cNvSpPr txBox="1"/>
          <p:nvPr/>
        </p:nvSpPr>
        <p:spPr>
          <a:xfrm>
            <a:off x="3657600" y="301752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Telemetry privacy / schema · SEV-B</a:t>
            </a:r>
            <a:endParaRPr lang="en-US" sz="1000" dirty="0"/>
          </a:p>
        </p:txBody>
      </p:sp>
      <p:sp>
        <p:nvSpPr>
          <p:cNvPr id="28" name="Text 25"/>
          <p:cNvSpPr txBox="1"/>
          <p:nvPr/>
        </p:nvSpPr>
        <p:spPr>
          <a:xfrm>
            <a:off x="457200" y="342900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RB-10</a:t>
            </a:r>
            <a:endParaRPr lang="en-US" sz="1100" dirty="0"/>
          </a:p>
        </p:txBody>
      </p:sp>
      <p:sp>
        <p:nvSpPr>
          <p:cNvPr id="29" name="Text 26"/>
          <p:cNvSpPr txBox="1"/>
          <p:nvPr/>
        </p:nvSpPr>
        <p:spPr>
          <a:xfrm>
            <a:off x="1143000" y="342900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Error budget red · SEV-C</a:t>
            </a:r>
            <a:endParaRPr lang="en-US" sz="1000" dirty="0"/>
          </a:p>
        </p:txBody>
      </p:sp>
      <p:sp>
        <p:nvSpPr>
          <p:cNvPr id="30" name="Text 27"/>
          <p:cNvSpPr txBox="1"/>
          <p:nvPr/>
        </p:nvSpPr>
        <p:spPr>
          <a:xfrm>
            <a:off x="2971800" y="3429000"/>
            <a:ext cx="640080" cy="347472"/>
          </a:xfrm>
          <a:prstGeom prst="roundRect">
            <a:avLst>
              <a:gd name="adj" fmla="val 18421"/>
            </a:avLst>
          </a:prstGeom>
          <a:solidFill>
            <a:srgbClr val="1E7FA8"/>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RB-11</a:t>
            </a:r>
            <a:endParaRPr lang="en-US" sz="1100" dirty="0"/>
          </a:p>
        </p:txBody>
      </p:sp>
      <p:sp>
        <p:nvSpPr>
          <p:cNvPr id="31" name="Text 28"/>
          <p:cNvSpPr txBox="1"/>
          <p:nvPr/>
        </p:nvSpPr>
        <p:spPr>
          <a:xfrm>
            <a:off x="3657600" y="342900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Reading a trace</a:t>
            </a:r>
            <a:endParaRPr lang="en-US" sz="1000" dirty="0"/>
          </a:p>
        </p:txBody>
      </p:sp>
      <p:sp>
        <p:nvSpPr>
          <p:cNvPr id="32" name="Text 29"/>
          <p:cNvSpPr txBox="1"/>
          <p:nvPr/>
        </p:nvSpPr>
        <p:spPr>
          <a:xfrm>
            <a:off x="457200" y="3840480"/>
            <a:ext cx="640080" cy="347472"/>
          </a:xfrm>
          <a:prstGeom prst="roundRect">
            <a:avLst>
              <a:gd name="adj" fmla="val 18421"/>
            </a:avLst>
          </a:prstGeom>
          <a:solidFill>
            <a:srgbClr val="6E7F9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RB-12</a:t>
            </a:r>
            <a:endParaRPr lang="en-US" sz="1100" dirty="0"/>
          </a:p>
        </p:txBody>
      </p:sp>
      <p:sp>
        <p:nvSpPr>
          <p:cNvPr id="33" name="Text 30"/>
          <p:cNvSpPr txBox="1"/>
          <p:nvPr/>
        </p:nvSpPr>
        <p:spPr>
          <a:xfrm>
            <a:off x="1143000" y="3840480"/>
            <a:ext cx="1783080" cy="347472"/>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What this runbook cannot do</a:t>
            </a:r>
            <a:endParaRPr lang="en-US" sz="1000" dirty="0"/>
          </a:p>
        </p:txBody>
      </p:sp>
      <p:sp>
        <p:nvSpPr>
          <p:cNvPr id="34" name="Text 31"/>
          <p:cNvSpPr txBox="1"/>
          <p:nvPr/>
        </p:nvSpPr>
        <p:spPr>
          <a:xfrm>
            <a:off x="5669280" y="1051560"/>
            <a:ext cx="301752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Executable tooling behind the runbooks</a:t>
            </a:r>
            <a:endParaRPr lang="en-US" sz="1400" dirty="0"/>
          </a:p>
        </p:txBody>
      </p:sp>
      <p:sp>
        <p:nvSpPr>
          <p:cNvPr id="35" name="Shape 32"/>
          <p:cNvSpPr/>
          <p:nvPr/>
        </p:nvSpPr>
        <p:spPr>
          <a:xfrm>
            <a:off x="5669280" y="1371600"/>
            <a:ext cx="3017520" cy="2331720"/>
          </a:xfrm>
          <a:prstGeom prst="roundRect">
            <a:avLst>
              <a:gd name="adj" fmla="val 2745"/>
            </a:avLst>
          </a:prstGeom>
          <a:solidFill>
            <a:srgbClr val="DDF3F2"/>
          </a:solidFill>
          <a:ln w="9525">
            <a:solidFill>
              <a:srgbClr val="C9D3DE"/>
            </a:solidFill>
            <a:prstDash val="solid"/>
          </a:ln>
        </p:spPr>
      </p:sp>
      <p:sp>
        <p:nvSpPr>
          <p:cNvPr id="36" name="Text 33"/>
          <p:cNvSpPr txBox="1"/>
          <p:nvPr/>
        </p:nvSpPr>
        <p:spPr>
          <a:xfrm>
            <a:off x="5779008" y="1463040"/>
            <a:ext cx="2834640" cy="21945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733"/>
                </a:solidFill>
                <a:latin typeface="Calibri" pitchFamily="34" charset="0"/>
                <a:ea typeface="Calibri" pitchFamily="34" charset="-122"/>
                <a:cs typeface="Calibri" pitchFamily="34" charset="-120"/>
              </a:rPr>
              <a:t>hub.release evaluate: 20 technical criteria and approvals gate</a:t>
            </a:r>
            <a:endParaRPr lang="en-US" sz="1200" dirty="0"/>
          </a:p>
          <a:p>
            <a:pPr marL="342900" indent="-342900">
              <a:spcAft>
                <a:spcPts val="400"/>
              </a:spcAft>
              <a:buSzPct val="100000"/>
              <a:buChar char="•"/>
            </a:pPr>
            <a:r>
              <a:rPr lang="en-US" sz="1200" dirty="0">
                <a:solidFill>
                  <a:srgbClr val="1B2733"/>
                </a:solidFill>
                <a:latin typeface="Calibri" pitchFamily="34" charset="0"/>
                <a:ea typeface="Calibri" pitchFamily="34" charset="-122"/>
                <a:cs typeface="Calibri" pitchFamily="34" charset="-120"/>
              </a:rPr>
              <a:t>release_check.py and the Release Decision Workbook</a:t>
            </a:r>
            <a:endParaRPr lang="en-US" sz="1200" dirty="0"/>
          </a:p>
          <a:p>
            <a:pPr marL="342900" indent="-342900">
              <a:spcAft>
                <a:spcPts val="400"/>
              </a:spcAft>
              <a:buSzPct val="100000"/>
              <a:buChar char="•"/>
            </a:pPr>
            <a:r>
              <a:rPr lang="en-US" sz="1200" dirty="0">
                <a:solidFill>
                  <a:srgbClr val="1B2733"/>
                </a:solidFill>
                <a:latin typeface="Calibri" pitchFamily="34" charset="0"/>
                <a:ea typeface="Calibri" pitchFamily="34" charset="-122"/>
                <a:cs typeface="Calibri" pitchFamily="34" charset="-120"/>
              </a:rPr>
              <a:t>Regression runner: 31 groups, 586 tests</a:t>
            </a:r>
            <a:endParaRPr lang="en-US" sz="1200" dirty="0"/>
          </a:p>
          <a:p>
            <a:pPr marL="342900" indent="-342900">
              <a:spcAft>
                <a:spcPts val="400"/>
              </a:spcAft>
              <a:buSzPct val="100000"/>
              <a:buChar char="•"/>
            </a:pPr>
            <a:r>
              <a:rPr lang="en-US" sz="1200" dirty="0">
                <a:solidFill>
                  <a:srgbClr val="1B2733"/>
                </a:solidFill>
                <a:latin typeface="Calibri" pitchFamily="34" charset="0"/>
                <a:ea typeface="Calibri" pitchFamily="34" charset="-122"/>
                <a:cs typeface="Calibri" pitchFamily="34" charset="-120"/>
              </a:rPr>
              <a:t>scripts: verify, smoke, rehearse_local</a:t>
            </a:r>
            <a:endParaRPr lang="en-US" sz="1200" dirty="0"/>
          </a:p>
          <a:p>
            <a:pPr marL="342900" indent="-342900">
              <a:spcAft>
                <a:spcPts val="400"/>
              </a:spcAft>
              <a:buSzPct val="100000"/>
              <a:buChar char="•"/>
            </a:pPr>
            <a:r>
              <a:rPr lang="en-US" sz="1200" dirty="0">
                <a:solidFill>
                  <a:srgbClr val="1B2733"/>
                </a:solidFill>
                <a:latin typeface="Calibri" pitchFamily="34" charset="0"/>
                <a:ea typeface="Calibri" pitchFamily="34" charset="-122"/>
                <a:cs typeface="Calibri" pitchFamily="34" charset="-120"/>
              </a:rPr>
              <a:t>hub.obs evaluate and traces for RB-00, RB-11</a:t>
            </a:r>
            <a:endParaRPr lang="en-US" sz="1200" dirty="0"/>
          </a:p>
        </p:txBody>
      </p:sp>
      <p:sp>
        <p:nvSpPr>
          <p:cNvPr id="37" name="Text 34"/>
          <p:cNvSpPr txBox="1"/>
          <p:nvPr/>
        </p:nvSpPr>
        <p:spPr>
          <a:xfrm>
            <a:off x="5669280" y="3840480"/>
            <a:ext cx="3017520" cy="777240"/>
          </a:xfrm>
          <a:prstGeom prst="roundRect">
            <a:avLst>
              <a:gd name="adj" fmla="val 8235"/>
            </a:avLst>
          </a:prstGeom>
          <a:solidFill>
            <a:srgbClr val="FFF3DC"/>
          </a:solidFill>
          <a:ln w="12700">
            <a:solidFill>
              <a:srgbClr val="E39A1F"/>
            </a:solidFill>
          </a:ln>
        </p:spPr>
        <p:txBody>
          <a:bodyPr wrap="square" lIns="762" tIns="762" rIns="762" bIns="762" rtlCol="0" anchor="ctr"/>
          <a:lstStyle/>
          <a:p>
            <a:pPr algn="ctr" indent="0" marL="0">
              <a:buNone/>
            </a:pPr>
            <a:r>
              <a:rPr lang="en-US" sz="1100" b="1" dirty="0">
                <a:solidFill>
                  <a:srgbClr val="7A4B00"/>
                </a:solidFill>
                <a:latin typeface="Calibri" pitchFamily="34" charset="0"/>
                <a:ea typeface="Calibri" pitchFamily="34" charset="-122"/>
                <a:cs typeface="Calibri" pitchFamily="34" charset="-120"/>
              </a:rPr>
              <a:t>No paging, no on-call, no auto-remediation: manual monitoring for the shadow release</a:t>
            </a:r>
            <a:endParaRPr lang="en-US" sz="1100" dirty="0"/>
          </a:p>
        </p:txBody>
      </p:sp>
      <p:sp>
        <p:nvSpPr>
          <p:cNvPr id="38" name="Text 35"/>
          <p:cNvSpPr txBox="1"/>
          <p:nvPr/>
        </p:nvSpPr>
        <p:spPr>
          <a:xfrm>
            <a:off x="457200" y="4343400"/>
            <a:ext cx="5029200" cy="384048"/>
          </a:xfrm>
          <a:prstGeom prst="roundRect">
            <a:avLst>
              <a:gd name="adj" fmla="val 16667"/>
            </a:avLst>
          </a:prstGeom>
          <a:solidFill>
            <a:srgbClr val="0B1F3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Runbooks name the command, the evidence and the deciding human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Runbook-driven workflow: a real run</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457200" y="1097280"/>
            <a:ext cx="2560320" cy="896112"/>
          </a:xfrm>
          <a:prstGeom prst="roundRect">
            <a:avLst>
              <a:gd name="adj" fmla="val 7143"/>
            </a:avLst>
          </a:prstGeom>
          <a:solidFill>
            <a:srgbClr val="F4F7FA"/>
          </a:solidFill>
          <a:ln w="9525">
            <a:solidFill>
              <a:srgbClr val="C9D3DE"/>
            </a:solidFill>
            <a:prstDash val="solid"/>
          </a:ln>
        </p:spPr>
      </p:sp>
      <p:sp>
        <p:nvSpPr>
          <p:cNvPr id="8" name="Text 5"/>
          <p:cNvSpPr txBox="1"/>
          <p:nvPr/>
        </p:nvSpPr>
        <p:spPr>
          <a:xfrm>
            <a:off x="566928" y="1152144"/>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1  Request</a:t>
            </a:r>
            <a:endParaRPr lang="en-US" sz="1200" dirty="0"/>
          </a:p>
        </p:txBody>
      </p:sp>
      <p:sp>
        <p:nvSpPr>
          <p:cNvPr id="9" name="Text 6"/>
          <p:cNvSpPr txBox="1"/>
          <p:nvPr/>
        </p:nvSpPr>
        <p:spPr>
          <a:xfrm>
            <a:off x="566928" y="1444752"/>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"Is the hub releasable?"</a:t>
            </a:r>
            <a:endParaRPr lang="en-US" sz="1100" dirty="0"/>
          </a:p>
        </p:txBody>
      </p:sp>
      <p:sp>
        <p:nvSpPr>
          <p:cNvPr id="10" name="Shape 7"/>
          <p:cNvSpPr/>
          <p:nvPr/>
        </p:nvSpPr>
        <p:spPr>
          <a:xfrm>
            <a:off x="3017520" y="1545336"/>
            <a:ext cx="274320" cy="0"/>
          </a:xfrm>
          <a:prstGeom prst="line">
            <a:avLst/>
          </a:prstGeom>
          <a:noFill/>
          <a:ln w="22225">
            <a:solidFill>
              <a:srgbClr val="0B1F3A"/>
            </a:solidFill>
            <a:prstDash val="solid"/>
            <a:tailEnd type="triangle"/>
          </a:ln>
        </p:spPr>
      </p:sp>
      <p:sp>
        <p:nvSpPr>
          <p:cNvPr id="11" name="Shape 8"/>
          <p:cNvSpPr/>
          <p:nvPr/>
        </p:nvSpPr>
        <p:spPr>
          <a:xfrm>
            <a:off x="3291840" y="1097280"/>
            <a:ext cx="2560320" cy="896112"/>
          </a:xfrm>
          <a:prstGeom prst="roundRect">
            <a:avLst>
              <a:gd name="adj" fmla="val 7143"/>
            </a:avLst>
          </a:prstGeom>
          <a:solidFill>
            <a:srgbClr val="DDF3F2"/>
          </a:solidFill>
          <a:ln w="9525">
            <a:solidFill>
              <a:srgbClr val="C9D3DE"/>
            </a:solidFill>
            <a:prstDash val="solid"/>
          </a:ln>
        </p:spPr>
      </p:sp>
      <p:sp>
        <p:nvSpPr>
          <p:cNvPr id="12" name="Text 9"/>
          <p:cNvSpPr txBox="1"/>
          <p:nvPr/>
        </p:nvSpPr>
        <p:spPr>
          <a:xfrm>
            <a:off x="3401568" y="1152144"/>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  Select runbook</a:t>
            </a:r>
            <a:endParaRPr lang="en-US" sz="1200" dirty="0"/>
          </a:p>
        </p:txBody>
      </p:sp>
      <p:sp>
        <p:nvSpPr>
          <p:cNvPr id="13" name="Text 10"/>
          <p:cNvSpPr txBox="1"/>
          <p:nvPr/>
        </p:nvSpPr>
        <p:spPr>
          <a:xfrm>
            <a:off x="3401568" y="1444752"/>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Stage 30 Release, Cutover, Rollback</a:t>
            </a:r>
            <a:endParaRPr lang="en-US" sz="1100" dirty="0"/>
          </a:p>
        </p:txBody>
      </p:sp>
      <p:sp>
        <p:nvSpPr>
          <p:cNvPr id="14" name="Shape 11"/>
          <p:cNvSpPr/>
          <p:nvPr/>
        </p:nvSpPr>
        <p:spPr>
          <a:xfrm>
            <a:off x="5852160" y="1545336"/>
            <a:ext cx="274320" cy="0"/>
          </a:xfrm>
          <a:prstGeom prst="line">
            <a:avLst/>
          </a:prstGeom>
          <a:noFill/>
          <a:ln w="22225">
            <a:solidFill>
              <a:srgbClr val="0B1F3A"/>
            </a:solidFill>
            <a:prstDash val="solid"/>
            <a:tailEnd type="triangle"/>
          </a:ln>
        </p:spPr>
      </p:sp>
      <p:sp>
        <p:nvSpPr>
          <p:cNvPr id="15" name="Shape 12"/>
          <p:cNvSpPr/>
          <p:nvPr/>
        </p:nvSpPr>
        <p:spPr>
          <a:xfrm>
            <a:off x="6126480" y="1097280"/>
            <a:ext cx="2560320" cy="896112"/>
          </a:xfrm>
          <a:prstGeom prst="roundRect">
            <a:avLst>
              <a:gd name="adj" fmla="val 7143"/>
            </a:avLst>
          </a:prstGeom>
          <a:solidFill>
            <a:srgbClr val="F4F7FA"/>
          </a:solidFill>
          <a:ln w="9525">
            <a:solidFill>
              <a:srgbClr val="C9D3DE"/>
            </a:solidFill>
            <a:prstDash val="solid"/>
          </a:ln>
        </p:spPr>
      </p:sp>
      <p:sp>
        <p:nvSpPr>
          <p:cNvPr id="16" name="Text 13"/>
          <p:cNvSpPr txBox="1"/>
          <p:nvPr/>
        </p:nvSpPr>
        <p:spPr>
          <a:xfrm>
            <a:off x="6236208" y="1152144"/>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3  Load context</a:t>
            </a:r>
            <a:endParaRPr lang="en-US" sz="1200" dirty="0"/>
          </a:p>
        </p:txBody>
      </p:sp>
      <p:sp>
        <p:nvSpPr>
          <p:cNvPr id="17" name="Text 14"/>
          <p:cNvSpPr txBox="1"/>
          <p:nvPr/>
        </p:nvSpPr>
        <p:spPr>
          <a:xfrm>
            <a:off x="6236208" y="1444752"/>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go-no-go criteria, gate-results.json, backup manifest</a:t>
            </a:r>
            <a:endParaRPr lang="en-US" sz="1100" dirty="0"/>
          </a:p>
        </p:txBody>
      </p:sp>
      <p:sp>
        <p:nvSpPr>
          <p:cNvPr id="18" name="Shape 15"/>
          <p:cNvSpPr/>
          <p:nvPr/>
        </p:nvSpPr>
        <p:spPr>
          <a:xfrm>
            <a:off x="457200" y="2121408"/>
            <a:ext cx="2560320" cy="896112"/>
          </a:xfrm>
          <a:prstGeom prst="roundRect">
            <a:avLst>
              <a:gd name="adj" fmla="val 7143"/>
            </a:avLst>
          </a:prstGeom>
          <a:solidFill>
            <a:srgbClr val="DDF3F2"/>
          </a:solidFill>
          <a:ln w="9525">
            <a:solidFill>
              <a:srgbClr val="C9D3DE"/>
            </a:solidFill>
            <a:prstDash val="solid"/>
          </a:ln>
        </p:spPr>
      </p:sp>
      <p:sp>
        <p:nvSpPr>
          <p:cNvPr id="19" name="Text 16"/>
          <p:cNvSpPr txBox="1"/>
          <p:nvPr/>
        </p:nvSpPr>
        <p:spPr>
          <a:xfrm>
            <a:off x="566928" y="2176272"/>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4  Ontology concepts</a:t>
            </a:r>
            <a:endParaRPr lang="en-US" sz="1200" dirty="0"/>
          </a:p>
        </p:txBody>
      </p:sp>
      <p:sp>
        <p:nvSpPr>
          <p:cNvPr id="20" name="Text 17"/>
          <p:cNvSpPr txBox="1"/>
          <p:nvPr/>
        </p:nvSpPr>
        <p:spPr>
          <a:xfrm>
            <a:off x="566928" y="2468880"/>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Capability, DeviationRegisterEntry, release gate result</a:t>
            </a:r>
            <a:endParaRPr lang="en-US" sz="1100" dirty="0"/>
          </a:p>
        </p:txBody>
      </p:sp>
      <p:sp>
        <p:nvSpPr>
          <p:cNvPr id="21" name="Shape 18"/>
          <p:cNvSpPr/>
          <p:nvPr/>
        </p:nvSpPr>
        <p:spPr>
          <a:xfrm>
            <a:off x="3017520" y="2569464"/>
            <a:ext cx="274320" cy="0"/>
          </a:xfrm>
          <a:prstGeom prst="line">
            <a:avLst/>
          </a:prstGeom>
          <a:noFill/>
          <a:ln w="22225">
            <a:solidFill>
              <a:srgbClr val="0B1F3A"/>
            </a:solidFill>
            <a:prstDash val="solid"/>
            <a:tailEnd type="triangle"/>
          </a:ln>
        </p:spPr>
      </p:sp>
      <p:sp>
        <p:nvSpPr>
          <p:cNvPr id="22" name="Shape 19"/>
          <p:cNvSpPr/>
          <p:nvPr/>
        </p:nvSpPr>
        <p:spPr>
          <a:xfrm>
            <a:off x="3291840" y="2121408"/>
            <a:ext cx="2560320" cy="896112"/>
          </a:xfrm>
          <a:prstGeom prst="roundRect">
            <a:avLst>
              <a:gd name="adj" fmla="val 7143"/>
            </a:avLst>
          </a:prstGeom>
          <a:solidFill>
            <a:srgbClr val="F4F7FA"/>
          </a:solidFill>
          <a:ln w="9525">
            <a:solidFill>
              <a:srgbClr val="C9D3DE"/>
            </a:solidFill>
            <a:prstDash val="solid"/>
          </a:ln>
        </p:spPr>
      </p:sp>
      <p:sp>
        <p:nvSpPr>
          <p:cNvPr id="23" name="Text 20"/>
          <p:cNvSpPr txBox="1"/>
          <p:nvPr/>
        </p:nvSpPr>
        <p:spPr>
          <a:xfrm>
            <a:off x="3401568" y="2176272"/>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5  Graph / semantic layer</a:t>
            </a:r>
            <a:endParaRPr lang="en-US" sz="1200" dirty="0"/>
          </a:p>
        </p:txBody>
      </p:sp>
      <p:sp>
        <p:nvSpPr>
          <p:cNvPr id="24" name="Text 21"/>
          <p:cNvSpPr txBox="1"/>
          <p:nvPr/>
        </p:nvSpPr>
        <p:spPr>
          <a:xfrm>
            <a:off x="3401568" y="2468880"/>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DV-01 to DV-11 deviations, all still proposed</a:t>
            </a:r>
            <a:endParaRPr lang="en-US" sz="1100" dirty="0"/>
          </a:p>
        </p:txBody>
      </p:sp>
      <p:sp>
        <p:nvSpPr>
          <p:cNvPr id="25" name="Shape 22"/>
          <p:cNvSpPr/>
          <p:nvPr/>
        </p:nvSpPr>
        <p:spPr>
          <a:xfrm>
            <a:off x="5852160" y="2569464"/>
            <a:ext cx="274320" cy="0"/>
          </a:xfrm>
          <a:prstGeom prst="line">
            <a:avLst/>
          </a:prstGeom>
          <a:noFill/>
          <a:ln w="22225">
            <a:solidFill>
              <a:srgbClr val="0B1F3A"/>
            </a:solidFill>
            <a:prstDash val="solid"/>
            <a:tailEnd type="triangle"/>
          </a:ln>
        </p:spPr>
      </p:sp>
      <p:sp>
        <p:nvSpPr>
          <p:cNvPr id="26" name="Shape 23"/>
          <p:cNvSpPr/>
          <p:nvPr/>
        </p:nvSpPr>
        <p:spPr>
          <a:xfrm>
            <a:off x="6126480" y="2121408"/>
            <a:ext cx="2560320" cy="896112"/>
          </a:xfrm>
          <a:prstGeom prst="roundRect">
            <a:avLst>
              <a:gd name="adj" fmla="val 7143"/>
            </a:avLst>
          </a:prstGeom>
          <a:solidFill>
            <a:srgbClr val="DDF3F2"/>
          </a:solidFill>
          <a:ln w="9525">
            <a:solidFill>
              <a:srgbClr val="C9D3DE"/>
            </a:solidFill>
            <a:prstDash val="solid"/>
          </a:ln>
        </p:spPr>
      </p:sp>
      <p:sp>
        <p:nvSpPr>
          <p:cNvPr id="27" name="Text 24"/>
          <p:cNvSpPr txBox="1"/>
          <p:nvPr/>
        </p:nvSpPr>
        <p:spPr>
          <a:xfrm>
            <a:off x="6236208" y="2176272"/>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6  Plan</a:t>
            </a:r>
            <a:endParaRPr lang="en-US" sz="1200" dirty="0"/>
          </a:p>
        </p:txBody>
      </p:sp>
      <p:sp>
        <p:nvSpPr>
          <p:cNvPr id="28" name="Text 25"/>
          <p:cNvSpPr txBox="1"/>
          <p:nvPr/>
        </p:nvSpPr>
        <p:spPr>
          <a:xfrm>
            <a:off x="6236208" y="2468880"/>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20 technical criteria + approvals with named humans</a:t>
            </a:r>
            <a:endParaRPr lang="en-US" sz="1100" dirty="0"/>
          </a:p>
        </p:txBody>
      </p:sp>
      <p:sp>
        <p:nvSpPr>
          <p:cNvPr id="29" name="Shape 26"/>
          <p:cNvSpPr/>
          <p:nvPr/>
        </p:nvSpPr>
        <p:spPr>
          <a:xfrm>
            <a:off x="457200" y="3145536"/>
            <a:ext cx="2560320" cy="896112"/>
          </a:xfrm>
          <a:prstGeom prst="roundRect">
            <a:avLst>
              <a:gd name="adj" fmla="val 7143"/>
            </a:avLst>
          </a:prstGeom>
          <a:solidFill>
            <a:srgbClr val="F4F7FA"/>
          </a:solidFill>
          <a:ln w="9525">
            <a:solidFill>
              <a:srgbClr val="C9D3DE"/>
            </a:solidFill>
            <a:prstDash val="solid"/>
          </a:ln>
        </p:spPr>
      </p:sp>
      <p:sp>
        <p:nvSpPr>
          <p:cNvPr id="30" name="Text 27"/>
          <p:cNvSpPr txBox="1"/>
          <p:nvPr/>
        </p:nvSpPr>
        <p:spPr>
          <a:xfrm>
            <a:off x="566928" y="3200400"/>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7  Execute</a:t>
            </a:r>
            <a:endParaRPr lang="en-US" sz="1200" dirty="0"/>
          </a:p>
        </p:txBody>
      </p:sp>
      <p:sp>
        <p:nvSpPr>
          <p:cNvPr id="31" name="Text 28"/>
          <p:cNvSpPr txBox="1"/>
          <p:nvPr/>
        </p:nvSpPr>
        <p:spPr>
          <a:xfrm>
            <a:off x="566928" y="3493008"/>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hub.release evaluate on a sandbox copy</a:t>
            </a:r>
            <a:endParaRPr lang="en-US" sz="1100" dirty="0"/>
          </a:p>
        </p:txBody>
      </p:sp>
      <p:sp>
        <p:nvSpPr>
          <p:cNvPr id="32" name="Shape 29"/>
          <p:cNvSpPr/>
          <p:nvPr/>
        </p:nvSpPr>
        <p:spPr>
          <a:xfrm>
            <a:off x="3017520" y="3593592"/>
            <a:ext cx="274320" cy="0"/>
          </a:xfrm>
          <a:prstGeom prst="line">
            <a:avLst/>
          </a:prstGeom>
          <a:noFill/>
          <a:ln w="22225">
            <a:solidFill>
              <a:srgbClr val="0B1F3A"/>
            </a:solidFill>
            <a:prstDash val="solid"/>
            <a:tailEnd type="triangle"/>
          </a:ln>
        </p:spPr>
      </p:sp>
      <p:sp>
        <p:nvSpPr>
          <p:cNvPr id="33" name="Shape 30"/>
          <p:cNvSpPr/>
          <p:nvPr/>
        </p:nvSpPr>
        <p:spPr>
          <a:xfrm>
            <a:off x="3291840" y="3145536"/>
            <a:ext cx="2560320" cy="896112"/>
          </a:xfrm>
          <a:prstGeom prst="roundRect">
            <a:avLst>
              <a:gd name="adj" fmla="val 7143"/>
            </a:avLst>
          </a:prstGeom>
          <a:solidFill>
            <a:srgbClr val="DDF3F2"/>
          </a:solidFill>
          <a:ln w="9525">
            <a:solidFill>
              <a:srgbClr val="C9D3DE"/>
            </a:solidFill>
            <a:prstDash val="solid"/>
          </a:ln>
        </p:spPr>
      </p:sp>
      <p:sp>
        <p:nvSpPr>
          <p:cNvPr id="34" name="Text 31"/>
          <p:cNvSpPr txBox="1"/>
          <p:nvPr/>
        </p:nvSpPr>
        <p:spPr>
          <a:xfrm>
            <a:off x="3401568" y="3200400"/>
            <a:ext cx="237744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8  Validate and record</a:t>
            </a:r>
            <a:endParaRPr lang="en-US" sz="1200" dirty="0"/>
          </a:p>
        </p:txBody>
      </p:sp>
      <p:sp>
        <p:nvSpPr>
          <p:cNvPr id="35" name="Text 32"/>
          <p:cNvSpPr txBox="1"/>
          <p:nvPr/>
        </p:nvSpPr>
        <p:spPr>
          <a:xfrm>
            <a:off x="3401568" y="3493008"/>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31/31 groups, 586 tests green; evidence JSON kept</a:t>
            </a:r>
            <a:endParaRPr lang="en-US" sz="1100" dirty="0"/>
          </a:p>
        </p:txBody>
      </p:sp>
      <p:sp>
        <p:nvSpPr>
          <p:cNvPr id="36" name="Shape 33"/>
          <p:cNvSpPr/>
          <p:nvPr/>
        </p:nvSpPr>
        <p:spPr>
          <a:xfrm>
            <a:off x="5852160" y="3593592"/>
            <a:ext cx="274320" cy="0"/>
          </a:xfrm>
          <a:prstGeom prst="line">
            <a:avLst/>
          </a:prstGeom>
          <a:noFill/>
          <a:ln w="22225">
            <a:solidFill>
              <a:srgbClr val="0B1F3A"/>
            </a:solidFill>
            <a:prstDash val="solid"/>
            <a:tailEnd type="triangle"/>
          </a:ln>
        </p:spPr>
      </p:sp>
      <p:sp>
        <p:nvSpPr>
          <p:cNvPr id="37" name="Shape 34"/>
          <p:cNvSpPr/>
          <p:nvPr/>
        </p:nvSpPr>
        <p:spPr>
          <a:xfrm>
            <a:off x="6126480" y="3145536"/>
            <a:ext cx="2560320" cy="896112"/>
          </a:xfrm>
          <a:prstGeom prst="roundRect">
            <a:avLst>
              <a:gd name="adj" fmla="val 7143"/>
            </a:avLst>
          </a:prstGeom>
          <a:solidFill>
            <a:srgbClr val="FFF3DC"/>
          </a:solidFill>
          <a:ln w="9525">
            <a:solidFill>
              <a:srgbClr val="C9D3DE"/>
            </a:solidFill>
            <a:prstDash val="solid"/>
          </a:ln>
        </p:spPr>
      </p:sp>
      <p:sp>
        <p:nvSpPr>
          <p:cNvPr id="38" name="Text 35"/>
          <p:cNvSpPr txBox="1"/>
          <p:nvPr/>
        </p:nvSpPr>
        <p:spPr>
          <a:xfrm>
            <a:off x="6236208" y="3200400"/>
            <a:ext cx="2377440" cy="274320"/>
          </a:xfrm>
          <a:prstGeom prst="rect">
            <a:avLst/>
          </a:prstGeom>
          <a:noFill/>
          <a:ln/>
        </p:spPr>
        <p:txBody>
          <a:bodyPr wrap="square" lIns="0" tIns="0" rIns="0" bIns="0" rtlCol="0" anchor="ctr"/>
          <a:lstStyle/>
          <a:p>
            <a:pPr indent="0" marL="0">
              <a:buNone/>
            </a:pPr>
            <a:r>
              <a:rPr lang="en-US" sz="1200" b="1" dirty="0">
                <a:solidFill>
                  <a:srgbClr val="7A4B00"/>
                </a:solidFill>
                <a:latin typeface="Calibri" pitchFamily="34" charset="0"/>
                <a:ea typeface="Calibri" pitchFamily="34" charset="-122"/>
                <a:cs typeface="Calibri" pitchFamily="34" charset="-120"/>
              </a:rPr>
              <a:t>9  Output</a:t>
            </a:r>
            <a:endParaRPr lang="en-US" sz="1200" dirty="0"/>
          </a:p>
        </p:txBody>
      </p:sp>
      <p:sp>
        <p:nvSpPr>
          <p:cNvPr id="39" name="Text 36"/>
          <p:cNvSpPr txBox="1"/>
          <p:nvPr/>
        </p:nvSpPr>
        <p:spPr>
          <a:xfrm>
            <a:off x="6236208" y="3493008"/>
            <a:ext cx="2377440" cy="502920"/>
          </a:xfrm>
          <a:prstGeom prst="rect">
            <a:avLst/>
          </a:prstGeom>
          <a:noFill/>
          <a:ln/>
        </p:spPr>
        <p:txBody>
          <a:bodyPr wrap="square" lIns="0" tIns="0" rIns="0" bIns="0" rtlCol="0" anchor="t"/>
          <a:lstStyle/>
          <a:p>
            <a:pPr indent="0" marL="0">
              <a:buNone/>
            </a:pPr>
            <a:r>
              <a:rPr lang="en-US" sz="1100" dirty="0">
                <a:solidFill>
                  <a:srgbClr val="1B2733"/>
                </a:solidFill>
                <a:latin typeface="Calibri" pitchFamily="34" charset="0"/>
                <a:ea typeface="Calibri" pitchFamily="34" charset="-122"/>
                <a:cs typeface="Calibri" pitchFamily="34" charset="-120"/>
              </a:rPr>
              <a:t>NO-GO: 17/20 criteria, 0/40 sign-offs</a:t>
            </a:r>
            <a:endParaRPr lang="en-US" sz="1100" dirty="0"/>
          </a:p>
        </p:txBody>
      </p:sp>
      <p:sp>
        <p:nvSpPr>
          <p:cNvPr id="40" name="Text 37"/>
          <p:cNvSpPr txBox="1"/>
          <p:nvPr/>
        </p:nvSpPr>
        <p:spPr>
          <a:xfrm>
            <a:off x="457200" y="4206240"/>
            <a:ext cx="8229600" cy="457200"/>
          </a:xfrm>
          <a:prstGeom prst="roundRect">
            <a:avLst>
              <a:gd name="adj" fmla="val 14000"/>
            </a:avLst>
          </a:prstGeom>
          <a:solidFill>
            <a:srgbClr val="0B1F3A"/>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Repeatable · traceable · stops at the human gate: GO needs all 20 criteria and every named approval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Context Lake: governed project knowledge, built from the repository</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457200" y="1097280"/>
            <a:ext cx="4114800" cy="3520440"/>
          </a:xfrm>
          <a:prstGeom prst="roundRect">
            <a:avLst>
              <a:gd name="adj" fmla="val 1818"/>
            </a:avLst>
          </a:prstGeom>
          <a:solidFill>
            <a:srgbClr val="0B1F3A"/>
          </a:solidFill>
          <a:ln/>
        </p:spPr>
        <p:txBody>
          <a:bodyPr wrap="square" lIns="2540" tIns="2540" rIns="2540" bIns="2540" rtlCol="0" anchor="ctr"/>
          <a:lstStyle/>
          <a:p>
            <a:pPr indent="0" marL="0">
              <a:buNone/>
            </a:pPr>
            <a:r>
              <a:rPr lang="en-US" sz="1150" dirty="0">
                <a:solidFill>
                  <a:srgbClr val="BFE9E6"/>
                </a:solidFill>
                <a:latin typeface="Courier New" pitchFamily="34" charset="0"/>
                <a:ea typeface="Courier New" pitchFamily="34" charset="-122"/>
                <a:cs typeface="Courier New" pitchFamily="34" charset="-120"/>
              </a:rPr>
              <a:t>gxp-quality-hub-legacy/</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.fde/</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engagement-context.md</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orchestrator-decisions.md</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stage-prompts/   (46)</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docs/            (543 .md)</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00-preflight/ … 42-executive-defence/</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final-prd/  decisions/</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contracts/</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graph/  exports/knowledge-graph/</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semantic-layer/</a:t>
            </a:r>
            <a:endParaRPr lang="en-US" sz="1150" dirty="0"/>
          </a:p>
          <a:p>
            <a:pPr indent="0" marL="0">
              <a:buNone/>
            </a:pPr>
            <a:r>
              <a:rPr lang="en-US" sz="1150" dirty="0">
                <a:solidFill>
                  <a:srgbClr val="BFE9E6"/>
                </a:solidFill>
                <a:latin typeface="Courier New" pitchFamily="34" charset="0"/>
                <a:ea typeface="Courier New" pitchFamily="34" charset="-122"/>
                <a:cs typeface="Courier New" pitchFamily="34" charset="-120"/>
              </a:rPr>
              <a:t>  *.yaml  schemas/  generated/  tests/</a:t>
            </a:r>
            <a:endParaRPr lang="en-US" sz="1150" dirty="0"/>
          </a:p>
        </p:txBody>
      </p:sp>
      <p:sp>
        <p:nvSpPr>
          <p:cNvPr id="8" name="Text 5"/>
          <p:cNvSpPr txBox="1"/>
          <p:nvPr/>
        </p:nvSpPr>
        <p:spPr>
          <a:xfrm>
            <a:off x="4800600" y="1097280"/>
            <a:ext cx="384048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What makes it a lake, not a dump</a:t>
            </a:r>
            <a:endParaRPr lang="en-US" sz="1400" dirty="0"/>
          </a:p>
        </p:txBody>
      </p:sp>
      <p:sp>
        <p:nvSpPr>
          <p:cNvPr id="9" name="Text 6"/>
          <p:cNvSpPr txBox="1"/>
          <p:nvPr/>
        </p:nvSpPr>
        <p:spPr>
          <a:xfrm>
            <a:off x="4800600" y="1444752"/>
            <a:ext cx="3886200" cy="384048"/>
          </a:xfrm>
          <a:prstGeom prst="roundRect">
            <a:avLst>
              <a:gd name="adj" fmla="val 16667"/>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Version-controlled in git</a:t>
            </a:r>
            <a:endParaRPr lang="en-US" sz="1200" dirty="0"/>
          </a:p>
        </p:txBody>
      </p:sp>
      <p:sp>
        <p:nvSpPr>
          <p:cNvPr id="10" name="Text 7"/>
          <p:cNvSpPr txBox="1"/>
          <p:nvPr/>
        </p:nvSpPr>
        <p:spPr>
          <a:xfrm>
            <a:off x="4800600" y="1901952"/>
            <a:ext cx="3886200" cy="384048"/>
          </a:xfrm>
          <a:prstGeom prst="roundRect">
            <a:avLst>
              <a:gd name="adj" fmla="val 16667"/>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Human-readable Markdown, YAML, JSON</a:t>
            </a:r>
            <a:endParaRPr lang="en-US" sz="1200" dirty="0"/>
          </a:p>
        </p:txBody>
      </p:sp>
      <p:sp>
        <p:nvSpPr>
          <p:cNvPr id="11" name="Text 8"/>
          <p:cNvSpPr txBox="1"/>
          <p:nvPr/>
        </p:nvSpPr>
        <p:spPr>
          <a:xfrm>
            <a:off x="4800600" y="2359152"/>
            <a:ext cx="3886200" cy="384048"/>
          </a:xfrm>
          <a:prstGeom prst="roundRect">
            <a:avLst>
              <a:gd name="adj" fmla="val 16667"/>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Machine-consumable (JSON Schema, generated JSON)</a:t>
            </a:r>
            <a:endParaRPr lang="en-US" sz="1200" dirty="0"/>
          </a:p>
        </p:txBody>
      </p:sp>
      <p:sp>
        <p:nvSpPr>
          <p:cNvPr id="12" name="Text 9"/>
          <p:cNvSpPr txBox="1"/>
          <p:nvPr/>
        </p:nvSpPr>
        <p:spPr>
          <a:xfrm>
            <a:off x="4800600" y="2816352"/>
            <a:ext cx="3886200" cy="384048"/>
          </a:xfrm>
          <a:prstGeom prst="roundRect">
            <a:avLst>
              <a:gd name="adj" fmla="val 16667"/>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Modular: one folder per stage and concern</a:t>
            </a:r>
            <a:endParaRPr lang="en-US" sz="1200" dirty="0"/>
          </a:p>
        </p:txBody>
      </p:sp>
      <p:sp>
        <p:nvSpPr>
          <p:cNvPr id="13" name="Text 10"/>
          <p:cNvSpPr txBox="1"/>
          <p:nvPr/>
        </p:nvSpPr>
        <p:spPr>
          <a:xfrm>
            <a:off x="4800600" y="3273552"/>
            <a:ext cx="3886200" cy="384048"/>
          </a:xfrm>
          <a:prstGeom prst="roundRect">
            <a:avLst>
              <a:gd name="adj" fmla="val 16667"/>
            </a:avLst>
          </a:prstGeom>
          <a:solidFill>
            <a:srgbClr val="F4F7FA"/>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Evidence-based: every claim cites sources</a:t>
            </a:r>
            <a:endParaRPr lang="en-US" sz="1200" dirty="0"/>
          </a:p>
        </p:txBody>
      </p:sp>
      <p:sp>
        <p:nvSpPr>
          <p:cNvPr id="14" name="Text 11"/>
          <p:cNvSpPr txBox="1"/>
          <p:nvPr/>
        </p:nvSpPr>
        <p:spPr>
          <a:xfrm>
            <a:off x="4800600" y="3730752"/>
            <a:ext cx="3886200" cy="384048"/>
          </a:xfrm>
          <a:prstGeom prst="roundRect">
            <a:avLst>
              <a:gd name="adj" fmla="val 16667"/>
            </a:avLst>
          </a:prstGeom>
          <a:solidFill>
            <a:srgbClr val="DDF3F2"/>
          </a:solidFill>
          <a:ln w="12700">
            <a:solidFill>
              <a:srgbClr val="C9D3DE"/>
            </a:solidFill>
          </a:ln>
        </p:spPr>
        <p:txBody>
          <a:bodyPr wrap="square" lIns="762" tIns="762" rIns="762" bIns="762" rtlCol="0" anchor="ctr"/>
          <a:lstStyle/>
          <a:p>
            <a:pPr algn="l" indent="0" marL="0">
              <a:buNone/>
            </a:pPr>
            <a:r>
              <a:rPr lang="en-US" sz="1200" b="1" dirty="0">
                <a:solidFill>
                  <a:srgbClr val="0B1F3A"/>
                </a:solidFill>
                <a:latin typeface="Calibri" pitchFamily="34" charset="0"/>
                <a:ea typeface="Calibri" pitchFamily="34" charset="-122"/>
                <a:cs typeface="Calibri" pitchFamily="34" charset="-120"/>
              </a:rPr>
              <a:t>Searchable and testable (17 semantic-layer tests)</a:t>
            </a:r>
            <a:endParaRPr lang="en-US" sz="1200" dirty="0"/>
          </a:p>
        </p:txBody>
      </p:sp>
      <p:sp>
        <p:nvSpPr>
          <p:cNvPr id="15" name="Text 12"/>
          <p:cNvSpPr txBox="1"/>
          <p:nvPr/>
        </p:nvSpPr>
        <p:spPr>
          <a:xfrm>
            <a:off x="4800600" y="4251960"/>
            <a:ext cx="3886200" cy="365760"/>
          </a:xfrm>
          <a:prstGeom prst="roundRect">
            <a:avLst>
              <a:gd name="adj" fmla="val 17500"/>
            </a:avLst>
          </a:prstGeom>
          <a:solidFill>
            <a:srgbClr val="FFF3DC"/>
          </a:solidFill>
          <a:ln w="12700">
            <a:solidFill>
              <a:srgbClr val="E39A1F"/>
            </a:solidFill>
          </a:ln>
        </p:spPr>
        <p:txBody>
          <a:bodyPr wrap="square" lIns="762" tIns="762" rIns="762" bIns="762" rtlCol="0" anchor="ctr"/>
          <a:lstStyle/>
          <a:p>
            <a:pPr algn="ctr" indent="0" marL="0">
              <a:buNone/>
            </a:pPr>
            <a:r>
              <a:rPr lang="en-US" sz="1200" b="1" dirty="0">
                <a:solidFill>
                  <a:srgbClr val="7A4B00"/>
                </a:solidFill>
                <a:latin typeface="Calibri" pitchFamily="34" charset="0"/>
                <a:ea typeface="Calibri" pitchFamily="34" charset="-122"/>
                <a:cs typeface="Calibri" pitchFamily="34" charset="-120"/>
              </a:rPr>
              <a:t>Governed knowledge, not an ungoverned dump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How the Context Lake stays governed</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
        <p:nvSpPr>
          <p:cNvPr id="7" name="Text 4"/>
          <p:cNvSpPr txBox="1"/>
          <p:nvPr/>
        </p:nvSpPr>
        <p:spPr>
          <a:xfrm>
            <a:off x="457200" y="1051560"/>
            <a:ext cx="402336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Artifact header on every document</a:t>
            </a:r>
            <a:endParaRPr lang="en-US" sz="1400" dirty="0"/>
          </a:p>
        </p:txBody>
      </p:sp>
      <p:sp>
        <p:nvSpPr>
          <p:cNvPr id="8" name="Text 5"/>
          <p:cNvSpPr txBox="1"/>
          <p:nvPr/>
        </p:nvSpPr>
        <p:spPr>
          <a:xfrm>
            <a:off x="457200" y="1371600"/>
            <a:ext cx="3931920" cy="1600200"/>
          </a:xfrm>
          <a:prstGeom prst="roundRect">
            <a:avLst>
              <a:gd name="adj" fmla="val 4000"/>
            </a:avLst>
          </a:prstGeom>
          <a:solidFill>
            <a:srgbClr val="0B1F3A"/>
          </a:solidFill>
          <a:ln/>
        </p:spPr>
        <p:txBody>
          <a:bodyPr wrap="square" lIns="2286" tIns="2286" rIns="2286" bIns="2286" rtlCol="0" anchor="ctr"/>
          <a:lstStyle/>
          <a:p>
            <a:pPr indent="0" marL="0">
              <a:buNone/>
            </a:pPr>
            <a:r>
              <a:rPr lang="en-US" sz="1200" dirty="0">
                <a:solidFill>
                  <a:srgbClr val="BFE9E6"/>
                </a:solidFill>
                <a:latin typeface="Courier New" pitchFamily="34" charset="0"/>
                <a:ea typeface="Courier New" pitchFamily="34" charset="-122"/>
                <a:cs typeface="Courier New" pitchFamily="34" charset="-120"/>
              </a:rPr>
              <a:t>stage · artifact · version · date</a:t>
            </a:r>
            <a:endParaRPr lang="en-US" sz="1200" dirty="0"/>
          </a:p>
          <a:p>
            <a:pPr indent="0" marL="0">
              <a:buNone/>
            </a:pPr>
            <a:r>
              <a:rPr lang="en-US" sz="1200" dirty="0">
                <a:solidFill>
                  <a:srgbClr val="BFE9E6"/>
                </a:solidFill>
                <a:latin typeface="Courier New" pitchFamily="34" charset="0"/>
                <a:ea typeface="Courier New" pitchFamily="34" charset="-122"/>
                <a:cs typeface="Courier New" pitchFamily="34" charset="-120"/>
              </a:rPr>
              <a:t>author_agent · status</a:t>
            </a:r>
            <a:endParaRPr lang="en-US" sz="1200" dirty="0"/>
          </a:p>
          <a:p>
            <a:pPr indent="0" marL="0">
              <a:buNone/>
            </a:pPr>
            <a:r>
              <a:rPr lang="en-US" sz="1200" dirty="0">
                <a:solidFill>
                  <a:srgbClr val="BFE9E6"/>
                </a:solidFill>
                <a:latin typeface="Courier New" pitchFamily="34" charset="0"/>
                <a:ea typeface="Courier New" pitchFamily="34" charset="-122"/>
                <a:cs typeface="Courier New" pitchFamily="34" charset="-120"/>
              </a:rPr>
              <a:t>evidence_sources: [ … ]</a:t>
            </a:r>
            <a:endParaRPr lang="en-US" sz="1200" dirty="0"/>
          </a:p>
          <a:p>
            <a:pPr indent="0" marL="0">
              <a:buNone/>
            </a:pPr>
            <a:r>
              <a:rPr lang="en-US" sz="1200" dirty="0">
                <a:solidFill>
                  <a:srgbClr val="BFE9E6"/>
                </a:solidFill>
                <a:latin typeface="Courier New" pitchFamily="34" charset="0"/>
                <a:ea typeface="Courier New" pitchFamily="34" charset="-122"/>
                <a:cs typeface="Courier New" pitchFamily="34" charset="-120"/>
              </a:rPr>
              <a:t>supersedes: …</a:t>
            </a:r>
            <a:endParaRPr lang="en-US" sz="1200" dirty="0"/>
          </a:p>
          <a:p>
            <a:pPr indent="0" marL="0">
              <a:buNone/>
            </a:pPr>
            <a:endParaRPr lang="en-US" sz="1200" dirty="0"/>
          </a:p>
          <a:p>
            <a:pPr indent="0" marL="0">
              <a:buNone/>
            </a:pPr>
            <a:r>
              <a:rPr lang="en-US" sz="1200" dirty="0">
                <a:solidFill>
                  <a:srgbClr val="BFE9E6"/>
                </a:solidFill>
                <a:latin typeface="Courier New" pitchFamily="34" charset="0"/>
                <a:ea typeface="Courier New" pitchFamily="34" charset="-122"/>
                <a:cs typeface="Courier New" pitchFamily="34" charset="-120"/>
              </a:rPr>
              <a:t>Label: synthetic, unvalidated</a:t>
            </a:r>
            <a:endParaRPr lang="en-US" sz="1200" dirty="0"/>
          </a:p>
        </p:txBody>
      </p:sp>
      <p:sp>
        <p:nvSpPr>
          <p:cNvPr id="9" name="Text 6"/>
          <p:cNvSpPr txBox="1"/>
          <p:nvPr/>
        </p:nvSpPr>
        <p:spPr>
          <a:xfrm>
            <a:off x="457200" y="3154680"/>
            <a:ext cx="402336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Every claim is classified</a:t>
            </a:r>
            <a:endParaRPr lang="en-US" sz="1400" dirty="0"/>
          </a:p>
        </p:txBody>
      </p:sp>
      <p:sp>
        <p:nvSpPr>
          <p:cNvPr id="10" name="Text 7"/>
          <p:cNvSpPr txBox="1"/>
          <p:nvPr/>
        </p:nvSpPr>
        <p:spPr>
          <a:xfrm>
            <a:off x="457200" y="3474720"/>
            <a:ext cx="932688" cy="384048"/>
          </a:xfrm>
          <a:prstGeom prst="roundRect">
            <a:avLst>
              <a:gd name="adj" fmla="val 16667"/>
            </a:avLst>
          </a:prstGeom>
          <a:solidFill>
            <a:srgbClr val="0FA3A3"/>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Verified Fact</a:t>
            </a:r>
            <a:endParaRPr lang="en-US" sz="1000" dirty="0"/>
          </a:p>
        </p:txBody>
      </p:sp>
      <p:sp>
        <p:nvSpPr>
          <p:cNvPr id="11" name="Text 8"/>
          <p:cNvSpPr txBox="1"/>
          <p:nvPr/>
        </p:nvSpPr>
        <p:spPr>
          <a:xfrm>
            <a:off x="1463040" y="3474720"/>
            <a:ext cx="932688" cy="384048"/>
          </a:xfrm>
          <a:prstGeom prst="roundRect">
            <a:avLst>
              <a:gd name="adj" fmla="val 16667"/>
            </a:avLst>
          </a:prstGeom>
          <a:solidFill>
            <a:srgbClr val="1E7FA8"/>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2" name="Text 9"/>
          <p:cNvSpPr txBox="1"/>
          <p:nvPr/>
        </p:nvSpPr>
        <p:spPr>
          <a:xfrm>
            <a:off x="2468880" y="3474720"/>
            <a:ext cx="932688" cy="384048"/>
          </a:xfrm>
          <a:prstGeom prst="roundRect">
            <a:avLst>
              <a:gd name="adj" fmla="val 16667"/>
            </a:avLst>
          </a:prstGeom>
          <a:solidFill>
            <a:srgbClr val="E39A1F"/>
          </a:solidFill>
          <a:ln/>
        </p:spPr>
        <p:txBody>
          <a:bodyPr wrap="square" lIns="762" tIns="762" rIns="762" bIns="762"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Assumption</a:t>
            </a:r>
            <a:endParaRPr lang="en-US" sz="1000" dirty="0"/>
          </a:p>
        </p:txBody>
      </p:sp>
      <p:sp>
        <p:nvSpPr>
          <p:cNvPr id="13" name="Text 10"/>
          <p:cNvSpPr txBox="1"/>
          <p:nvPr/>
        </p:nvSpPr>
        <p:spPr>
          <a:xfrm>
            <a:off x="3474720" y="3474720"/>
            <a:ext cx="932688" cy="384048"/>
          </a:xfrm>
          <a:prstGeom prst="roundRect">
            <a:avLst>
              <a:gd name="adj" fmla="val 16667"/>
            </a:avLst>
          </a:prstGeom>
          <a:solidFill>
            <a:srgbClr val="6E7F94"/>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Unknown</a:t>
            </a:r>
            <a:endParaRPr lang="en-US" sz="1000" dirty="0"/>
          </a:p>
        </p:txBody>
      </p:sp>
      <p:sp>
        <p:nvSpPr>
          <p:cNvPr id="14" name="Text 11"/>
          <p:cNvSpPr txBox="1"/>
          <p:nvPr/>
        </p:nvSpPr>
        <p:spPr>
          <a:xfrm>
            <a:off x="457200" y="4023360"/>
            <a:ext cx="3931920" cy="594360"/>
          </a:xfrm>
          <a:prstGeom prst="roundRect">
            <a:avLst>
              <a:gd name="adj" fmla="val 10769"/>
            </a:avLst>
          </a:prstGeom>
          <a:solidFill>
            <a:srgbClr val="DDF3F2"/>
          </a:solidFill>
          <a:ln w="12700">
            <a:solidFill>
              <a:srgbClr val="C9D3DE"/>
            </a:solidFill>
          </a:ln>
        </p:spPr>
        <p:txBody>
          <a:bodyPr wrap="square" lIns="762" tIns="762" rIns="762" bIns="762"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Unknowns are recorded, not guessed</a:t>
            </a:r>
            <a:endParaRPr lang="en-US" sz="1300" dirty="0"/>
          </a:p>
        </p:txBody>
      </p:sp>
      <p:sp>
        <p:nvSpPr>
          <p:cNvPr id="15" name="Text 12"/>
          <p:cNvSpPr txBox="1"/>
          <p:nvPr/>
        </p:nvSpPr>
        <p:spPr>
          <a:xfrm>
            <a:off x="4663440" y="1051560"/>
            <a:ext cx="402336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Controls in the lake</a:t>
            </a:r>
            <a:endParaRPr lang="en-US" sz="1400" dirty="0"/>
          </a:p>
        </p:txBody>
      </p:sp>
      <p:sp>
        <p:nvSpPr>
          <p:cNvPr id="16" name="Shape 13"/>
          <p:cNvSpPr/>
          <p:nvPr/>
        </p:nvSpPr>
        <p:spPr>
          <a:xfrm>
            <a:off x="4663440" y="1371600"/>
            <a:ext cx="4023360" cy="731520"/>
          </a:xfrm>
          <a:prstGeom prst="roundRect">
            <a:avLst>
              <a:gd name="adj" fmla="val 8750"/>
            </a:avLst>
          </a:prstGeom>
          <a:solidFill>
            <a:srgbClr val="F4F7FA"/>
          </a:solidFill>
          <a:ln w="9525">
            <a:solidFill>
              <a:srgbClr val="C9D3DE"/>
            </a:solidFill>
            <a:prstDash val="solid"/>
          </a:ln>
        </p:spPr>
      </p:sp>
      <p:sp>
        <p:nvSpPr>
          <p:cNvPr id="17" name="Text 14"/>
          <p:cNvSpPr txBox="1"/>
          <p:nvPr/>
        </p:nvSpPr>
        <p:spPr>
          <a:xfrm>
            <a:off x="4754880" y="1371600"/>
            <a:ext cx="1234440" cy="731520"/>
          </a:xfrm>
          <a:prstGeom prst="rect">
            <a:avLst/>
          </a:prstGeom>
          <a:noFill/>
          <a:ln/>
        </p:spPr>
        <p:txBody>
          <a:bodyPr wrap="square" lIns="0" tIns="0" rIns="0" bIns="0" rtlCol="0" anchor="ctr"/>
          <a:lstStyle/>
          <a:p>
            <a:pPr algn="ctr" indent="0" marL="0">
              <a:buNone/>
            </a:pPr>
            <a:r>
              <a:rPr lang="en-US" sz="2000" b="1" dirty="0">
                <a:solidFill>
                  <a:srgbClr val="0FA3A3"/>
                </a:solidFill>
                <a:latin typeface="Cambria" pitchFamily="34" charset="0"/>
                <a:ea typeface="Cambria" pitchFamily="34" charset="-122"/>
                <a:cs typeface="Cambria" pitchFamily="34" charset="-120"/>
              </a:rPr>
              <a:t>40</a:t>
            </a:r>
            <a:endParaRPr lang="en-US" sz="2000" dirty="0"/>
          </a:p>
        </p:txBody>
      </p:sp>
      <p:sp>
        <p:nvSpPr>
          <p:cNvPr id="18" name="Text 15"/>
          <p:cNvSpPr txBox="1"/>
          <p:nvPr/>
        </p:nvSpPr>
        <p:spPr>
          <a:xfrm>
            <a:off x="6035040" y="1371600"/>
            <a:ext cx="2606040" cy="731520"/>
          </a:xfrm>
          <a:prstGeom prst="rect">
            <a:avLst/>
          </a:prstGeom>
          <a:noFill/>
          <a:ln/>
        </p:spPr>
        <p:txBody>
          <a:bodyPr wrap="square" lIns="0" tIns="0" rIns="0" bIns="0" rtlCol="0" anchor="ctr"/>
          <a:lstStyle/>
          <a:p>
            <a:pPr indent="0" marL="0">
              <a:buNone/>
            </a:pPr>
            <a:r>
              <a:rPr lang="en-US" sz="1100" dirty="0">
                <a:solidFill>
                  <a:srgbClr val="1B2733"/>
                </a:solidFill>
                <a:latin typeface="Calibri" pitchFamily="34" charset="0"/>
                <a:ea typeface="Calibri" pitchFamily="34" charset="-122"/>
                <a:cs typeface="Calibri" pitchFamily="34" charset="-120"/>
              </a:rPr>
              <a:t>numbered orchestrator decisions (OD)</a:t>
            </a:r>
            <a:endParaRPr lang="en-US" sz="1100" dirty="0"/>
          </a:p>
        </p:txBody>
      </p:sp>
      <p:sp>
        <p:nvSpPr>
          <p:cNvPr id="19" name="Shape 16"/>
          <p:cNvSpPr/>
          <p:nvPr/>
        </p:nvSpPr>
        <p:spPr>
          <a:xfrm>
            <a:off x="4663440" y="2194560"/>
            <a:ext cx="4023360" cy="731520"/>
          </a:xfrm>
          <a:prstGeom prst="roundRect">
            <a:avLst>
              <a:gd name="adj" fmla="val 8750"/>
            </a:avLst>
          </a:prstGeom>
          <a:solidFill>
            <a:srgbClr val="DDF3F2"/>
          </a:solidFill>
          <a:ln w="9525">
            <a:solidFill>
              <a:srgbClr val="C9D3DE"/>
            </a:solidFill>
            <a:prstDash val="solid"/>
          </a:ln>
        </p:spPr>
      </p:sp>
      <p:sp>
        <p:nvSpPr>
          <p:cNvPr id="20" name="Text 17"/>
          <p:cNvSpPr txBox="1"/>
          <p:nvPr/>
        </p:nvSpPr>
        <p:spPr>
          <a:xfrm>
            <a:off x="4754880" y="2194560"/>
            <a:ext cx="1234440" cy="731520"/>
          </a:xfrm>
          <a:prstGeom prst="rect">
            <a:avLst/>
          </a:prstGeom>
          <a:noFill/>
          <a:ln/>
        </p:spPr>
        <p:txBody>
          <a:bodyPr wrap="square" lIns="0" tIns="0" rIns="0" bIns="0" rtlCol="0" anchor="ctr"/>
          <a:lstStyle/>
          <a:p>
            <a:pPr algn="ctr" indent="0" marL="0">
              <a:buNone/>
            </a:pPr>
            <a:r>
              <a:rPr lang="en-US" sz="1500" b="1" dirty="0">
                <a:solidFill>
                  <a:srgbClr val="0FA3A3"/>
                </a:solidFill>
                <a:latin typeface="Cambria" pitchFamily="34" charset="0"/>
                <a:ea typeface="Cambria" pitchFamily="34" charset="-122"/>
                <a:cs typeface="Cambria" pitchFamily="34" charset="-120"/>
              </a:rPr>
              <a:t>86 / 22 / 9</a:t>
            </a:r>
            <a:endParaRPr lang="en-US" sz="1500" dirty="0"/>
          </a:p>
        </p:txBody>
      </p:sp>
      <p:sp>
        <p:nvSpPr>
          <p:cNvPr id="21" name="Text 18"/>
          <p:cNvSpPr txBox="1"/>
          <p:nvPr/>
        </p:nvSpPr>
        <p:spPr>
          <a:xfrm>
            <a:off x="6035040" y="2194560"/>
            <a:ext cx="2606040" cy="731520"/>
          </a:xfrm>
          <a:prstGeom prst="rect">
            <a:avLst/>
          </a:prstGeom>
          <a:noFill/>
          <a:ln/>
        </p:spPr>
        <p:txBody>
          <a:bodyPr wrap="square" lIns="0" tIns="0" rIns="0" bIns="0" rtlCol="0" anchor="ctr"/>
          <a:lstStyle/>
          <a:p>
            <a:pPr indent="0" marL="0">
              <a:buNone/>
            </a:pPr>
            <a:r>
              <a:rPr lang="en-US" sz="1100" dirty="0">
                <a:solidFill>
                  <a:srgbClr val="1B2733"/>
                </a:solidFill>
                <a:latin typeface="Calibri" pitchFamily="34" charset="0"/>
                <a:ea typeface="Calibri" pitchFamily="34" charset="-122"/>
                <a:cs typeface="Calibri" pitchFamily="34" charset="-120"/>
              </a:rPr>
              <a:t>planted instruction strings in feed rows / documents / evidence: leaf text only</a:t>
            </a:r>
            <a:endParaRPr lang="en-US" sz="1100" dirty="0"/>
          </a:p>
        </p:txBody>
      </p:sp>
      <p:sp>
        <p:nvSpPr>
          <p:cNvPr id="22" name="Shape 19"/>
          <p:cNvSpPr/>
          <p:nvPr/>
        </p:nvSpPr>
        <p:spPr>
          <a:xfrm>
            <a:off x="4663440" y="3017520"/>
            <a:ext cx="4023360" cy="731520"/>
          </a:xfrm>
          <a:prstGeom prst="roundRect">
            <a:avLst>
              <a:gd name="adj" fmla="val 8750"/>
            </a:avLst>
          </a:prstGeom>
          <a:solidFill>
            <a:srgbClr val="F4F7FA"/>
          </a:solidFill>
          <a:ln w="9525">
            <a:solidFill>
              <a:srgbClr val="C9D3DE"/>
            </a:solidFill>
            <a:prstDash val="solid"/>
          </a:ln>
        </p:spPr>
      </p:sp>
      <p:sp>
        <p:nvSpPr>
          <p:cNvPr id="23" name="Text 20"/>
          <p:cNvSpPr txBox="1"/>
          <p:nvPr/>
        </p:nvSpPr>
        <p:spPr>
          <a:xfrm>
            <a:off x="4754880" y="3017520"/>
            <a:ext cx="1234440" cy="731520"/>
          </a:xfrm>
          <a:prstGeom prst="rect">
            <a:avLst/>
          </a:prstGeom>
          <a:noFill/>
          <a:ln/>
        </p:spPr>
        <p:txBody>
          <a:bodyPr wrap="square" lIns="0" tIns="0" rIns="0" bIns="0" rtlCol="0" anchor="ctr"/>
          <a:lstStyle/>
          <a:p>
            <a:pPr algn="ctr" indent="0" marL="0">
              <a:buNone/>
            </a:pPr>
            <a:r>
              <a:rPr lang="en-US" sz="2000" b="1" dirty="0">
                <a:solidFill>
                  <a:srgbClr val="0FA3A3"/>
                </a:solidFill>
                <a:latin typeface="Cambria" pitchFamily="34" charset="0"/>
                <a:ea typeface="Cambria" pitchFamily="34" charset="-122"/>
                <a:cs typeface="Cambria" pitchFamily="34" charset="-120"/>
              </a:rPr>
              <a:t>ZH-05</a:t>
            </a:r>
            <a:endParaRPr lang="en-US" sz="2000" dirty="0"/>
          </a:p>
        </p:txBody>
      </p:sp>
      <p:sp>
        <p:nvSpPr>
          <p:cNvPr id="24" name="Text 21"/>
          <p:cNvSpPr txBox="1"/>
          <p:nvPr/>
        </p:nvSpPr>
        <p:spPr>
          <a:xfrm>
            <a:off x="6035040" y="3017520"/>
            <a:ext cx="2606040" cy="731520"/>
          </a:xfrm>
          <a:prstGeom prst="rect">
            <a:avLst/>
          </a:prstGeom>
          <a:noFill/>
          <a:ln/>
        </p:spPr>
        <p:txBody>
          <a:bodyPr wrap="square" lIns="0" tIns="0" rIns="0" bIns="0" rtlCol="0" anchor="ctr"/>
          <a:lstStyle/>
          <a:p>
            <a:pPr indent="0" marL="0">
              <a:buNone/>
            </a:pPr>
            <a:r>
              <a:rPr lang="en-US" sz="1100" dirty="0">
                <a:solidFill>
                  <a:srgbClr val="1B2733"/>
                </a:solidFill>
                <a:latin typeface="Calibri" pitchFamily="34" charset="0"/>
                <a:ea typeface="Calibri" pitchFamily="34" charset="-122"/>
                <a:cs typeface="Calibri" pitchFamily="34" charset="-120"/>
              </a:rPr>
              <a:t>no cross-vocabulary status mapping without an adopted policy</a:t>
            </a:r>
            <a:endParaRPr lang="en-US" sz="1100" dirty="0"/>
          </a:p>
        </p:txBody>
      </p:sp>
      <p:sp>
        <p:nvSpPr>
          <p:cNvPr id="25" name="Shape 22"/>
          <p:cNvSpPr/>
          <p:nvPr/>
        </p:nvSpPr>
        <p:spPr>
          <a:xfrm>
            <a:off x="4663440" y="3840480"/>
            <a:ext cx="4023360" cy="731520"/>
          </a:xfrm>
          <a:prstGeom prst="roundRect">
            <a:avLst>
              <a:gd name="adj" fmla="val 8750"/>
            </a:avLst>
          </a:prstGeom>
          <a:solidFill>
            <a:srgbClr val="DDF3F2"/>
          </a:solidFill>
          <a:ln w="9525">
            <a:solidFill>
              <a:srgbClr val="C9D3DE"/>
            </a:solidFill>
            <a:prstDash val="solid"/>
          </a:ln>
        </p:spPr>
      </p:sp>
      <p:sp>
        <p:nvSpPr>
          <p:cNvPr id="26" name="Text 23"/>
          <p:cNvSpPr txBox="1"/>
          <p:nvPr/>
        </p:nvSpPr>
        <p:spPr>
          <a:xfrm>
            <a:off x="4754880" y="3840480"/>
            <a:ext cx="1234440" cy="731520"/>
          </a:xfrm>
          <a:prstGeom prst="rect">
            <a:avLst/>
          </a:prstGeom>
          <a:noFill/>
          <a:ln/>
        </p:spPr>
        <p:txBody>
          <a:bodyPr wrap="square" lIns="0" tIns="0" rIns="0" bIns="0" rtlCol="0" anchor="ctr"/>
          <a:lstStyle/>
          <a:p>
            <a:pPr algn="ctr" indent="0" marL="0">
              <a:buNone/>
            </a:pPr>
            <a:r>
              <a:rPr lang="en-US" sz="1300" b="1" dirty="0">
                <a:solidFill>
                  <a:srgbClr val="0FA3A3"/>
                </a:solidFill>
                <a:latin typeface="Cambria" pitchFamily="34" charset="0"/>
                <a:ea typeface="Cambria" pitchFamily="34" charset="-122"/>
                <a:cs typeface="Cambria" pitchFamily="34" charset="-120"/>
              </a:rPr>
              <a:t>Provenance</a:t>
            </a:r>
            <a:endParaRPr lang="en-US" sz="1300" dirty="0"/>
          </a:p>
        </p:txBody>
      </p:sp>
      <p:sp>
        <p:nvSpPr>
          <p:cNvPr id="27" name="Text 24"/>
          <p:cNvSpPr txBox="1"/>
          <p:nvPr/>
        </p:nvSpPr>
        <p:spPr>
          <a:xfrm>
            <a:off x="6035040" y="3840480"/>
            <a:ext cx="2606040" cy="731520"/>
          </a:xfrm>
          <a:prstGeom prst="rect">
            <a:avLst/>
          </a:prstGeom>
          <a:noFill/>
          <a:ln/>
        </p:spPr>
        <p:txBody>
          <a:bodyPr wrap="square" lIns="0" tIns="0" rIns="0" bIns="0" rtlCol="0" anchor="ctr"/>
          <a:lstStyle/>
          <a:p>
            <a:pPr indent="0" marL="0">
              <a:buNone/>
            </a:pPr>
            <a:r>
              <a:rPr lang="en-US" sz="1100" dirty="0">
                <a:solidFill>
                  <a:srgbClr val="1B2733"/>
                </a:solidFill>
                <a:latin typeface="Calibri" pitchFamily="34" charset="0"/>
                <a:ea typeface="Calibri" pitchFamily="34" charset="-122"/>
                <a:cs typeface="Calibri" pitchFamily="34" charset="-120"/>
              </a:rPr>
              <a:t>source, version, date and hash travel with displayed items</a:t>
            </a:r>
            <a:endParaRPr lang="en-US" sz="1100" dirty="0"/>
          </a:p>
        </p:txBody>
      </p:sp>
      <p:sp>
        <p:nvSpPr>
          <p:cNvPr id="28" name="Text 25"/>
          <p:cNvSpPr txBox="1"/>
          <p:nvPr/>
        </p:nvSpPr>
        <p:spPr>
          <a:xfrm>
            <a:off x="4663440" y="4553712"/>
            <a:ext cx="0" cy="0"/>
          </a:xfrm>
          <a:prstGeom prst="roundRect">
            <a:avLst>
              <a:gd name="adj" fmla="val Infinity"/>
            </a:avLst>
          </a:prstGeom>
          <a:solidFill>
            <a:srgbClr val="15325A"/>
          </a:solidFill>
          <a:ln/>
        </p:spPr>
        <p:txBody>
          <a:bodyPr wrap="square" lIns="762" tIns="762" rIns="762" bIns="762" rtlCol="0" anchor="ctr"/>
          <a:lstStyle>
            <a:lvl1pPr algn="l"/>
          </a:lstStyle>
          <a:p>
            <a:pPr algn="ctr" indent="0" marL="0">
              <a:buNone/>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The semantic layer: the Context Lake's structured core</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097280"/>
            <a:ext cx="1965960" cy="1051560"/>
          </a:xfrm>
          <a:prstGeom prst="roundRect">
            <a:avLst>
              <a:gd name="adj" fmla="val 6087"/>
            </a:avLst>
          </a:prstGeom>
          <a:solidFill>
            <a:srgbClr val="F4F7FA"/>
          </a:solidFill>
          <a:ln w="9525">
            <a:solidFill>
              <a:srgbClr val="C9D3DE"/>
            </a:solidFill>
            <a:prstDash val="solid"/>
          </a:ln>
        </p:spPr>
      </p:sp>
      <p:sp>
        <p:nvSpPr>
          <p:cNvPr id="8" name="Text 5"/>
          <p:cNvSpPr txBox="1"/>
          <p:nvPr/>
        </p:nvSpPr>
        <p:spPr>
          <a:xfrm>
            <a:off x="457200" y="114300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34</a:t>
            </a:r>
            <a:endParaRPr lang="en-US" sz="2400" dirty="0"/>
          </a:p>
        </p:txBody>
      </p:sp>
      <p:sp>
        <p:nvSpPr>
          <p:cNvPr id="9" name="Text 6"/>
          <p:cNvSpPr txBox="1"/>
          <p:nvPr/>
        </p:nvSpPr>
        <p:spPr>
          <a:xfrm>
            <a:off x="502920" y="170718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entities</a:t>
            </a:r>
            <a:endParaRPr lang="en-US" sz="1100" dirty="0"/>
          </a:p>
        </p:txBody>
      </p:sp>
      <p:sp>
        <p:nvSpPr>
          <p:cNvPr id="10" name="Shape 7"/>
          <p:cNvSpPr/>
          <p:nvPr/>
        </p:nvSpPr>
        <p:spPr>
          <a:xfrm>
            <a:off x="2542032" y="1097280"/>
            <a:ext cx="1965960" cy="1051560"/>
          </a:xfrm>
          <a:prstGeom prst="roundRect">
            <a:avLst>
              <a:gd name="adj" fmla="val 6087"/>
            </a:avLst>
          </a:prstGeom>
          <a:solidFill>
            <a:srgbClr val="F4F7FA"/>
          </a:solidFill>
          <a:ln w="9525">
            <a:solidFill>
              <a:srgbClr val="C9D3DE"/>
            </a:solidFill>
            <a:prstDash val="solid"/>
          </a:ln>
        </p:spPr>
      </p:sp>
      <p:sp>
        <p:nvSpPr>
          <p:cNvPr id="11" name="Text 8"/>
          <p:cNvSpPr txBox="1"/>
          <p:nvPr/>
        </p:nvSpPr>
        <p:spPr>
          <a:xfrm>
            <a:off x="2542032" y="114300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36</a:t>
            </a:r>
            <a:endParaRPr lang="en-US" sz="2400" dirty="0"/>
          </a:p>
        </p:txBody>
      </p:sp>
      <p:sp>
        <p:nvSpPr>
          <p:cNvPr id="12" name="Text 9"/>
          <p:cNvSpPr txBox="1"/>
          <p:nvPr/>
        </p:nvSpPr>
        <p:spPr>
          <a:xfrm>
            <a:off x="2587752" y="170718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relationships</a:t>
            </a:r>
            <a:endParaRPr lang="en-US" sz="1100" dirty="0"/>
          </a:p>
        </p:txBody>
      </p:sp>
      <p:sp>
        <p:nvSpPr>
          <p:cNvPr id="13" name="Shape 10"/>
          <p:cNvSpPr/>
          <p:nvPr/>
        </p:nvSpPr>
        <p:spPr>
          <a:xfrm>
            <a:off x="4626864" y="1097280"/>
            <a:ext cx="1965960" cy="1051560"/>
          </a:xfrm>
          <a:prstGeom prst="roundRect">
            <a:avLst>
              <a:gd name="adj" fmla="val 6087"/>
            </a:avLst>
          </a:prstGeom>
          <a:solidFill>
            <a:srgbClr val="F4F7FA"/>
          </a:solidFill>
          <a:ln w="9525">
            <a:solidFill>
              <a:srgbClr val="C9D3DE"/>
            </a:solidFill>
            <a:prstDash val="solid"/>
          </a:ln>
        </p:spPr>
      </p:sp>
      <p:sp>
        <p:nvSpPr>
          <p:cNvPr id="14" name="Text 11"/>
          <p:cNvSpPr txBox="1"/>
          <p:nvPr/>
        </p:nvSpPr>
        <p:spPr>
          <a:xfrm>
            <a:off x="4626864" y="114300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56</a:t>
            </a:r>
            <a:endParaRPr lang="en-US" sz="2400" dirty="0"/>
          </a:p>
        </p:txBody>
      </p:sp>
      <p:sp>
        <p:nvSpPr>
          <p:cNvPr id="15" name="Text 12"/>
          <p:cNvSpPr txBox="1"/>
          <p:nvPr/>
        </p:nvSpPr>
        <p:spPr>
          <a:xfrm>
            <a:off x="4672584" y="170718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status vocabularies</a:t>
            </a:r>
            <a:endParaRPr lang="en-US" sz="1100" dirty="0"/>
          </a:p>
        </p:txBody>
      </p:sp>
      <p:sp>
        <p:nvSpPr>
          <p:cNvPr id="16" name="Shape 13"/>
          <p:cNvSpPr/>
          <p:nvPr/>
        </p:nvSpPr>
        <p:spPr>
          <a:xfrm>
            <a:off x="6711696" y="1097280"/>
            <a:ext cx="1965960" cy="1051560"/>
          </a:xfrm>
          <a:prstGeom prst="roundRect">
            <a:avLst>
              <a:gd name="adj" fmla="val 6087"/>
            </a:avLst>
          </a:prstGeom>
          <a:solidFill>
            <a:srgbClr val="F4F7FA"/>
          </a:solidFill>
          <a:ln w="9525">
            <a:solidFill>
              <a:srgbClr val="C9D3DE"/>
            </a:solidFill>
            <a:prstDash val="solid"/>
          </a:ln>
        </p:spPr>
      </p:sp>
      <p:sp>
        <p:nvSpPr>
          <p:cNvPr id="17" name="Text 14"/>
          <p:cNvSpPr txBox="1"/>
          <p:nvPr/>
        </p:nvSpPr>
        <p:spPr>
          <a:xfrm>
            <a:off x="6711696" y="114300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255</a:t>
            </a:r>
            <a:endParaRPr lang="en-US" sz="2400" dirty="0"/>
          </a:p>
        </p:txBody>
      </p:sp>
      <p:sp>
        <p:nvSpPr>
          <p:cNvPr id="18" name="Text 15"/>
          <p:cNvSpPr txBox="1"/>
          <p:nvPr/>
        </p:nvSpPr>
        <p:spPr>
          <a:xfrm>
            <a:off x="6757416" y="170718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vocabulary values</a:t>
            </a:r>
            <a:endParaRPr lang="en-US" sz="1100" dirty="0"/>
          </a:p>
        </p:txBody>
      </p:sp>
      <p:sp>
        <p:nvSpPr>
          <p:cNvPr id="19" name="Shape 16"/>
          <p:cNvSpPr/>
          <p:nvPr/>
        </p:nvSpPr>
        <p:spPr>
          <a:xfrm>
            <a:off x="457200" y="2286000"/>
            <a:ext cx="1965960" cy="1051560"/>
          </a:xfrm>
          <a:prstGeom prst="roundRect">
            <a:avLst>
              <a:gd name="adj" fmla="val 6087"/>
            </a:avLst>
          </a:prstGeom>
          <a:solidFill>
            <a:srgbClr val="F4F7FA"/>
          </a:solidFill>
          <a:ln w="9525">
            <a:solidFill>
              <a:srgbClr val="C9D3DE"/>
            </a:solidFill>
            <a:prstDash val="solid"/>
          </a:ln>
        </p:spPr>
      </p:sp>
      <p:sp>
        <p:nvSpPr>
          <p:cNvPr id="20" name="Text 17"/>
          <p:cNvSpPr txBox="1"/>
          <p:nvPr/>
        </p:nvSpPr>
        <p:spPr>
          <a:xfrm>
            <a:off x="457200" y="233172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40</a:t>
            </a:r>
            <a:endParaRPr lang="en-US" sz="2400" dirty="0"/>
          </a:p>
        </p:txBody>
      </p:sp>
      <p:sp>
        <p:nvSpPr>
          <p:cNvPr id="21" name="Text 18"/>
          <p:cNvSpPr txBox="1"/>
          <p:nvPr/>
        </p:nvSpPr>
        <p:spPr>
          <a:xfrm>
            <a:off x="502920" y="289590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metrics</a:t>
            </a:r>
            <a:endParaRPr lang="en-US" sz="1100" dirty="0"/>
          </a:p>
        </p:txBody>
      </p:sp>
      <p:sp>
        <p:nvSpPr>
          <p:cNvPr id="22" name="Shape 19"/>
          <p:cNvSpPr/>
          <p:nvPr/>
        </p:nvSpPr>
        <p:spPr>
          <a:xfrm>
            <a:off x="2542032" y="2286000"/>
            <a:ext cx="1965960" cy="1051560"/>
          </a:xfrm>
          <a:prstGeom prst="roundRect">
            <a:avLst>
              <a:gd name="adj" fmla="val 6087"/>
            </a:avLst>
          </a:prstGeom>
          <a:solidFill>
            <a:srgbClr val="F4F7FA"/>
          </a:solidFill>
          <a:ln w="9525">
            <a:solidFill>
              <a:srgbClr val="C9D3DE"/>
            </a:solidFill>
            <a:prstDash val="solid"/>
          </a:ln>
        </p:spPr>
      </p:sp>
      <p:sp>
        <p:nvSpPr>
          <p:cNvPr id="23" name="Text 20"/>
          <p:cNvSpPr txBox="1"/>
          <p:nvPr/>
        </p:nvSpPr>
        <p:spPr>
          <a:xfrm>
            <a:off x="2542032" y="233172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49</a:t>
            </a:r>
            <a:endParaRPr lang="en-US" sz="2400" dirty="0"/>
          </a:p>
        </p:txBody>
      </p:sp>
      <p:sp>
        <p:nvSpPr>
          <p:cNvPr id="24" name="Text 21"/>
          <p:cNvSpPr txBox="1"/>
          <p:nvPr/>
        </p:nvSpPr>
        <p:spPr>
          <a:xfrm>
            <a:off x="2587752" y="289590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business rules</a:t>
            </a:r>
            <a:endParaRPr lang="en-US" sz="1100" dirty="0"/>
          </a:p>
        </p:txBody>
      </p:sp>
      <p:sp>
        <p:nvSpPr>
          <p:cNvPr id="25" name="Shape 22"/>
          <p:cNvSpPr/>
          <p:nvPr/>
        </p:nvSpPr>
        <p:spPr>
          <a:xfrm>
            <a:off x="4626864" y="2286000"/>
            <a:ext cx="1965960" cy="1051560"/>
          </a:xfrm>
          <a:prstGeom prst="roundRect">
            <a:avLst>
              <a:gd name="adj" fmla="val 6087"/>
            </a:avLst>
          </a:prstGeom>
          <a:solidFill>
            <a:srgbClr val="F4F7FA"/>
          </a:solidFill>
          <a:ln w="9525">
            <a:solidFill>
              <a:srgbClr val="C9D3DE"/>
            </a:solidFill>
            <a:prstDash val="solid"/>
          </a:ln>
        </p:spPr>
      </p:sp>
      <p:sp>
        <p:nvSpPr>
          <p:cNvPr id="26" name="Text 23"/>
          <p:cNvSpPr txBox="1"/>
          <p:nvPr/>
        </p:nvSpPr>
        <p:spPr>
          <a:xfrm>
            <a:off x="4626864" y="233172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7</a:t>
            </a:r>
            <a:endParaRPr lang="en-US" sz="2400" dirty="0"/>
          </a:p>
        </p:txBody>
      </p:sp>
      <p:sp>
        <p:nvSpPr>
          <p:cNvPr id="27" name="Text 24"/>
          <p:cNvSpPr txBox="1"/>
          <p:nvPr/>
        </p:nvSpPr>
        <p:spPr>
          <a:xfrm>
            <a:off x="4672584" y="289590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workflows</a:t>
            </a:r>
            <a:endParaRPr lang="en-US" sz="1100" dirty="0"/>
          </a:p>
        </p:txBody>
      </p:sp>
      <p:sp>
        <p:nvSpPr>
          <p:cNvPr id="28" name="Shape 25"/>
          <p:cNvSpPr/>
          <p:nvPr/>
        </p:nvSpPr>
        <p:spPr>
          <a:xfrm>
            <a:off x="6711696" y="2286000"/>
            <a:ext cx="1965960" cy="1051560"/>
          </a:xfrm>
          <a:prstGeom prst="roundRect">
            <a:avLst>
              <a:gd name="adj" fmla="val 6087"/>
            </a:avLst>
          </a:prstGeom>
          <a:solidFill>
            <a:srgbClr val="F4F7FA"/>
          </a:solidFill>
          <a:ln w="9525">
            <a:solidFill>
              <a:srgbClr val="C9D3DE"/>
            </a:solidFill>
            <a:prstDash val="solid"/>
          </a:ln>
        </p:spPr>
      </p:sp>
      <p:sp>
        <p:nvSpPr>
          <p:cNvPr id="29" name="Text 26"/>
          <p:cNvSpPr txBox="1"/>
          <p:nvPr/>
        </p:nvSpPr>
        <p:spPr>
          <a:xfrm>
            <a:off x="6711696" y="2331720"/>
            <a:ext cx="1965960" cy="578358"/>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6 + 10</a:t>
            </a:r>
            <a:endParaRPr lang="en-US" sz="2400" dirty="0"/>
          </a:p>
        </p:txBody>
      </p:sp>
      <p:sp>
        <p:nvSpPr>
          <p:cNvPr id="30" name="Text 27"/>
          <p:cNvSpPr txBox="1"/>
          <p:nvPr/>
        </p:nvSpPr>
        <p:spPr>
          <a:xfrm>
            <a:off x="6757416" y="2895905"/>
            <a:ext cx="1874520" cy="399593"/>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roles + Zone H actions</a:t>
            </a:r>
            <a:endParaRPr lang="en-US" sz="1100" dirty="0"/>
          </a:p>
        </p:txBody>
      </p:sp>
      <p:sp>
        <p:nvSpPr>
          <p:cNvPr id="31" name="Text 28"/>
          <p:cNvSpPr txBox="1"/>
          <p:nvPr/>
        </p:nvSpPr>
        <p:spPr>
          <a:xfrm>
            <a:off x="457200" y="3611880"/>
            <a:ext cx="8229600" cy="457200"/>
          </a:xfrm>
          <a:prstGeom prst="roundRect">
            <a:avLst>
              <a:gd name="adj" fmla="val 14000"/>
            </a:avLst>
          </a:prstGeom>
          <a:solidFill>
            <a:srgbClr val="0B1F3A"/>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.md explains   ·   .yaml defines   ·   JSON Schema validates   ·   tests protect   ·   generated JSON serves</a:t>
            </a:r>
            <a:endParaRPr lang="en-US" sz="1300" dirty="0"/>
          </a:p>
        </p:txBody>
      </p:sp>
      <p:sp>
        <p:nvSpPr>
          <p:cNvPr id="32" name="Text 29"/>
          <p:cNvSpPr txBox="1"/>
          <p:nvPr/>
        </p:nvSpPr>
        <p:spPr>
          <a:xfrm>
            <a:off x="457200" y="4160520"/>
            <a:ext cx="4023360" cy="457200"/>
          </a:xfrm>
          <a:prstGeom prst="roundRect">
            <a:avLst>
              <a:gd name="adj" fmla="val 14000"/>
            </a:avLst>
          </a:prstGeom>
          <a:solidFill>
            <a:srgbClr val="FFF3DC"/>
          </a:solidFill>
          <a:ln w="12700">
            <a:solidFill>
              <a:srgbClr val="E39A1F"/>
            </a:solidFill>
          </a:ln>
        </p:spPr>
        <p:txBody>
          <a:bodyPr wrap="square" lIns="762" tIns="762" rIns="762" bIns="762" rtlCol="0" anchor="ctr"/>
          <a:lstStyle/>
          <a:p>
            <a:pPr algn="ctr" indent="0" marL="0">
              <a:buNone/>
            </a:pPr>
            <a:r>
              <a:rPr lang="en-US" sz="1200" b="1" dirty="0">
                <a:solidFill>
                  <a:srgbClr val="7A4B00"/>
                </a:solidFill>
                <a:latin typeface="Calibri" pitchFamily="34" charset="0"/>
                <a:ea typeface="Calibri" pitchFamily="34" charset="-122"/>
                <a:cs typeface="Calibri" pitchFamily="34" charset="-120"/>
              </a:rPr>
              <a:t>CLOSED appears in 5 vocabularies, with different meanings</a:t>
            </a:r>
            <a:endParaRPr lang="en-US" sz="1200" dirty="0"/>
          </a:p>
        </p:txBody>
      </p:sp>
      <p:sp>
        <p:nvSpPr>
          <p:cNvPr id="33" name="Text 30"/>
          <p:cNvSpPr txBox="1"/>
          <p:nvPr/>
        </p:nvSpPr>
        <p:spPr>
          <a:xfrm>
            <a:off x="4663440" y="4160520"/>
            <a:ext cx="4023360" cy="457200"/>
          </a:xfrm>
          <a:prstGeom prst="roundRect">
            <a:avLst>
              <a:gd name="adj" fmla="val 14000"/>
            </a:avLst>
          </a:prstGeom>
          <a:solidFill>
            <a:srgbClr val="DDF3F2"/>
          </a:solidFill>
          <a:ln w="12700">
            <a:solidFill>
              <a:srgbClr val="C9D3DE"/>
            </a:solidFill>
          </a:ln>
        </p:spPr>
        <p:txBody>
          <a:bodyPr wrap="square" lIns="762" tIns="762" rIns="762" bIns="762"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No automatic mapping between vocabularies (ZH-05)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Ontology: the shared semantic model</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pic>
        <p:nvPicPr>
          <p:cNvPr id="7" name="Image 0" descr="onto_graph.png">    </p:cNvPr>
          <p:cNvPicPr>
            <a:picLocks noChangeAspect="1"/>
          </p:cNvPicPr>
          <p:nvPr/>
        </p:nvPicPr>
        <p:blipFill>
          <a:blip r:embed="rId1"/>
          <a:srcRect l="0" r="0" t="0" b="0"/>
          <a:stretch/>
        </p:blipFill>
        <p:spPr>
          <a:xfrm>
            <a:off x="457200" y="1097280"/>
            <a:ext cx="4754880" cy="2926080"/>
          </a:xfrm>
          <a:prstGeom prst="rect">
            <a:avLst/>
          </a:prstGeom>
        </p:spPr>
      </p:pic>
      <p:sp>
        <p:nvSpPr>
          <p:cNvPr id="8" name="Text 4"/>
          <p:cNvSpPr txBox="1"/>
          <p:nvPr/>
        </p:nvSpPr>
        <p:spPr>
          <a:xfrm>
            <a:off x="457200" y="4041648"/>
            <a:ext cx="4754880" cy="320040"/>
          </a:xfrm>
          <a:prstGeom prst="rect">
            <a:avLst/>
          </a:prstGeom>
          <a:noFill/>
          <a:ln/>
        </p:spPr>
        <p:txBody>
          <a:bodyPr wrap="square" lIns="0" tIns="0" rIns="0" bIns="0" rtlCol="0" anchor="ctr"/>
          <a:lstStyle/>
          <a:p>
            <a:pPr indent="0" marL="0">
              <a:buNone/>
            </a:pPr>
            <a:r>
              <a:rPr lang="en-US" sz="1000" i="1" dirty="0">
                <a:solidFill>
                  <a:srgbClr val="5B6B7C"/>
                </a:solidFill>
                <a:latin typeface="Calibri" pitchFamily="34" charset="0"/>
                <a:ea typeface="Calibri" pitchFamily="34" charset="-122"/>
                <a:cs typeface="Calibri" pitchFamily="34" charset="-120"/>
              </a:rPr>
              <a:t>Ontology explorer: 34 classes, 36 relationships (dashed = no legacy key or human-asserted)</a:t>
            </a:r>
            <a:endParaRPr lang="en-US" sz="1000" dirty="0"/>
          </a:p>
        </p:txBody>
      </p:sp>
      <p:sp>
        <p:nvSpPr>
          <p:cNvPr id="9" name="Text 5"/>
          <p:cNvSpPr txBox="1"/>
          <p:nvPr/>
        </p:nvSpPr>
        <p:spPr>
          <a:xfrm>
            <a:off x="5440680" y="1051560"/>
            <a:ext cx="32004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Classes by category</a:t>
            </a:r>
            <a:endParaRPr lang="en-US" sz="1400" dirty="0"/>
          </a:p>
        </p:txBody>
      </p:sp>
      <p:sp>
        <p:nvSpPr>
          <p:cNvPr id="10" name="Text 6"/>
          <p:cNvSpPr txBox="1"/>
          <p:nvPr/>
        </p:nvSpPr>
        <p:spPr>
          <a:xfrm>
            <a:off x="5440680" y="1371600"/>
            <a:ext cx="2377440" cy="274320"/>
          </a:xfrm>
          <a:prstGeom prst="roundRect">
            <a:avLst>
              <a:gd name="adj" fmla="val 23333"/>
            </a:avLst>
          </a:prstGeom>
          <a:solidFill>
            <a:srgbClr val="F4F7FA"/>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Business objects</a:t>
            </a:r>
            <a:endParaRPr lang="en-US" sz="1100" dirty="0"/>
          </a:p>
        </p:txBody>
      </p:sp>
      <p:sp>
        <p:nvSpPr>
          <p:cNvPr id="11" name="Text 7"/>
          <p:cNvSpPr txBox="1"/>
          <p:nvPr/>
        </p:nvSpPr>
        <p:spPr>
          <a:xfrm>
            <a:off x="7863840" y="1371600"/>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2" name="Text 8"/>
          <p:cNvSpPr txBox="1"/>
          <p:nvPr/>
        </p:nvSpPr>
        <p:spPr>
          <a:xfrm>
            <a:off x="5440680" y="1682496"/>
            <a:ext cx="2377440" cy="274320"/>
          </a:xfrm>
          <a:prstGeom prst="roundRect">
            <a:avLst>
              <a:gd name="adj" fmla="val 23333"/>
            </a:avLst>
          </a:prstGeom>
          <a:solidFill>
            <a:srgbClr val="DDF3F2"/>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Integration</a:t>
            </a:r>
            <a:endParaRPr lang="en-US" sz="1100" dirty="0"/>
          </a:p>
        </p:txBody>
      </p:sp>
      <p:sp>
        <p:nvSpPr>
          <p:cNvPr id="13" name="Text 9"/>
          <p:cNvSpPr txBox="1"/>
          <p:nvPr/>
        </p:nvSpPr>
        <p:spPr>
          <a:xfrm>
            <a:off x="7863840" y="1682496"/>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4" name="Text 10"/>
          <p:cNvSpPr txBox="1"/>
          <p:nvPr/>
        </p:nvSpPr>
        <p:spPr>
          <a:xfrm>
            <a:off x="5440680" y="1993392"/>
            <a:ext cx="2377440" cy="274320"/>
          </a:xfrm>
          <a:prstGeom prst="roundRect">
            <a:avLst>
              <a:gd name="adj" fmla="val 23333"/>
            </a:avLst>
          </a:prstGeom>
          <a:solidFill>
            <a:srgbClr val="F4F7FA"/>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Reference data</a:t>
            </a:r>
            <a:endParaRPr lang="en-US" sz="1100" dirty="0"/>
          </a:p>
        </p:txBody>
      </p:sp>
      <p:sp>
        <p:nvSpPr>
          <p:cNvPr id="15" name="Text 11"/>
          <p:cNvSpPr txBox="1"/>
          <p:nvPr/>
        </p:nvSpPr>
        <p:spPr>
          <a:xfrm>
            <a:off x="7863840" y="1993392"/>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2"/>
          <p:cNvSpPr txBox="1"/>
          <p:nvPr/>
        </p:nvSpPr>
        <p:spPr>
          <a:xfrm>
            <a:off x="5440680" y="2304288"/>
            <a:ext cx="2377440" cy="274320"/>
          </a:xfrm>
          <a:prstGeom prst="roundRect">
            <a:avLst>
              <a:gd name="adj" fmla="val 23333"/>
            </a:avLst>
          </a:prstGeom>
          <a:solidFill>
            <a:srgbClr val="DDF3F2"/>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Decision records</a:t>
            </a:r>
            <a:endParaRPr lang="en-US" sz="1100" dirty="0"/>
          </a:p>
        </p:txBody>
      </p:sp>
      <p:sp>
        <p:nvSpPr>
          <p:cNvPr id="17" name="Text 13"/>
          <p:cNvSpPr txBox="1"/>
          <p:nvPr/>
        </p:nvSpPr>
        <p:spPr>
          <a:xfrm>
            <a:off x="7863840" y="2304288"/>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4"/>
          <p:cNvSpPr txBox="1"/>
          <p:nvPr/>
        </p:nvSpPr>
        <p:spPr>
          <a:xfrm>
            <a:off x="5440680" y="2615184"/>
            <a:ext cx="2377440" cy="274320"/>
          </a:xfrm>
          <a:prstGeom prst="roundRect">
            <a:avLst>
              <a:gd name="adj" fmla="val 23333"/>
            </a:avLst>
          </a:prstGeom>
          <a:solidFill>
            <a:srgbClr val="F4F7FA"/>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Governance</a:t>
            </a:r>
            <a:endParaRPr lang="en-US" sz="1100" dirty="0"/>
          </a:p>
        </p:txBody>
      </p:sp>
      <p:sp>
        <p:nvSpPr>
          <p:cNvPr id="19" name="Text 15"/>
          <p:cNvSpPr txBox="1"/>
          <p:nvPr/>
        </p:nvSpPr>
        <p:spPr>
          <a:xfrm>
            <a:off x="7863840" y="2615184"/>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6"/>
          <p:cNvSpPr txBox="1"/>
          <p:nvPr/>
        </p:nvSpPr>
        <p:spPr>
          <a:xfrm>
            <a:off x="5440680" y="2926080"/>
            <a:ext cx="2377440" cy="274320"/>
          </a:xfrm>
          <a:prstGeom prst="roundRect">
            <a:avLst>
              <a:gd name="adj" fmla="val 23333"/>
            </a:avLst>
          </a:prstGeom>
          <a:solidFill>
            <a:srgbClr val="DDF3F2"/>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Policy</a:t>
            </a:r>
            <a:endParaRPr lang="en-US" sz="1100" dirty="0"/>
          </a:p>
        </p:txBody>
      </p:sp>
      <p:sp>
        <p:nvSpPr>
          <p:cNvPr id="21" name="Text 17"/>
          <p:cNvSpPr txBox="1"/>
          <p:nvPr/>
        </p:nvSpPr>
        <p:spPr>
          <a:xfrm>
            <a:off x="7863840" y="2926080"/>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8"/>
          <p:cNvSpPr txBox="1"/>
          <p:nvPr/>
        </p:nvSpPr>
        <p:spPr>
          <a:xfrm>
            <a:off x="5440680" y="3236976"/>
            <a:ext cx="2377440" cy="274320"/>
          </a:xfrm>
          <a:prstGeom prst="roundRect">
            <a:avLst>
              <a:gd name="adj" fmla="val 23333"/>
            </a:avLst>
          </a:prstGeom>
          <a:solidFill>
            <a:srgbClr val="F4F7FA"/>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Measurement</a:t>
            </a:r>
            <a:endParaRPr lang="en-US" sz="1100" dirty="0"/>
          </a:p>
        </p:txBody>
      </p:sp>
      <p:sp>
        <p:nvSpPr>
          <p:cNvPr id="23" name="Text 19"/>
          <p:cNvSpPr txBox="1"/>
          <p:nvPr/>
        </p:nvSpPr>
        <p:spPr>
          <a:xfrm>
            <a:off x="7863840" y="3236976"/>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0"/>
          <p:cNvSpPr txBox="1"/>
          <p:nvPr/>
        </p:nvSpPr>
        <p:spPr>
          <a:xfrm>
            <a:off x="5440680" y="3547872"/>
            <a:ext cx="2377440" cy="274320"/>
          </a:xfrm>
          <a:prstGeom prst="roundRect">
            <a:avLst>
              <a:gd name="adj" fmla="val 23333"/>
            </a:avLst>
          </a:prstGeom>
          <a:solidFill>
            <a:srgbClr val="DDF3F2"/>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Operations</a:t>
            </a:r>
            <a:endParaRPr lang="en-US" sz="1100" dirty="0"/>
          </a:p>
        </p:txBody>
      </p:sp>
      <p:sp>
        <p:nvSpPr>
          <p:cNvPr id="25" name="Text 21"/>
          <p:cNvSpPr txBox="1"/>
          <p:nvPr/>
        </p:nvSpPr>
        <p:spPr>
          <a:xfrm>
            <a:off x="7863840" y="3547872"/>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2"/>
          <p:cNvSpPr txBox="1"/>
          <p:nvPr/>
        </p:nvSpPr>
        <p:spPr>
          <a:xfrm>
            <a:off x="5440680" y="3858768"/>
            <a:ext cx="2377440" cy="274320"/>
          </a:xfrm>
          <a:prstGeom prst="roundRect">
            <a:avLst>
              <a:gd name="adj" fmla="val 23333"/>
            </a:avLst>
          </a:prstGeom>
          <a:solidFill>
            <a:srgbClr val="F4F7FA"/>
          </a:solidFill>
          <a:ln/>
        </p:spPr>
        <p:txBody>
          <a:bodyPr wrap="square" lIns="762" tIns="762" rIns="762" bIns="762" rtlCol="0" anchor="ctr"/>
          <a:lstStyle/>
          <a:p>
            <a:pPr algn="l" indent="0" marL="0">
              <a:buNone/>
            </a:pPr>
            <a:r>
              <a:rPr lang="en-US" sz="1100" b="1" dirty="0">
                <a:solidFill>
                  <a:srgbClr val="0B1F3A"/>
                </a:solidFill>
                <a:latin typeface="Calibri" pitchFamily="34" charset="0"/>
                <a:ea typeface="Calibri" pitchFamily="34" charset="-122"/>
                <a:cs typeface="Calibri" pitchFamily="34" charset="-120"/>
              </a:rPr>
              <a:t>Identity and security</a:t>
            </a:r>
            <a:endParaRPr lang="en-US" sz="1100" dirty="0"/>
          </a:p>
        </p:txBody>
      </p:sp>
      <p:sp>
        <p:nvSpPr>
          <p:cNvPr id="27" name="Text 23"/>
          <p:cNvSpPr txBox="1"/>
          <p:nvPr/>
        </p:nvSpPr>
        <p:spPr>
          <a:xfrm>
            <a:off x="7863840" y="3858768"/>
            <a:ext cx="822960" cy="274320"/>
          </a:xfrm>
          <a:prstGeom prst="roundRect">
            <a:avLst>
              <a:gd name="adj" fmla="val 23333"/>
            </a:avLst>
          </a:prstGeom>
          <a:solidFill>
            <a:srgbClr val="0FA3A3"/>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4"/>
          <p:cNvSpPr txBox="1"/>
          <p:nvPr/>
        </p:nvSpPr>
        <p:spPr>
          <a:xfrm>
            <a:off x="5440680" y="4206240"/>
            <a:ext cx="3246120" cy="457200"/>
          </a:xfrm>
          <a:prstGeom prst="roundRect">
            <a:avLst>
              <a:gd name="adj" fmla="val 14000"/>
            </a:avLst>
          </a:prstGeom>
          <a:solidFill>
            <a:srgbClr val="0B1F3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Ontology = meaning · Knowledge Graph = instances</a:t>
            </a:r>
            <a:endParaRPr lang="en-US" sz="1200" dirty="0"/>
          </a:p>
        </p:txBody>
      </p:sp>
      <p:sp>
        <p:nvSpPr>
          <p:cNvPr id="29" name="Text 25"/>
          <p:cNvSpPr txBox="1"/>
          <p:nvPr/>
        </p:nvSpPr>
        <p:spPr>
          <a:xfrm>
            <a:off x="457200" y="4389120"/>
            <a:ext cx="4754880" cy="274320"/>
          </a:xfrm>
          <a:prstGeom prst="roundRect">
            <a:avLst>
              <a:gd name="adj" fmla="val 23333"/>
            </a:avLst>
          </a:prstGeom>
          <a:solidFill>
            <a:srgbClr val="F4F7FA"/>
          </a:solidFill>
          <a:ln w="12700">
            <a:solidFill>
              <a:srgbClr val="C9D3DE"/>
            </a:solidFill>
          </a:ln>
        </p:spPr>
        <p:txBody>
          <a:bodyPr wrap="square" lIns="762" tIns="762" rIns="762" bIns="762"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OWL 2 + SKOS Turtle · 11 SPARQL queries · 3,865 schema triples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Knowledge Graph: connected project facts</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251960" y="2523744"/>
            <a:ext cx="868680" cy="0"/>
          </a:xfrm>
          <a:prstGeom prst="line">
            <a:avLst/>
          </a:prstGeom>
          <a:noFill/>
          <a:ln w="22225">
            <a:solidFill>
              <a:srgbClr val="0B1F3A"/>
            </a:solidFill>
            <a:prstDash val="solid"/>
            <a:tailEnd type="triangle"/>
          </a:ln>
        </p:spPr>
      </p:sp>
      <p:sp>
        <p:nvSpPr>
          <p:cNvPr id="8" name="Text 5"/>
          <p:cNvSpPr txBox="1"/>
          <p:nvPr/>
        </p:nvSpPr>
        <p:spPr>
          <a:xfrm>
            <a:off x="4251960" y="2276856"/>
            <a:ext cx="868680" cy="201168"/>
          </a:xfrm>
          <a:prstGeom prst="rect">
            <a:avLst/>
          </a:prstGeom>
          <a:noFill/>
          <a:ln/>
        </p:spPr>
        <p:txBody>
          <a:bodyPr wrap="square" lIns="0" tIns="0" rIns="0" bIns="0" rtlCol="0" anchor="ctr"/>
          <a:lstStyle/>
          <a:p>
            <a:pPr algn="ctr" indent="0" marL="0">
              <a:buNone/>
            </a:pPr>
            <a:r>
              <a:rPr lang="en-US" sz="900" i="1" dirty="0">
                <a:solidFill>
                  <a:srgbClr val="5B6B7C"/>
                </a:solidFill>
                <a:latin typeface="Calibri" pitchFamily="34" charset="0"/>
                <a:ea typeface="Calibri" pitchFamily="34" charset="-122"/>
                <a:cs typeface="Calibri" pitchFamily="34" charset="-120"/>
              </a:rPr>
              <a:t>OF_MATERIAL</a:t>
            </a:r>
            <a:endParaRPr lang="en-US" sz="900" dirty="0"/>
          </a:p>
        </p:txBody>
      </p:sp>
      <p:sp>
        <p:nvSpPr>
          <p:cNvPr id="9" name="Shape 6"/>
          <p:cNvSpPr/>
          <p:nvPr/>
        </p:nvSpPr>
        <p:spPr>
          <a:xfrm flipV="1">
            <a:off x="3589020" y="1801368"/>
            <a:ext cx="0" cy="393192"/>
          </a:xfrm>
          <a:prstGeom prst="line">
            <a:avLst/>
          </a:prstGeom>
          <a:noFill/>
          <a:ln w="22225">
            <a:solidFill>
              <a:srgbClr val="0B1F3A"/>
            </a:solidFill>
            <a:prstDash val="solid"/>
            <a:tailEnd type="triangle"/>
          </a:ln>
        </p:spPr>
      </p:sp>
      <p:sp>
        <p:nvSpPr>
          <p:cNvPr id="10" name="Text 7"/>
          <p:cNvSpPr txBox="1"/>
          <p:nvPr/>
        </p:nvSpPr>
        <p:spPr>
          <a:xfrm>
            <a:off x="3634740" y="1888236"/>
            <a:ext cx="1097280" cy="201168"/>
          </a:xfrm>
          <a:prstGeom prst="rect">
            <a:avLst/>
          </a:prstGeom>
          <a:noFill/>
          <a:ln/>
        </p:spPr>
        <p:txBody>
          <a:bodyPr wrap="square" lIns="0" tIns="0" rIns="0" bIns="0" rtlCol="0" anchor="ctr"/>
          <a:lstStyle/>
          <a:p>
            <a:pPr algn="l" indent="0" marL="0">
              <a:buNone/>
            </a:pPr>
            <a:r>
              <a:rPr lang="en-US" sz="900" i="1" dirty="0">
                <a:solidFill>
                  <a:srgbClr val="5B6B7C"/>
                </a:solidFill>
                <a:latin typeface="Calibri" pitchFamily="34" charset="0"/>
                <a:ea typeface="Calibri" pitchFamily="34" charset="-122"/>
                <a:cs typeface="Calibri" pitchFamily="34" charset="-120"/>
              </a:rPr>
              <a:t>MADE_AT</a:t>
            </a:r>
            <a:endParaRPr lang="en-US" sz="900" dirty="0"/>
          </a:p>
        </p:txBody>
      </p:sp>
      <p:sp>
        <p:nvSpPr>
          <p:cNvPr id="11" name="Shape 8"/>
          <p:cNvSpPr/>
          <p:nvPr/>
        </p:nvSpPr>
        <p:spPr>
          <a:xfrm flipV="1">
            <a:off x="5783580" y="1801368"/>
            <a:ext cx="0" cy="393192"/>
          </a:xfrm>
          <a:prstGeom prst="line">
            <a:avLst/>
          </a:prstGeom>
          <a:noFill/>
          <a:ln w="22225">
            <a:solidFill>
              <a:srgbClr val="0B1F3A"/>
            </a:solidFill>
            <a:prstDash val="solid"/>
            <a:tailEnd type="triangle"/>
          </a:ln>
        </p:spPr>
      </p:sp>
      <p:sp>
        <p:nvSpPr>
          <p:cNvPr id="12" name="Text 9"/>
          <p:cNvSpPr txBox="1"/>
          <p:nvPr/>
        </p:nvSpPr>
        <p:spPr>
          <a:xfrm>
            <a:off x="5829300" y="1888236"/>
            <a:ext cx="1097280" cy="201168"/>
          </a:xfrm>
          <a:prstGeom prst="rect">
            <a:avLst/>
          </a:prstGeom>
          <a:noFill/>
          <a:ln/>
        </p:spPr>
        <p:txBody>
          <a:bodyPr wrap="square" lIns="0" tIns="0" rIns="0" bIns="0" rtlCol="0" anchor="ctr"/>
          <a:lstStyle/>
          <a:p>
            <a:pPr algn="l" indent="0" marL="0">
              <a:buNone/>
            </a:pPr>
            <a:r>
              <a:rPr lang="en-US" sz="900" i="1" dirty="0">
                <a:solidFill>
                  <a:srgbClr val="5B6B7C"/>
                </a:solidFill>
                <a:latin typeface="Calibri" pitchFamily="34" charset="0"/>
                <a:ea typeface="Calibri" pitchFamily="34" charset="-122"/>
                <a:cs typeface="Calibri" pitchFamily="34" charset="-120"/>
              </a:rPr>
              <a:t>SOURCED_AT</a:t>
            </a:r>
            <a:endParaRPr lang="en-US" sz="900" dirty="0"/>
          </a:p>
        </p:txBody>
      </p:sp>
      <p:sp>
        <p:nvSpPr>
          <p:cNvPr id="13" name="Shape 10"/>
          <p:cNvSpPr/>
          <p:nvPr/>
        </p:nvSpPr>
        <p:spPr>
          <a:xfrm flipH="1">
            <a:off x="1874520" y="2523744"/>
            <a:ext cx="1051560" cy="0"/>
          </a:xfrm>
          <a:prstGeom prst="line">
            <a:avLst/>
          </a:prstGeom>
          <a:noFill/>
          <a:ln w="22225">
            <a:solidFill>
              <a:srgbClr val="0B1F3A"/>
            </a:solidFill>
            <a:prstDash val="solid"/>
            <a:tailEnd type="triangle"/>
          </a:ln>
        </p:spPr>
      </p:sp>
      <p:sp>
        <p:nvSpPr>
          <p:cNvPr id="14" name="Text 11"/>
          <p:cNvSpPr txBox="1"/>
          <p:nvPr/>
        </p:nvSpPr>
        <p:spPr>
          <a:xfrm>
            <a:off x="1874520" y="2276856"/>
            <a:ext cx="1051560" cy="201168"/>
          </a:xfrm>
          <a:prstGeom prst="rect">
            <a:avLst/>
          </a:prstGeom>
          <a:noFill/>
          <a:ln/>
        </p:spPr>
        <p:txBody>
          <a:bodyPr wrap="square" lIns="0" tIns="0" rIns="0" bIns="0" rtlCol="0" anchor="ctr"/>
          <a:lstStyle/>
          <a:p>
            <a:pPr algn="ctr" indent="0" marL="0">
              <a:buNone/>
            </a:pPr>
            <a:r>
              <a:rPr lang="en-US" sz="900" i="1" dirty="0">
                <a:solidFill>
                  <a:srgbClr val="5B6B7C"/>
                </a:solidFill>
                <a:latin typeface="Calibri" pitchFamily="34" charset="0"/>
                <a:ea typeface="Calibri" pitchFamily="34" charset="-122"/>
                <a:cs typeface="Calibri" pitchFamily="34" charset="-120"/>
              </a:rPr>
              <a:t>HAS_RESULT</a:t>
            </a:r>
            <a:endParaRPr lang="en-US" sz="900" dirty="0"/>
          </a:p>
        </p:txBody>
      </p:sp>
      <p:sp>
        <p:nvSpPr>
          <p:cNvPr id="15" name="Shape 12"/>
          <p:cNvSpPr/>
          <p:nvPr/>
        </p:nvSpPr>
        <p:spPr>
          <a:xfrm>
            <a:off x="3589020" y="2852928"/>
            <a:ext cx="0" cy="393192"/>
          </a:xfrm>
          <a:prstGeom prst="line">
            <a:avLst/>
          </a:prstGeom>
          <a:noFill/>
          <a:ln w="22225">
            <a:solidFill>
              <a:srgbClr val="0B1F3A"/>
            </a:solidFill>
            <a:prstDash val="solid"/>
            <a:tailEnd type="triangle"/>
          </a:ln>
        </p:spPr>
      </p:sp>
      <p:sp>
        <p:nvSpPr>
          <p:cNvPr id="16" name="Text 13"/>
          <p:cNvSpPr txBox="1"/>
          <p:nvPr/>
        </p:nvSpPr>
        <p:spPr>
          <a:xfrm>
            <a:off x="3634740" y="2939796"/>
            <a:ext cx="1097280" cy="201168"/>
          </a:xfrm>
          <a:prstGeom prst="rect">
            <a:avLst/>
          </a:prstGeom>
          <a:noFill/>
          <a:ln/>
        </p:spPr>
        <p:txBody>
          <a:bodyPr wrap="square" lIns="0" tIns="0" rIns="0" bIns="0" rtlCol="0" anchor="ctr"/>
          <a:lstStyle/>
          <a:p>
            <a:pPr algn="l" indent="0" marL="0">
              <a:buNone/>
            </a:pPr>
            <a:r>
              <a:rPr lang="en-US" sz="900" i="1" dirty="0">
                <a:solidFill>
                  <a:srgbClr val="5B6B7C"/>
                </a:solidFill>
                <a:latin typeface="Calibri" pitchFamily="34" charset="0"/>
                <a:ea typeface="Calibri" pitchFamily="34" charset="-122"/>
                <a:cs typeface="Calibri" pitchFamily="34" charset="-120"/>
              </a:rPr>
              <a:t>HAS_DEVIATION</a:t>
            </a:r>
            <a:endParaRPr lang="en-US" sz="900" dirty="0"/>
          </a:p>
        </p:txBody>
      </p:sp>
      <p:sp>
        <p:nvSpPr>
          <p:cNvPr id="17" name="Shape 14"/>
          <p:cNvSpPr/>
          <p:nvPr/>
        </p:nvSpPr>
        <p:spPr>
          <a:xfrm>
            <a:off x="4251960" y="3575304"/>
            <a:ext cx="868680" cy="0"/>
          </a:xfrm>
          <a:prstGeom prst="line">
            <a:avLst/>
          </a:prstGeom>
          <a:noFill/>
          <a:ln w="22225">
            <a:solidFill>
              <a:srgbClr val="0B1F3A"/>
            </a:solidFill>
            <a:prstDash val="solid"/>
            <a:tailEnd type="triangle"/>
          </a:ln>
        </p:spPr>
      </p:sp>
      <p:sp>
        <p:nvSpPr>
          <p:cNvPr id="18" name="Text 15"/>
          <p:cNvSpPr txBox="1"/>
          <p:nvPr/>
        </p:nvSpPr>
        <p:spPr>
          <a:xfrm>
            <a:off x="4251960" y="3328416"/>
            <a:ext cx="868680" cy="201168"/>
          </a:xfrm>
          <a:prstGeom prst="rect">
            <a:avLst/>
          </a:prstGeom>
          <a:noFill/>
          <a:ln/>
        </p:spPr>
        <p:txBody>
          <a:bodyPr wrap="square" lIns="0" tIns="0" rIns="0" bIns="0" rtlCol="0" anchor="ctr"/>
          <a:lstStyle/>
          <a:p>
            <a:pPr algn="ctr" indent="0" marL="0">
              <a:buNone/>
            </a:pPr>
            <a:r>
              <a:rPr lang="en-US" sz="900" i="1" dirty="0">
                <a:solidFill>
                  <a:srgbClr val="5B6B7C"/>
                </a:solidFill>
                <a:latin typeface="Calibri" pitchFamily="34" charset="0"/>
                <a:ea typeface="Calibri" pitchFamily="34" charset="-122"/>
                <a:cs typeface="Calibri" pitchFamily="34" charset="-120"/>
              </a:rPr>
              <a:t>HAS_CAPA</a:t>
            </a:r>
            <a:endParaRPr lang="en-US" sz="900" dirty="0"/>
          </a:p>
        </p:txBody>
      </p:sp>
      <p:sp>
        <p:nvSpPr>
          <p:cNvPr id="19" name="Text 16"/>
          <p:cNvSpPr txBox="1"/>
          <p:nvPr/>
        </p:nvSpPr>
        <p:spPr>
          <a:xfrm>
            <a:off x="2926080" y="2194560"/>
            <a:ext cx="1325880" cy="658368"/>
          </a:xfrm>
          <a:prstGeom prst="ellipse">
            <a:avLst>
              <a:gd name="adj" fmla="val 9722"/>
            </a:avLst>
          </a:prstGeom>
          <a:solidFill>
            <a:srgbClr val="0FA3A3"/>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BT00000048</a:t>
            </a:r>
            <a:endParaRPr lang="en-US" sz="1000" dirty="0"/>
          </a:p>
        </p:txBody>
      </p:sp>
      <p:sp>
        <p:nvSpPr>
          <p:cNvPr id="20" name="Text 17"/>
          <p:cNvSpPr txBox="1"/>
          <p:nvPr/>
        </p:nvSpPr>
        <p:spPr>
          <a:xfrm>
            <a:off x="5120640" y="2194560"/>
            <a:ext cx="1325880" cy="658368"/>
          </a:xfrm>
          <a:prstGeom prst="ellipse">
            <a:avLst>
              <a:gd name="adj" fmla="val 9722"/>
            </a:avLst>
          </a:prstGeom>
          <a:solidFill>
            <a:srgbClr val="1E7FA8"/>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M0000010</a:t>
            </a:r>
            <a:endParaRPr lang="en-US" sz="1000" dirty="0"/>
          </a:p>
        </p:txBody>
      </p:sp>
      <p:sp>
        <p:nvSpPr>
          <p:cNvPr id="21" name="Text 18"/>
          <p:cNvSpPr txBox="1"/>
          <p:nvPr/>
        </p:nvSpPr>
        <p:spPr>
          <a:xfrm>
            <a:off x="2926080" y="1143000"/>
            <a:ext cx="1325880" cy="658368"/>
          </a:xfrm>
          <a:prstGeom prst="ellipse">
            <a:avLst>
              <a:gd name="adj" fmla="val 9722"/>
            </a:avLst>
          </a:prstGeom>
          <a:solidFill>
            <a:srgbClr val="6E7F94"/>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US-TX</a:t>
            </a:r>
            <a:endParaRPr lang="en-US" sz="1000" dirty="0"/>
          </a:p>
        </p:txBody>
      </p:sp>
      <p:sp>
        <p:nvSpPr>
          <p:cNvPr id="22" name="Text 19"/>
          <p:cNvSpPr txBox="1"/>
          <p:nvPr/>
        </p:nvSpPr>
        <p:spPr>
          <a:xfrm>
            <a:off x="5120640" y="1143000"/>
            <a:ext cx="1325880" cy="658368"/>
          </a:xfrm>
          <a:prstGeom prst="ellipse">
            <a:avLst>
              <a:gd name="adj" fmla="val 9722"/>
            </a:avLst>
          </a:prstGeom>
          <a:solidFill>
            <a:srgbClr val="6E7F94"/>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IN-BLR</a:t>
            </a:r>
            <a:endParaRPr lang="en-US" sz="1000" dirty="0"/>
          </a:p>
        </p:txBody>
      </p:sp>
      <p:sp>
        <p:nvSpPr>
          <p:cNvPr id="23" name="Text 20"/>
          <p:cNvSpPr txBox="1"/>
          <p:nvPr/>
        </p:nvSpPr>
        <p:spPr>
          <a:xfrm>
            <a:off x="548640" y="2194560"/>
            <a:ext cx="1325880" cy="658368"/>
          </a:xfrm>
          <a:prstGeom prst="ellipse">
            <a:avLst>
              <a:gd name="adj" fmla="val 9722"/>
            </a:avLst>
          </a:prstGeom>
          <a:solidFill>
            <a:srgbClr val="1E7FA8"/>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LabResult</a:t>
            </a:r>
            <a:endParaRPr lang="en-US" sz="1000" dirty="0"/>
          </a:p>
        </p:txBody>
      </p:sp>
      <p:sp>
        <p:nvSpPr>
          <p:cNvPr id="24" name="Text 21"/>
          <p:cNvSpPr txBox="1"/>
          <p:nvPr/>
        </p:nvSpPr>
        <p:spPr>
          <a:xfrm>
            <a:off x="2926080" y="3246120"/>
            <a:ext cx="1325880" cy="658368"/>
          </a:xfrm>
          <a:prstGeom prst="ellipse">
            <a:avLst>
              <a:gd name="adj" fmla="val 9722"/>
            </a:avLst>
          </a:prstGeom>
          <a:solidFill>
            <a:srgbClr val="C0392B"/>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Deviation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DEV00000048</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25" name="Text 22"/>
          <p:cNvSpPr txBox="1"/>
          <p:nvPr/>
        </p:nvSpPr>
        <p:spPr>
          <a:xfrm>
            <a:off x="5120640" y="3246120"/>
            <a:ext cx="1325880" cy="658368"/>
          </a:xfrm>
          <a:prstGeom prst="ellipse">
            <a:avLst>
              <a:gd name="adj" fmla="val 9722"/>
            </a:avLst>
          </a:prstGeom>
          <a:solidFill>
            <a:srgbClr val="E39A1F"/>
          </a:solidFill>
          <a:ln/>
        </p:spPr>
        <p:txBody>
          <a:bodyPr wrap="square" lIns="762" tIns="762" rIns="762" bIns="762"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CAPA</a:t>
            </a:r>
            <a:endParaRPr lang="en-US" sz="1000" dirty="0"/>
          </a:p>
          <a:p>
            <a:pPr algn="ctr" indent="0" marL="0">
              <a:buNone/>
            </a:pPr>
            <a:r>
              <a:rPr lang="en-US" sz="1000" b="1" dirty="0">
                <a:solidFill>
                  <a:srgbClr val="0B1F3A"/>
                </a:solidFill>
                <a:latin typeface="Calibri" pitchFamily="34" charset="0"/>
                <a:ea typeface="Calibri" pitchFamily="34" charset="-122"/>
                <a:cs typeface="Calibri" pitchFamily="34" charset="-120"/>
              </a:rPr>
              <a:t>CAPA00000048</a:t>
            </a:r>
            <a:endParaRPr lang="en-US" sz="1000" dirty="0"/>
          </a:p>
          <a:p>
            <a:pPr algn="ctr" indent="0" marL="0">
              <a:buNone/>
            </a:pPr>
            <a:r>
              <a:rPr lang="en-US" sz="1000" b="1" dirty="0">
                <a:solidFill>
                  <a:srgbClr val="0B1F3A"/>
                </a:solidFill>
                <a:latin typeface="Calibri" pitchFamily="34" charset="0"/>
                <a:ea typeface="Calibri" pitchFamily="34" charset="-122"/>
                <a:cs typeface="Calibri" pitchFamily="34" charset="-120"/>
              </a:rPr>
              <a:t>OVERDUE</a:t>
            </a:r>
            <a:endParaRPr lang="en-US" sz="1000" dirty="0"/>
          </a:p>
        </p:txBody>
      </p:sp>
      <p:sp>
        <p:nvSpPr>
          <p:cNvPr id="26" name="Text 23"/>
          <p:cNvSpPr txBox="1"/>
          <p:nvPr/>
        </p:nvSpPr>
        <p:spPr>
          <a:xfrm>
            <a:off x="457200" y="4023360"/>
            <a:ext cx="5943600" cy="274320"/>
          </a:xfrm>
          <a:prstGeom prst="rect">
            <a:avLst/>
          </a:prstGeom>
          <a:noFill/>
          <a:ln/>
        </p:spPr>
        <p:txBody>
          <a:bodyPr wrap="square" lIns="0" tIns="0" rIns="0" bIns="0" rtlCol="0" anchor="ctr"/>
          <a:lstStyle/>
          <a:p>
            <a:pPr indent="0" marL="0">
              <a:buNone/>
            </a:pPr>
            <a:r>
              <a:rPr lang="en-US" sz="1000" i="1" dirty="0">
                <a:solidFill>
                  <a:srgbClr val="5B6B7C"/>
                </a:solidFill>
                <a:latin typeface="Calibri" pitchFamily="34" charset="0"/>
                <a:ea typeface="Calibri" pitchFamily="34" charset="-122"/>
                <a:cs typeface="Calibri" pitchFamily="34" charset="-120"/>
              </a:rPr>
              <a:t>Real path from the synthetic data (graph/model.py)</a:t>
            </a:r>
            <a:endParaRPr lang="en-US" sz="1000" dirty="0"/>
          </a:p>
        </p:txBody>
      </p:sp>
      <p:sp>
        <p:nvSpPr>
          <p:cNvPr id="27" name="Shape 24"/>
          <p:cNvSpPr/>
          <p:nvPr/>
        </p:nvSpPr>
        <p:spPr>
          <a:xfrm>
            <a:off x="6675120" y="1097280"/>
            <a:ext cx="914400" cy="960120"/>
          </a:xfrm>
          <a:prstGeom prst="roundRect">
            <a:avLst>
              <a:gd name="adj" fmla="val 7000"/>
            </a:avLst>
          </a:prstGeom>
          <a:solidFill>
            <a:srgbClr val="F4F7FA"/>
          </a:solidFill>
          <a:ln w="9525">
            <a:solidFill>
              <a:srgbClr val="C9D3DE"/>
            </a:solidFill>
            <a:prstDash val="solid"/>
          </a:ln>
        </p:spPr>
      </p:sp>
      <p:sp>
        <p:nvSpPr>
          <p:cNvPr id="28" name="Text 25"/>
          <p:cNvSpPr txBox="1"/>
          <p:nvPr/>
        </p:nvSpPr>
        <p:spPr>
          <a:xfrm>
            <a:off x="6675120" y="1143000"/>
            <a:ext cx="914400" cy="528066"/>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13,244</a:t>
            </a:r>
            <a:endParaRPr lang="en-US" sz="2400" dirty="0"/>
          </a:p>
        </p:txBody>
      </p:sp>
      <p:sp>
        <p:nvSpPr>
          <p:cNvPr id="29" name="Text 26"/>
          <p:cNvSpPr txBox="1"/>
          <p:nvPr/>
        </p:nvSpPr>
        <p:spPr>
          <a:xfrm>
            <a:off x="6720840" y="1654150"/>
            <a:ext cx="822960" cy="364846"/>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nodes</a:t>
            </a:r>
            <a:endParaRPr lang="en-US" sz="1100" dirty="0"/>
          </a:p>
        </p:txBody>
      </p:sp>
      <p:sp>
        <p:nvSpPr>
          <p:cNvPr id="30" name="Shape 27"/>
          <p:cNvSpPr/>
          <p:nvPr/>
        </p:nvSpPr>
        <p:spPr>
          <a:xfrm>
            <a:off x="7680960" y="1097280"/>
            <a:ext cx="914400" cy="960120"/>
          </a:xfrm>
          <a:prstGeom prst="roundRect">
            <a:avLst>
              <a:gd name="adj" fmla="val 7000"/>
            </a:avLst>
          </a:prstGeom>
          <a:solidFill>
            <a:srgbClr val="F4F7FA"/>
          </a:solidFill>
          <a:ln w="9525">
            <a:solidFill>
              <a:srgbClr val="C9D3DE"/>
            </a:solidFill>
            <a:prstDash val="solid"/>
          </a:ln>
        </p:spPr>
      </p:sp>
      <p:sp>
        <p:nvSpPr>
          <p:cNvPr id="31" name="Text 28"/>
          <p:cNvSpPr txBox="1"/>
          <p:nvPr/>
        </p:nvSpPr>
        <p:spPr>
          <a:xfrm>
            <a:off x="7680960" y="1143000"/>
            <a:ext cx="914400" cy="528066"/>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17,529</a:t>
            </a:r>
            <a:endParaRPr lang="en-US" sz="2400" dirty="0"/>
          </a:p>
        </p:txBody>
      </p:sp>
      <p:sp>
        <p:nvSpPr>
          <p:cNvPr id="32" name="Text 29"/>
          <p:cNvSpPr txBox="1"/>
          <p:nvPr/>
        </p:nvSpPr>
        <p:spPr>
          <a:xfrm>
            <a:off x="7726680" y="1654150"/>
            <a:ext cx="822960" cy="364846"/>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edges</a:t>
            </a:r>
            <a:endParaRPr lang="en-US" sz="1100" dirty="0"/>
          </a:p>
        </p:txBody>
      </p:sp>
      <p:sp>
        <p:nvSpPr>
          <p:cNvPr id="33" name="Shape 30"/>
          <p:cNvSpPr/>
          <p:nvPr/>
        </p:nvSpPr>
        <p:spPr>
          <a:xfrm>
            <a:off x="6675120" y="2194560"/>
            <a:ext cx="914400" cy="960120"/>
          </a:xfrm>
          <a:prstGeom prst="roundRect">
            <a:avLst>
              <a:gd name="adj" fmla="val 7000"/>
            </a:avLst>
          </a:prstGeom>
          <a:solidFill>
            <a:srgbClr val="F4F7FA"/>
          </a:solidFill>
          <a:ln w="9525">
            <a:solidFill>
              <a:srgbClr val="C9D3DE"/>
            </a:solidFill>
            <a:prstDash val="solid"/>
          </a:ln>
        </p:spPr>
      </p:sp>
      <p:sp>
        <p:nvSpPr>
          <p:cNvPr id="34" name="Text 31"/>
          <p:cNvSpPr txBox="1"/>
          <p:nvPr/>
        </p:nvSpPr>
        <p:spPr>
          <a:xfrm>
            <a:off x="6675120" y="2240280"/>
            <a:ext cx="914400" cy="528066"/>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11</a:t>
            </a:r>
            <a:endParaRPr lang="en-US" sz="2400" dirty="0"/>
          </a:p>
        </p:txBody>
      </p:sp>
      <p:sp>
        <p:nvSpPr>
          <p:cNvPr id="35" name="Text 32"/>
          <p:cNvSpPr txBox="1"/>
          <p:nvPr/>
        </p:nvSpPr>
        <p:spPr>
          <a:xfrm>
            <a:off x="6720840" y="2751430"/>
            <a:ext cx="822960" cy="364846"/>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node labels</a:t>
            </a:r>
            <a:endParaRPr lang="en-US" sz="1100" dirty="0"/>
          </a:p>
        </p:txBody>
      </p:sp>
      <p:sp>
        <p:nvSpPr>
          <p:cNvPr id="36" name="Shape 33"/>
          <p:cNvSpPr/>
          <p:nvPr/>
        </p:nvSpPr>
        <p:spPr>
          <a:xfrm>
            <a:off x="7680960" y="2194560"/>
            <a:ext cx="914400" cy="960120"/>
          </a:xfrm>
          <a:prstGeom prst="roundRect">
            <a:avLst>
              <a:gd name="adj" fmla="val 7000"/>
            </a:avLst>
          </a:prstGeom>
          <a:solidFill>
            <a:srgbClr val="F4F7FA"/>
          </a:solidFill>
          <a:ln w="9525">
            <a:solidFill>
              <a:srgbClr val="C9D3DE"/>
            </a:solidFill>
            <a:prstDash val="solid"/>
          </a:ln>
        </p:spPr>
      </p:sp>
      <p:sp>
        <p:nvSpPr>
          <p:cNvPr id="37" name="Text 34"/>
          <p:cNvSpPr txBox="1"/>
          <p:nvPr/>
        </p:nvSpPr>
        <p:spPr>
          <a:xfrm>
            <a:off x="7680960" y="2240280"/>
            <a:ext cx="914400" cy="528066"/>
          </a:xfrm>
          <a:prstGeom prst="rect">
            <a:avLst/>
          </a:prstGeom>
          <a:noFill/>
          <a:ln/>
        </p:spPr>
        <p:txBody>
          <a:bodyPr wrap="square" lIns="0" tIns="0" rIns="0" bIns="0" rtlCol="0" anchor="ctr"/>
          <a:lstStyle/>
          <a:p>
            <a:pPr algn="ctr" indent="0" marL="0">
              <a:buNone/>
            </a:pPr>
            <a:r>
              <a:rPr lang="en-US" sz="2400" b="1" dirty="0">
                <a:solidFill>
                  <a:srgbClr val="0FA3A3"/>
                </a:solidFill>
                <a:latin typeface="Cambria" pitchFamily="34" charset="0"/>
                <a:ea typeface="Cambria" pitchFamily="34" charset="-122"/>
                <a:cs typeface="Cambria" pitchFamily="34" charset="-120"/>
              </a:rPr>
              <a:t>11</a:t>
            </a:r>
            <a:endParaRPr lang="en-US" sz="2400" dirty="0"/>
          </a:p>
        </p:txBody>
      </p:sp>
      <p:sp>
        <p:nvSpPr>
          <p:cNvPr id="38" name="Text 35"/>
          <p:cNvSpPr txBox="1"/>
          <p:nvPr/>
        </p:nvSpPr>
        <p:spPr>
          <a:xfrm>
            <a:off x="7726680" y="2751430"/>
            <a:ext cx="822960" cy="364846"/>
          </a:xfrm>
          <a:prstGeom prst="rect">
            <a:avLst/>
          </a:prstGeom>
          <a:noFill/>
          <a:ln/>
        </p:spPr>
        <p:txBody>
          <a:bodyPr wrap="square" lIns="0" tIns="0" rIns="0" bIns="0" rtlCol="0" anchor="t"/>
          <a:lstStyle/>
          <a:p>
            <a:pPr algn="ctr" indent="0" marL="0">
              <a:buNone/>
            </a:pPr>
            <a:r>
              <a:rPr lang="en-US" sz="1100" dirty="0">
                <a:solidFill>
                  <a:srgbClr val="5B6B7C"/>
                </a:solidFill>
                <a:latin typeface="Calibri" pitchFamily="34" charset="0"/>
                <a:ea typeface="Calibri" pitchFamily="34" charset="-122"/>
                <a:cs typeface="Calibri" pitchFamily="34" charset="-120"/>
              </a:rPr>
              <a:t>edge types</a:t>
            </a:r>
            <a:endParaRPr lang="en-US" sz="1100" dirty="0"/>
          </a:p>
        </p:txBody>
      </p:sp>
      <p:sp>
        <p:nvSpPr>
          <p:cNvPr id="39" name="Shape 36"/>
          <p:cNvSpPr/>
          <p:nvPr/>
        </p:nvSpPr>
        <p:spPr>
          <a:xfrm>
            <a:off x="6675120" y="3383280"/>
            <a:ext cx="2011680" cy="1280160"/>
          </a:xfrm>
          <a:prstGeom prst="roundRect">
            <a:avLst>
              <a:gd name="adj" fmla="val 5000"/>
            </a:avLst>
          </a:prstGeom>
          <a:solidFill>
            <a:srgbClr val="DDF3F2"/>
          </a:solidFill>
          <a:ln w="9525">
            <a:solidFill>
              <a:srgbClr val="C9D3DE"/>
            </a:solidFill>
            <a:prstDash val="solid"/>
          </a:ln>
        </p:spPr>
      </p:sp>
      <p:sp>
        <p:nvSpPr>
          <p:cNvPr id="40" name="Text 37"/>
          <p:cNvSpPr txBox="1"/>
          <p:nvPr/>
        </p:nvSpPr>
        <p:spPr>
          <a:xfrm>
            <a:off x="6766560" y="3456432"/>
            <a:ext cx="1874520" cy="9144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733"/>
                </a:solidFill>
                <a:latin typeface="Calibri" pitchFamily="34" charset="0"/>
                <a:ea typeface="Calibri" pitchFamily="34" charset="-122"/>
                <a:cs typeface="Calibri" pitchFamily="34" charset="-120"/>
              </a:rPr>
              <a:t>FalkorDB loader</a:t>
            </a:r>
            <a:endParaRPr lang="en-US" sz="1100" dirty="0"/>
          </a:p>
          <a:p>
            <a:pPr marL="342900" indent="-342900">
              <a:spcAft>
                <a:spcPts val="400"/>
              </a:spcAft>
              <a:buSzPct val="100000"/>
              <a:buChar char="•"/>
            </a:pPr>
            <a:r>
              <a:rPr lang="en-US" sz="1100" dirty="0">
                <a:solidFill>
                  <a:srgbClr val="1B2733"/>
                </a:solidFill>
                <a:latin typeface="Calibri" pitchFamily="34" charset="0"/>
                <a:ea typeface="Calibri" pitchFamily="34" charset="-122"/>
                <a:cs typeface="Calibri" pitchFamily="34" charset="-120"/>
              </a:rPr>
              <a:t>8 starter Cypher queries</a:t>
            </a:r>
            <a:endParaRPr lang="en-US" sz="1100" dirty="0"/>
          </a:p>
          <a:p>
            <a:pPr marL="342900" indent="-342900">
              <a:spcAft>
                <a:spcPts val="400"/>
              </a:spcAft>
              <a:buSzPct val="100000"/>
              <a:buChar char="•"/>
            </a:pPr>
            <a:r>
              <a:rPr lang="en-US" sz="1100" dirty="0">
                <a:solidFill>
                  <a:srgbClr val="1B2733"/>
                </a:solidFill>
                <a:latin typeface="Calibri" pitchFamily="34" charset="0"/>
                <a:ea typeface="Calibri" pitchFamily="34" charset="-122"/>
                <a:cs typeface="Calibri" pitchFamily="34" charset="-120"/>
              </a:rPr>
              <a:t>GraphML, CSV, JSON, HTML</a:t>
            </a:r>
            <a:endParaRPr lang="en-US" sz="1100" dirty="0"/>
          </a:p>
        </p:txBody>
      </p:sp>
      <p:sp>
        <p:nvSpPr>
          <p:cNvPr id="41" name="Text 38"/>
          <p:cNvSpPr txBox="1"/>
          <p:nvPr/>
        </p:nvSpPr>
        <p:spPr>
          <a:xfrm>
            <a:off x="457200" y="4343400"/>
            <a:ext cx="6035040" cy="274320"/>
          </a:xfrm>
          <a:prstGeom prst="rect">
            <a:avLst/>
          </a:prstGeom>
          <a:noFill/>
          <a:ln/>
        </p:spPr>
        <p:txBody>
          <a:bodyPr wrap="square" lIns="0" tIns="0" rIns="0" bIns="0" rtlCol="0" anchor="ctr"/>
          <a:lstStyle/>
          <a:p>
            <a:pPr indent="0" marL="0">
              <a:buNone/>
            </a:pPr>
            <a:r>
              <a:rPr lang="en-US" sz="1100" b="1" dirty="0">
                <a:solidFill>
                  <a:srgbClr val="7A4B00"/>
                </a:solidFill>
                <a:latin typeface="Calibri" pitchFamily="34" charset="0"/>
                <a:ea typeface="Calibri" pitchFamily="34" charset="-122"/>
                <a:cs typeface="Calibri" pitchFamily="34" charset="-120"/>
              </a:rPr>
              <a:t>Enterprise side: 4,166 untyped links, isolated pairs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Advantages: questions the lake, ontology and graph answer</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12</a:t>
            </a:r>
            <a:endParaRPr lang="en-US" sz="900" dirty="0"/>
          </a:p>
        </p:txBody>
      </p:sp>
      <p:sp>
        <p:nvSpPr>
          <p:cNvPr id="7" name="Text 4"/>
          <p:cNvSpPr txBox="1"/>
          <p:nvPr/>
        </p:nvSpPr>
        <p:spPr>
          <a:xfrm>
            <a:off x="457200" y="1097280"/>
            <a:ext cx="3291840" cy="3291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One vocabulary for business and technical terms</a:t>
            </a:r>
            <a:endParaRPr lang="en-US" sz="1300" dirty="0"/>
          </a:p>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Hidden dependencies and gaps made visible</a:t>
            </a:r>
            <a:endParaRPr lang="en-US" sz="1300" dirty="0"/>
          </a:p>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Change impact traced by relationships, not keyword search</a:t>
            </a:r>
            <a:endParaRPr lang="en-US" sz="1300" dirty="0"/>
          </a:p>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Answers cite their source: ontology element, graph path, document</a:t>
            </a:r>
            <a:endParaRPr lang="en-US" sz="1300" dirty="0"/>
          </a:p>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Unknowns recorded, not guessed</a:t>
            </a:r>
            <a:endParaRPr lang="en-US" sz="1300" dirty="0"/>
          </a:p>
          <a:p>
            <a:pPr marL="342900" indent="-342900">
              <a:spcAft>
                <a:spcPts val="400"/>
              </a:spcAft>
              <a:buSzPct val="100000"/>
              <a:buChar char="•"/>
            </a:pPr>
            <a:r>
              <a:rPr lang="en-US" sz="1300" dirty="0">
                <a:solidFill>
                  <a:srgbClr val="1B2733"/>
                </a:solidFill>
                <a:latin typeface="Calibri" pitchFamily="34" charset="0"/>
                <a:ea typeface="Calibri" pitchFamily="34" charset="-122"/>
                <a:cs typeface="Calibri" pitchFamily="34" charset="-120"/>
              </a:rPr>
              <a:t>Reusable by any AI Agent through the same governed files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931920" y="1097280"/>
          <a:ext cx="4754880" cy="914400"/>
        </p:xfrm>
        <a:graphic>
          <a:graphicData uri="http://schemas.openxmlformats.org/drawingml/2006/table">
            <a:tbl>
              <a:tblPr/>
              <a:tblGrid>
                <a:gridCol w="1737360"/>
                <a:gridCol w="1737360"/>
                <a:gridCol w="128016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B1F3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Answer from our data</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B1F3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Built on</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B1F3A"/>
                    </a:solidFill>
                  </a:tcPr>
                </a:tc>
              </a:tr>
              <a:tr h="1051560">
                <a:tc>
                  <a:txBody>
                    <a:bodyPr/>
                    <a:lstStyle/>
                    <a:p>
                      <a:pPr indent="0" marL="0">
                        <a:buNone/>
                      </a:pPr>
                      <a:r>
                        <a:rPr lang="en-US" sz="1000" b="1" dirty="0">
                          <a:solidFill>
                            <a:srgbClr val="1B2733"/>
                          </a:solidFill>
                          <a:latin typeface="Calibri" pitchFamily="34" charset="0"/>
                          <a:ea typeface="Calibri" pitchFamily="34" charset="-122"/>
                          <a:cs typeface="Calibri" pitchFamily="34" charset="-120"/>
                        </a:rPr>
                        <a:t>Which critical deviations have overdue CAPAs, and where were the batches made?</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4F7FA"/>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2: DEV00000048 (US-TX), DEV00000084 (DE-BY)</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Knowledge Graph (Cypher query 3)</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1051560">
                <a:tc>
                  <a:txBody>
                    <a:bodyPr/>
                    <a:lstStyle/>
                    <a:p>
                      <a:pPr indent="0" marL="0">
                        <a:buNone/>
                      </a:pPr>
                      <a:r>
                        <a:rPr lang="en-US" sz="1000" b="1" dirty="0">
                          <a:solidFill>
                            <a:srgbClr val="1B2733"/>
                          </a:solidFill>
                          <a:latin typeface="Calibri" pitchFamily="34" charset="0"/>
                          <a:ea typeface="Calibri" pitchFamily="34" charset="-122"/>
                          <a:cs typeface="Calibri" pitchFamily="34" charset="-120"/>
                        </a:rPr>
                        <a:t>Which relationships exist in the model but have no legacy key?</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4F7FA"/>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5 of 36 (REL-10, 33, 34, 35, 36)</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Ontology (SPARQL Q4)</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1051560">
                <a:tc>
                  <a:txBody>
                    <a:bodyPr/>
                    <a:lstStyle/>
                    <a:p>
                      <a:pPr indent="0" marL="0">
                        <a:buNone/>
                      </a:pPr>
                      <a:r>
                        <a:rPr lang="en-US" sz="1000" b="1" dirty="0">
                          <a:solidFill>
                            <a:srgbClr val="1B2733"/>
                          </a:solidFill>
                          <a:latin typeface="Calibri" pitchFamily="34" charset="0"/>
                          <a:ea typeface="Calibri" pitchFamily="34" charset="-122"/>
                          <a:cs typeface="Calibri" pitchFamily="34" charset="-120"/>
                        </a:rPr>
                        <a:t>Which cases link to a batch, deviation or CAPA?</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4F7FA"/>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 by design: human decision only (GAP-REL-2)</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Ontology + Context Lake (SPARQL Q5)</a:t>
                      </a:r>
                      <a:endParaRPr lang="en-US" sz="1000" dirty="0">
                        <a:latin typeface="Calibri" charset="0"/>
                        <a:ea typeface="Calibri" charset="0"/>
                        <a:cs typeface="Calibri" charset="0"/>
                      </a:endParaRPr>
                    </a:p>
                  </a:txBody>
                  <a:tcPr marL="54864" marR="54864" marT="54864" marB="54864"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Demonstration flow</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457200" y="1097280"/>
            <a:ext cx="8229600" cy="438912"/>
          </a:xfrm>
          <a:prstGeom prst="roundRect">
            <a:avLst>
              <a:gd name="adj" fmla="val 14583"/>
            </a:avLst>
          </a:prstGeom>
          <a:solidFill>
            <a:srgbClr val="F4F7FA"/>
          </a:solidFill>
          <a:ln w="9525">
            <a:solidFill>
              <a:srgbClr val="C9D3DE"/>
            </a:solidFill>
            <a:prstDash val="solid"/>
          </a:ln>
        </p:spPr>
      </p:sp>
      <p:sp>
        <p:nvSpPr>
          <p:cNvPr id="8" name="Text 5"/>
          <p:cNvSpPr txBox="1"/>
          <p:nvPr/>
        </p:nvSpPr>
        <p:spPr>
          <a:xfrm>
            <a:off x="548640" y="1161288"/>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05840" y="1097280"/>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Show the 46 stage runbooks</a:t>
            </a:r>
            <a:endParaRPr lang="en-US" sz="1300" dirty="0"/>
          </a:p>
        </p:txBody>
      </p:sp>
      <p:sp>
        <p:nvSpPr>
          <p:cNvPr id="10" name="Text 7"/>
          <p:cNvSpPr txBox="1"/>
          <p:nvPr/>
        </p:nvSpPr>
        <p:spPr>
          <a:xfrm>
            <a:off x="4069080" y="1097280"/>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.fde/stage-prompts</a:t>
            </a:r>
            <a:endParaRPr lang="en-US" sz="1200" dirty="0"/>
          </a:p>
        </p:txBody>
      </p:sp>
      <p:sp>
        <p:nvSpPr>
          <p:cNvPr id="11" name="Shape 8"/>
          <p:cNvSpPr/>
          <p:nvPr/>
        </p:nvSpPr>
        <p:spPr>
          <a:xfrm>
            <a:off x="457200" y="1609344"/>
            <a:ext cx="8229600" cy="438912"/>
          </a:xfrm>
          <a:prstGeom prst="roundRect">
            <a:avLst>
              <a:gd name="adj" fmla="val 14583"/>
            </a:avLst>
          </a:prstGeom>
          <a:solidFill>
            <a:srgbClr val="DDF3F2"/>
          </a:solidFill>
          <a:ln w="9525">
            <a:solidFill>
              <a:srgbClr val="C9D3DE"/>
            </a:solidFill>
            <a:prstDash val="solid"/>
          </a:ln>
        </p:spPr>
      </p:sp>
      <p:sp>
        <p:nvSpPr>
          <p:cNvPr id="12" name="Text 9"/>
          <p:cNvSpPr txBox="1"/>
          <p:nvPr/>
        </p:nvSpPr>
        <p:spPr>
          <a:xfrm>
            <a:off x="548640" y="1673352"/>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05840" y="1609344"/>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Open one runbook</a:t>
            </a:r>
            <a:endParaRPr lang="en-US" sz="1300" dirty="0"/>
          </a:p>
        </p:txBody>
      </p:sp>
      <p:sp>
        <p:nvSpPr>
          <p:cNvPr id="14" name="Text 11"/>
          <p:cNvSpPr txBox="1"/>
          <p:nvPr/>
        </p:nvSpPr>
        <p:spPr>
          <a:xfrm>
            <a:off x="4069080" y="1609344"/>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e.g. Stage 30, release: sections, gate, artifacts</a:t>
            </a:r>
            <a:endParaRPr lang="en-US" sz="1200" dirty="0"/>
          </a:p>
        </p:txBody>
      </p:sp>
      <p:sp>
        <p:nvSpPr>
          <p:cNvPr id="15" name="Shape 12"/>
          <p:cNvSpPr/>
          <p:nvPr/>
        </p:nvSpPr>
        <p:spPr>
          <a:xfrm>
            <a:off x="457200" y="2121408"/>
            <a:ext cx="8229600" cy="438912"/>
          </a:xfrm>
          <a:prstGeom prst="roundRect">
            <a:avLst>
              <a:gd name="adj" fmla="val 14583"/>
            </a:avLst>
          </a:prstGeom>
          <a:solidFill>
            <a:srgbClr val="F4F7FA"/>
          </a:solidFill>
          <a:ln w="9525">
            <a:solidFill>
              <a:srgbClr val="C9D3DE"/>
            </a:solidFill>
            <a:prstDash val="solid"/>
          </a:ln>
        </p:spPr>
      </p:sp>
      <p:sp>
        <p:nvSpPr>
          <p:cNvPr id="16" name="Text 13"/>
          <p:cNvSpPr txBox="1"/>
          <p:nvPr/>
        </p:nvSpPr>
        <p:spPr>
          <a:xfrm>
            <a:off x="548640" y="2185416"/>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05840" y="2121408"/>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Walk the Context Lake</a:t>
            </a:r>
            <a:endParaRPr lang="en-US" sz="1300" dirty="0"/>
          </a:p>
        </p:txBody>
      </p:sp>
      <p:sp>
        <p:nvSpPr>
          <p:cNvPr id="18" name="Text 15"/>
          <p:cNvSpPr txBox="1"/>
          <p:nvPr/>
        </p:nvSpPr>
        <p:spPr>
          <a:xfrm>
            <a:off x="4069080" y="2121408"/>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docs/ stage folders, orchestrator-decisions.md</a:t>
            </a:r>
            <a:endParaRPr lang="en-US" sz="1200" dirty="0"/>
          </a:p>
        </p:txBody>
      </p:sp>
      <p:sp>
        <p:nvSpPr>
          <p:cNvPr id="19" name="Shape 16"/>
          <p:cNvSpPr/>
          <p:nvPr/>
        </p:nvSpPr>
        <p:spPr>
          <a:xfrm>
            <a:off x="457200" y="2633472"/>
            <a:ext cx="8229600" cy="438912"/>
          </a:xfrm>
          <a:prstGeom prst="roundRect">
            <a:avLst>
              <a:gd name="adj" fmla="val 14583"/>
            </a:avLst>
          </a:prstGeom>
          <a:solidFill>
            <a:srgbClr val="DDF3F2"/>
          </a:solidFill>
          <a:ln w="9525">
            <a:solidFill>
              <a:srgbClr val="C9D3DE"/>
            </a:solidFill>
            <a:prstDash val="solid"/>
          </a:ln>
        </p:spPr>
      </p:sp>
      <p:sp>
        <p:nvSpPr>
          <p:cNvPr id="20" name="Text 17"/>
          <p:cNvSpPr txBox="1"/>
          <p:nvPr/>
        </p:nvSpPr>
        <p:spPr>
          <a:xfrm>
            <a:off x="548640" y="2697480"/>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05840" y="2633472"/>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Open the semantic layer</a:t>
            </a:r>
            <a:endParaRPr lang="en-US" sz="1300" dirty="0"/>
          </a:p>
        </p:txBody>
      </p:sp>
      <p:sp>
        <p:nvSpPr>
          <p:cNvPr id="22" name="Text 19"/>
          <p:cNvSpPr txBox="1"/>
          <p:nvPr/>
        </p:nvSpPr>
        <p:spPr>
          <a:xfrm>
            <a:off x="4069080" y="2633472"/>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entities.yaml, status-taxonomy.yaml (CLOSED in 5)</a:t>
            </a:r>
            <a:endParaRPr lang="en-US" sz="1200" dirty="0"/>
          </a:p>
        </p:txBody>
      </p:sp>
      <p:sp>
        <p:nvSpPr>
          <p:cNvPr id="23" name="Shape 20"/>
          <p:cNvSpPr/>
          <p:nvPr/>
        </p:nvSpPr>
        <p:spPr>
          <a:xfrm>
            <a:off x="457200" y="3145536"/>
            <a:ext cx="8229600" cy="438912"/>
          </a:xfrm>
          <a:prstGeom prst="roundRect">
            <a:avLst>
              <a:gd name="adj" fmla="val 14583"/>
            </a:avLst>
          </a:prstGeom>
          <a:solidFill>
            <a:srgbClr val="F4F7FA"/>
          </a:solidFill>
          <a:ln w="9525">
            <a:solidFill>
              <a:srgbClr val="C9D3DE"/>
            </a:solidFill>
            <a:prstDash val="solid"/>
          </a:ln>
        </p:spPr>
      </p:sp>
      <p:sp>
        <p:nvSpPr>
          <p:cNvPr id="24" name="Text 21"/>
          <p:cNvSpPr txBox="1"/>
          <p:nvPr/>
        </p:nvSpPr>
        <p:spPr>
          <a:xfrm>
            <a:off x="548640" y="3209544"/>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05840" y="3145536"/>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Open the ontology explorer</a:t>
            </a:r>
            <a:endParaRPr lang="en-US" sz="1300" dirty="0"/>
          </a:p>
        </p:txBody>
      </p:sp>
      <p:sp>
        <p:nvSpPr>
          <p:cNvPr id="26" name="Text 23"/>
          <p:cNvSpPr txBox="1"/>
          <p:nvPr/>
        </p:nvSpPr>
        <p:spPr>
          <a:xfrm>
            <a:off x="4069080" y="3145536"/>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09_Ontology/ontology_explorer.html, Graph tab</a:t>
            </a:r>
            <a:endParaRPr lang="en-US" sz="1200" dirty="0"/>
          </a:p>
        </p:txBody>
      </p:sp>
      <p:sp>
        <p:nvSpPr>
          <p:cNvPr id="27" name="Shape 24"/>
          <p:cNvSpPr/>
          <p:nvPr/>
        </p:nvSpPr>
        <p:spPr>
          <a:xfrm>
            <a:off x="457200" y="3657600"/>
            <a:ext cx="8229600" cy="438912"/>
          </a:xfrm>
          <a:prstGeom prst="roundRect">
            <a:avLst>
              <a:gd name="adj" fmla="val 14583"/>
            </a:avLst>
          </a:prstGeom>
          <a:solidFill>
            <a:srgbClr val="DDF3F2"/>
          </a:solidFill>
          <a:ln w="9525">
            <a:solidFill>
              <a:srgbClr val="C9D3DE"/>
            </a:solidFill>
            <a:prstDash val="solid"/>
          </a:ln>
        </p:spPr>
      </p:sp>
      <p:sp>
        <p:nvSpPr>
          <p:cNvPr id="28" name="Text 25"/>
          <p:cNvSpPr txBox="1"/>
          <p:nvPr/>
        </p:nvSpPr>
        <p:spPr>
          <a:xfrm>
            <a:off x="548640" y="3721608"/>
            <a:ext cx="310896" cy="310896"/>
          </a:xfrm>
          <a:prstGeom prst="ellipse">
            <a:avLst/>
          </a:prstGeom>
          <a:solidFill>
            <a:srgbClr val="0FA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005840" y="3657600"/>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Run a graph question</a:t>
            </a:r>
            <a:endParaRPr lang="en-US" sz="1300" dirty="0"/>
          </a:p>
        </p:txBody>
      </p:sp>
      <p:sp>
        <p:nvSpPr>
          <p:cNvPr id="30" name="Text 27"/>
          <p:cNvSpPr txBox="1"/>
          <p:nvPr/>
        </p:nvSpPr>
        <p:spPr>
          <a:xfrm>
            <a:off x="4069080" y="3657600"/>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Cypher query 3 or SPARQL Q4 and Q5</a:t>
            </a:r>
            <a:endParaRPr lang="en-US" sz="1200" dirty="0"/>
          </a:p>
        </p:txBody>
      </p:sp>
      <p:sp>
        <p:nvSpPr>
          <p:cNvPr id="31" name="Shape 28"/>
          <p:cNvSpPr/>
          <p:nvPr/>
        </p:nvSpPr>
        <p:spPr>
          <a:xfrm>
            <a:off x="457200" y="4169664"/>
            <a:ext cx="8229600" cy="438912"/>
          </a:xfrm>
          <a:prstGeom prst="roundRect">
            <a:avLst>
              <a:gd name="adj" fmla="val 14583"/>
            </a:avLst>
          </a:prstGeom>
          <a:solidFill>
            <a:srgbClr val="F4F7FA"/>
          </a:solidFill>
          <a:ln w="9525">
            <a:solidFill>
              <a:srgbClr val="C9D3DE"/>
            </a:solidFill>
            <a:prstDash val="solid"/>
          </a:ln>
        </p:spPr>
      </p:sp>
      <p:sp>
        <p:nvSpPr>
          <p:cNvPr id="32" name="Text 29"/>
          <p:cNvSpPr txBox="1"/>
          <p:nvPr/>
        </p:nvSpPr>
        <p:spPr>
          <a:xfrm>
            <a:off x="548640" y="4233672"/>
            <a:ext cx="310896" cy="310896"/>
          </a:xfrm>
          <a:prstGeom prst="ellipse">
            <a:avLst/>
          </a:prstGeom>
          <a:solidFill>
            <a:srgbClr val="E39A1F"/>
          </a:solid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1005840" y="4169664"/>
            <a:ext cx="3017520" cy="43891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Run the release evaluation</a:t>
            </a:r>
            <a:endParaRPr lang="en-US" sz="1300" dirty="0"/>
          </a:p>
        </p:txBody>
      </p:sp>
      <p:sp>
        <p:nvSpPr>
          <p:cNvPr id="34" name="Text 31"/>
          <p:cNvSpPr txBox="1"/>
          <p:nvPr/>
        </p:nvSpPr>
        <p:spPr>
          <a:xfrm>
            <a:off x="4069080" y="4169664"/>
            <a:ext cx="4572000" cy="438912"/>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NO-GO 17/20, 0/40: evidence kept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766560" cy="685800"/>
          </a:xfrm>
          <a:prstGeom prst="rect">
            <a:avLst/>
          </a:prstGeom>
          <a:noFill/>
          <a:ln/>
        </p:spPr>
        <p:txBody>
          <a:bodyPr wrap="square" lIns="0" tIns="0" rIns="0" bIns="0" rtlCol="0" anchor="ctr">
            <a:normAutofit/>
          </a:bodyPr>
          <a:lstStyle/>
          <a:p>
            <a:pPr indent="0" marL="0">
              <a:buNone/>
            </a:pPr>
            <a:r>
              <a:rPr lang="en-US" sz="2400" b="1" dirty="0">
                <a:solidFill>
                  <a:srgbClr val="0B1F3A"/>
                </a:solidFill>
                <a:latin typeface="Cambria" pitchFamily="34" charset="0"/>
                <a:ea typeface="Cambria" pitchFamily="34" charset="-122"/>
                <a:cs typeface="Cambria" pitchFamily="34" charset="-120"/>
              </a:rPr>
              <a:t>Honest status and recommended next steps</a:t>
            </a:r>
            <a:endParaRPr lang="en-US" sz="2400" dirty="0"/>
          </a:p>
        </p:txBody>
      </p:sp>
      <p:sp>
        <p:nvSpPr>
          <p:cNvPr id="3" name="Text 1"/>
          <p:cNvSpPr txBox="1"/>
          <p:nvPr/>
        </p:nvSpPr>
        <p:spPr>
          <a:xfrm>
            <a:off x="7269480" y="411480"/>
            <a:ext cx="1417320" cy="274320"/>
          </a:xfrm>
          <a:prstGeom prst="roundRect">
            <a:avLst>
              <a:gd name="adj" fmla="val 50000"/>
            </a:avLst>
          </a:prstGeom>
          <a:solidFill>
            <a:srgbClr val="C039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Honest status</a:t>
            </a:r>
            <a:endParaRPr lang="en-US" sz="1100" dirty="0"/>
          </a:p>
        </p:txBody>
      </p:sp>
      <p:sp>
        <p:nvSpPr>
          <p:cNvPr id="4"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5"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457200" y="1051560"/>
            <a:ext cx="4023360" cy="2926080"/>
          </a:xfrm>
          <a:prstGeom prst="roundRect">
            <a:avLst>
              <a:gd name="adj" fmla="val 2188"/>
            </a:avLst>
          </a:prstGeom>
          <a:solidFill>
            <a:srgbClr val="DDF3F2"/>
          </a:solidFill>
          <a:ln w="9525">
            <a:solidFill>
              <a:srgbClr val="C9D3DE"/>
            </a:solidFill>
            <a:prstDash val="solid"/>
          </a:ln>
        </p:spPr>
      </p:sp>
      <p:sp>
        <p:nvSpPr>
          <p:cNvPr id="8" name="Text 5"/>
          <p:cNvSpPr txBox="1"/>
          <p:nvPr/>
        </p:nvSpPr>
        <p:spPr>
          <a:xfrm>
            <a:off x="594360" y="1115568"/>
            <a:ext cx="1828800" cy="274320"/>
          </a:xfrm>
          <a:prstGeom prst="rect">
            <a:avLst/>
          </a:prstGeom>
          <a:noFill/>
          <a:ln/>
        </p:spPr>
        <p:txBody>
          <a:bodyPr wrap="square" lIns="0" tIns="0" rIns="0" bIns="0" rtlCol="0" anchor="ctr"/>
          <a:lstStyle/>
          <a:p>
            <a:pPr indent="0" marL="0">
              <a:buNone/>
            </a:pPr>
            <a:r>
              <a:rPr lang="en-US" sz="1400" b="1" dirty="0">
                <a:solidFill>
                  <a:srgbClr val="0B6E6E"/>
                </a:solidFill>
                <a:latin typeface="Calibri" pitchFamily="34" charset="0"/>
                <a:ea typeface="Calibri" pitchFamily="34" charset="-122"/>
                <a:cs typeface="Calibri" pitchFamily="34" charset="-120"/>
              </a:rPr>
              <a:t>Done</a:t>
            </a:r>
            <a:endParaRPr lang="en-US" sz="1400" dirty="0"/>
          </a:p>
        </p:txBody>
      </p:sp>
      <p:sp>
        <p:nvSpPr>
          <p:cNvPr id="9" name="Text 6"/>
          <p:cNvSpPr txBox="1"/>
          <p:nvPr/>
        </p:nvSpPr>
        <p:spPr>
          <a:xfrm>
            <a:off x="2971800" y="1097280"/>
            <a:ext cx="1417320" cy="274320"/>
          </a:xfrm>
          <a:prstGeom prst="roundRect">
            <a:avLst>
              <a:gd name="adj" fmla="val 50000"/>
            </a:avLst>
          </a:prstGeom>
          <a:solidFill>
            <a:srgbClr val="0FA3A3"/>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10" name="Text 7"/>
          <p:cNvSpPr txBox="1"/>
          <p:nvPr/>
        </p:nvSpPr>
        <p:spPr>
          <a:xfrm>
            <a:off x="594360" y="1508760"/>
            <a:ext cx="37490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46 stage runbooks executed (40 / 4 / 2)</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Context Lake: 543 documents, 40 decisions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Semantic layer: 34 entities, 56 vocabularies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Ontology (OWL 2 + SKOS) and 11 SPARQL queries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Knowledge Graph: 13,244 nodes, 17,529 edges</a:t>
            </a:r>
            <a:endParaRPr lang="en-US" sz="1400" dirty="0"/>
          </a:p>
        </p:txBody>
      </p:sp>
      <p:sp>
        <p:nvSpPr>
          <p:cNvPr id="11" name="Shape 8"/>
          <p:cNvSpPr/>
          <p:nvPr/>
        </p:nvSpPr>
        <p:spPr>
          <a:xfrm>
            <a:off x="4663440" y="1051560"/>
            <a:ext cx="4023360" cy="2926080"/>
          </a:xfrm>
          <a:prstGeom prst="roundRect">
            <a:avLst>
              <a:gd name="adj" fmla="val 2188"/>
            </a:avLst>
          </a:prstGeom>
          <a:solidFill>
            <a:srgbClr val="F4F7FA"/>
          </a:solidFill>
          <a:ln w="9525">
            <a:solidFill>
              <a:srgbClr val="C9D3DE"/>
            </a:solidFill>
            <a:prstDash val="solid"/>
          </a:ln>
        </p:spPr>
      </p:sp>
      <p:sp>
        <p:nvSpPr>
          <p:cNvPr id="12" name="Text 9"/>
          <p:cNvSpPr txBox="1"/>
          <p:nvPr/>
        </p:nvSpPr>
        <p:spPr>
          <a:xfrm>
            <a:off x="4800600" y="1115568"/>
            <a:ext cx="219456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Open or recommended</a:t>
            </a:r>
            <a:endParaRPr lang="en-US" sz="1400" dirty="0"/>
          </a:p>
        </p:txBody>
      </p:sp>
      <p:sp>
        <p:nvSpPr>
          <p:cNvPr id="13" name="Text 10"/>
          <p:cNvSpPr txBox="1"/>
          <p:nvPr/>
        </p:nvSpPr>
        <p:spPr>
          <a:xfrm>
            <a:off x="7178040" y="1097280"/>
            <a:ext cx="1417320" cy="274320"/>
          </a:xfrm>
          <a:prstGeom prst="roundRect">
            <a:avLst>
              <a:gd name="adj" fmla="val 50000"/>
            </a:avLst>
          </a:prstGeom>
          <a:solidFill>
            <a:srgbClr val="6E7F9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Future Enhancement</a:t>
            </a:r>
            <a:endParaRPr lang="en-US" sz="1100" dirty="0"/>
          </a:p>
        </p:txBody>
      </p:sp>
      <p:sp>
        <p:nvSpPr>
          <p:cNvPr id="14" name="Text 11"/>
          <p:cNvSpPr txBox="1"/>
          <p:nvPr/>
        </p:nvSpPr>
        <p:spPr>
          <a:xfrm>
            <a:off x="4800600" y="1508760"/>
            <a:ext cx="37490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Release: close G1, T-09, T-10 and the 40 sign-offs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Validate the Ontology with experts; add SHACL checks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Connect runbooks to graph and ontology queries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Add context freshness checks</a:t>
            </a:r>
            <a:endParaRPr lang="en-US" sz="1400" dirty="0"/>
          </a:p>
          <a:p>
            <a:pPr marL="342900" indent="-342900">
              <a:spcAft>
                <a:spcPts val="400"/>
              </a:spcAft>
              <a:buSzPct val="100000"/>
              <a:buChar char="•"/>
            </a:pPr>
            <a:r>
              <a:rPr lang="en-US" sz="1400" dirty="0">
                <a:solidFill>
                  <a:srgbClr val="1B2733"/>
                </a:solidFill>
                <a:latin typeface="Calibri" pitchFamily="34" charset="0"/>
                <a:ea typeface="Calibri" pitchFamily="34" charset="-122"/>
                <a:cs typeface="Calibri" pitchFamily="34" charset="-120"/>
              </a:rPr>
              <a:t>Assistant evaluation set and second-model run</a:t>
            </a:r>
            <a:endParaRPr lang="en-US" sz="1400" dirty="0"/>
          </a:p>
        </p:txBody>
      </p:sp>
      <p:sp>
        <p:nvSpPr>
          <p:cNvPr id="15" name="Text 12"/>
          <p:cNvSpPr txBox="1"/>
          <p:nvPr/>
        </p:nvSpPr>
        <p:spPr>
          <a:xfrm>
            <a:off x="457200" y="4114800"/>
            <a:ext cx="8229600" cy="548640"/>
          </a:xfrm>
          <a:prstGeom prst="roundRect">
            <a:avLst>
              <a:gd name="adj" fmla="val 11667"/>
            </a:avLst>
          </a:prstGeom>
          <a:solidFill>
            <a:srgbClr val="0B1F3A"/>
          </a:solidFill>
          <a:ln/>
        </p:spPr>
        <p:txBody>
          <a:bodyPr wrap="square" lIns="762" tIns="762" rIns="762" bIns="762"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From AI-assisted coding to a governed AI Software Factory.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Software Factory: Runbooks, Context Lake, Ontology and Knowledge Graph</dc:title>
  <dc:subject>PptxGenJS Presentation</dc:subject>
  <dc:creator>Team Delta</dc:creator>
  <cp:lastModifiedBy>Team Delta</cp:lastModifiedBy>
  <cp:revision>1</cp:revision>
  <dcterms:created xsi:type="dcterms:W3CDTF">2026-10-26T04:45:37Z</dcterms:created>
  <dcterms:modified xsi:type="dcterms:W3CDTF">2026-10-26T04:45:37Z</dcterms:modified>
</cp:coreProperties>
</file>